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embeddedFontLst>
    <p:embeddedFont>
      <p:font typeface="Play" panose="020B060402020202020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Gill Sans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4RIUhCh3ckoiOxTWP9PwQrRxo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2038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0" name="Google Shape;40;p2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leyenda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0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 descr="Conexiones digitales"/>
          <p:cNvPicPr preferRelativeResize="0"/>
          <p:nvPr/>
        </p:nvPicPr>
        <p:blipFill rotWithShape="1">
          <a:blip r:embed="rId3">
            <a:alphaModFix/>
          </a:blip>
          <a:srcRect l="13265" t="9090" r="3502"/>
          <a:stretch/>
        </p:blipFill>
        <p:spPr>
          <a:xfrm>
            <a:off x="-250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582290" y="646159"/>
            <a:ext cx="10993549" cy="89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ill Sans"/>
              <a:buNone/>
            </a:pPr>
            <a:r>
              <a:rPr lang="es-ES" sz="6000">
                <a:solidFill>
                  <a:schemeClr val="lt1"/>
                </a:solidFill>
              </a:rPr>
              <a:t>TEORIA GENERAL DE SISTEMAS</a:t>
            </a:r>
            <a:endParaRPr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6178061" y="5400160"/>
            <a:ext cx="5397777" cy="891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s-ES" dirty="0">
                <a:solidFill>
                  <a:schemeClr val="lt1"/>
                </a:solidFill>
              </a:rPr>
              <a:t>MATERIA: SISTEMAS DE INFORMACION</a:t>
            </a:r>
            <a:endParaRPr dirty="0"/>
          </a:p>
          <a:p>
            <a:pPr marL="0" lvl="0" indent="0" algn="l" rtl="0">
              <a:spcBef>
                <a:spcPts val="896"/>
              </a:spcBef>
              <a:spcAft>
                <a:spcPts val="0"/>
              </a:spcAft>
              <a:buSzPct val="92000"/>
              <a:buNone/>
            </a:pPr>
            <a:r>
              <a:rPr lang="es-ES" dirty="0">
                <a:solidFill>
                  <a:schemeClr val="lt1"/>
                </a:solidFill>
              </a:rPr>
              <a:t>DOCENTE: HUGO ARNALDO GUZMAN CENTELLAS</a:t>
            </a:r>
            <a:endParaRPr dirty="0"/>
          </a:p>
          <a:p>
            <a:pPr marL="0" lvl="0" indent="0" algn="l" rtl="0">
              <a:spcBef>
                <a:spcPts val="896"/>
              </a:spcBef>
              <a:spcAft>
                <a:spcPts val="0"/>
              </a:spcAft>
              <a:buSzPct val="92000"/>
              <a:buNone/>
            </a:pPr>
            <a:endParaRPr dirty="0"/>
          </a:p>
        </p:txBody>
      </p:sp>
      <p:pic>
        <p:nvPicPr>
          <p:cNvPr id="105" name="Google Shape;105;p1" descr="We are coming so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1094" y="1452670"/>
            <a:ext cx="2319328" cy="2303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CONCEPTOS BÁSICOS DE SISTEMAS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11029615" cy="262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b="1"/>
              <a:t>Información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Definición: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La información es un conjunto de datos procesados que poseen significado y relevancia, y que son útiles para la toma de decisiones y el funcionamiento del sistema. 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Importancia en los Sistemas: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La información es esencial para la retroalimentación y el control dentro de un sistema. Ayuda a evaluar el desempeño del sistema y a realizar ajustes necesarios para alcanzar los objetivos.</a:t>
            </a:r>
            <a:endParaRPr/>
          </a:p>
          <a:p>
            <a:pPr marL="457200" lvl="1" indent="0" algn="l" rtl="0">
              <a:spcBef>
                <a:spcPts val="920"/>
              </a:spcBef>
              <a:spcAft>
                <a:spcPts val="0"/>
              </a:spcAft>
              <a:buSzPts val="1472"/>
              <a:buNone/>
            </a:pPr>
            <a:endParaRPr/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7392" y="4460098"/>
            <a:ext cx="4957689" cy="223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body" idx="4294967295"/>
          </p:nvPr>
        </p:nvSpPr>
        <p:spPr>
          <a:xfrm>
            <a:off x="0" y="658813"/>
            <a:ext cx="10515600" cy="277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b="1"/>
              <a:t>Macrosistemas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Definición: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Un macrosistema es un sistema grande y complejo que está compuesto por múltiples subsistemas interrelacionados. 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Características: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Los macrosistemas suelen abarcar grandes áreas o ser muy complejos, como una economía nacional, un ecosistema, o un sistema solar.</a:t>
            </a:r>
            <a:endParaRPr/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2197" y="2996434"/>
            <a:ext cx="3810000" cy="30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body" idx="4294967295"/>
          </p:nvPr>
        </p:nvSpPr>
        <p:spPr>
          <a:xfrm>
            <a:off x="0" y="523875"/>
            <a:ext cx="10515600" cy="348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b="1"/>
              <a:t>Subsistemas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Definición: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Un subsistema es una parte o componente de un sistema más grande que tiene sus propios objetivos y funciones, pero que también contribuye al propósito general del sistema principal.</a:t>
            </a:r>
            <a:endParaRPr/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840"/>
              <a:buFont typeface="Arial"/>
              <a:buChar char="•"/>
            </a:pPr>
            <a:r>
              <a:rPr lang="es-ES" sz="2000" b="1"/>
              <a:t>Relación con el Sistema Principal:</a:t>
            </a:r>
            <a:endParaRPr sz="2000"/>
          </a:p>
          <a:p>
            <a:pPr marL="742950" lvl="1" indent="-285750" algn="l" rtl="0"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s-ES" sz="1600"/>
              <a:t>Los subsistemas interactúan y se interrelacionan, y su desempeño afecta directamente al macrosistema al que pertenecen.</a:t>
            </a:r>
            <a:endParaRPr/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body" idx="4294967295"/>
          </p:nvPr>
        </p:nvSpPr>
        <p:spPr>
          <a:xfrm>
            <a:off x="0" y="523876"/>
            <a:ext cx="10515600" cy="96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lang="es-ES" sz="2000" b="1" dirty="0" smtClean="0"/>
              <a:t>Relación </a:t>
            </a:r>
            <a:r>
              <a:rPr lang="es-ES" sz="2000" b="1" dirty="0"/>
              <a:t>con el Sistema Principal:</a:t>
            </a:r>
            <a:endParaRPr sz="2000" dirty="0"/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332" y="603105"/>
            <a:ext cx="5475143" cy="602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sz="3600" b="1"/>
              <a:t>CLASIFICACIÓN DE SISTEMAS EN GENERAL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497151" y="1982450"/>
            <a:ext cx="5415378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Naturaleza: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Abiertos: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Intercambian energía, materia e información con su entorno (ej., una planta).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Cerrados: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interactúan con el entorno (hipotéticos en la práctica, ej., reloj mecánico).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Complejidad: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Simples: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Pocos elementos y relaciones, fácil de entender y predecir (ej., palanca).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Complejos: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Muchos elementos y relaciones, difícil de entender y predecir (ej., ecosistema).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6279471" y="1982450"/>
            <a:ext cx="5415378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Grado de Automatización: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Manuales: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Requieren intervención humana constante.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Automáticos: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 con mínima intervención humana.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Finalidad: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Naturales: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creados por el hombre, se encuentran en la naturaleza (ej., sistema solar).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Artificiales: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Creados por el hombre para cumplir con un propósito específico (ej., computadoras).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sz="3600"/>
              <a:t>CLASIFICACIÓN DE SISTEMAS DE INFORMACIÓN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674703" y="1984563"/>
            <a:ext cx="10830757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Función: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de Procesamiento de Transacciones (TPS):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Manejan y procesan las transacciones diarias de una organización (ej., sistema de ventas).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de Información Gerencial (MIS):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Proporcionan informes y herramientas para la toma de decisiones a niveles gerenciales (ej., reportes financieros).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de Soporte a Decisiones (DSS):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Ayudan en la toma de decisiones complejas, utilizando análisis y modelos (ej., simulaciones).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de Información Ejecutiva (EIS):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Proporcionan información crítica y de alto nivel a los ejecutivos (ej., dashboards ejecutivos).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674703" y="4846885"/>
            <a:ext cx="1068871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Arquitectura: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Centralizados: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 la información y el procesamiento se realiza en un único sistema central.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18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Distribuidos: </a:t>
            </a:r>
            <a:r>
              <a:rPr lang="es-E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 y procesamiento repartidos entre múltiples sistemas interconectados</a:t>
            </a:r>
            <a:r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1509203" y="1229313"/>
            <a:ext cx="9028591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Alcance: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Individuales: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Usados por un solo usuario (ej., aplicaciones personales).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Departamentales: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Usados dentro de un departamento específico (ej., sistemas de recursos humanos).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Corporativos: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Usados a nivel organizacional (ej., ERP - Enterprise Resource Planning).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1509203" y="4103021"/>
            <a:ext cx="8962007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Relación con los Usuarios: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Internos: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Usados exclusivamente dentro de la organización.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s-ES" sz="2000" b="0" i="0" u="none" strike="noStrike" cap="none">
                <a:solidFill>
                  <a:srgbClr val="1F5C99"/>
                </a:solidFill>
                <a:latin typeface="Arial"/>
                <a:ea typeface="Arial"/>
                <a:cs typeface="Arial"/>
                <a:sym typeface="Arial"/>
              </a:rPr>
              <a:t>Sistemas Externos: </a:t>
            </a:r>
            <a:r>
              <a:rPr lang="es-E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Usados por partes externas como clientes, proveedores, etc. (ej., sistemas de e-commerce).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536712"/>
            <a:ext cx="12192000" cy="6321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519447" y="5280685"/>
            <a:ext cx="11029616" cy="71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2800"/>
              <a:buFont typeface="Gill Sans"/>
              <a:buNone/>
            </a:pPr>
            <a:r>
              <a:rPr lang="es-ES">
                <a:solidFill>
                  <a:srgbClr val="FFFEFF"/>
                </a:solidFill>
              </a:rPr>
              <a:t>PRINCIPIOS DE SISTEMAS</a:t>
            </a:r>
            <a:endParaRPr/>
          </a:p>
        </p:txBody>
      </p:sp>
      <p:grpSp>
        <p:nvGrpSpPr>
          <p:cNvPr id="153" name="Google Shape;153;p8"/>
          <p:cNvGrpSpPr/>
          <p:nvPr/>
        </p:nvGrpSpPr>
        <p:grpSpPr>
          <a:xfrm>
            <a:off x="1174405" y="1956324"/>
            <a:ext cx="9843189" cy="2783715"/>
            <a:chOff x="531467" y="330724"/>
            <a:chExt cx="9843189" cy="2783715"/>
          </a:xfrm>
        </p:grpSpPr>
        <p:sp>
          <p:nvSpPr>
            <p:cNvPr id="154" name="Google Shape;154;p8"/>
            <p:cNvSpPr/>
            <p:nvPr/>
          </p:nvSpPr>
          <p:spPr>
            <a:xfrm>
              <a:off x="958526" y="330724"/>
              <a:ext cx="2084148" cy="2084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531467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531467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rPr lang="es-ES" sz="3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Sinergia</a:t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4410988" y="330724"/>
              <a:ext cx="2084148" cy="2084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3983929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3983929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rPr lang="es-ES" sz="3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Entropía</a:t>
              </a:r>
              <a:endParaRPr sz="3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7863450" y="330724"/>
              <a:ext cx="2084148" cy="2084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7436391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 txBox="1"/>
            <p:nvPr/>
          </p:nvSpPr>
          <p:spPr>
            <a:xfrm>
              <a:off x="7436391" y="2394439"/>
              <a:ext cx="2938265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rPr lang="es-ES" sz="36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Neguentropía</a:t>
              </a:r>
              <a:endParaRPr sz="3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163" name="Google Shape;163;p8" descr="El concepto de sinergia empresarial y sus tipos: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235" y="2057771"/>
            <a:ext cx="3128217" cy="188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8" descr="Entropia: o que é, exemplos, tipos, resumo - PrePara EN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2291" y="2057773"/>
            <a:ext cx="2833608" cy="1889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8" descr="Neguentropía o Entropía Negativa - Areaciencia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95572" y="2057773"/>
            <a:ext cx="2924472" cy="188907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954254" y="1056360"/>
            <a:ext cx="312821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sinergia se refiere a la idea de que el todo es mayor que la suma de sus partes.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5036725" y="1017207"/>
            <a:ext cx="29244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entropía es una medida del desorden o caos dentro de un sistema.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8109531" y="558579"/>
            <a:ext cx="418894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neguentropía es el proceso mediante el cual los sistemas reducen la entropía o el desorden interno mediante la importación de energía o información desde el entorno.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9" descr="Imágenes de Homeostasis: descubre bancos de fotos, ilustraciones, vectores  y vídeos de 6,115 | Adobe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2075" y="962713"/>
            <a:ext cx="7057533" cy="52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534421" y="602137"/>
            <a:ext cx="340664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homeostasis es la capacidad de un sistema para mantener un estado interno estable a pesar de los cambios en el entorno externo. Esto se logra mediante mecanismos de retroalimentación que regulan y ajustan las variables críticas dentro del sistema.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73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ELEMENTOS DE UN SISTEMA</a:t>
            </a:r>
            <a:endParaRPr sz="4000"/>
          </a:p>
        </p:txBody>
      </p:sp>
      <p:pic>
        <p:nvPicPr>
          <p:cNvPr id="181" name="Google Shape;181;p10" descr="🥇▷【 Partes de un sistema - Sistema de información 】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892" y="2264609"/>
            <a:ext cx="6137920" cy="312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6351639" y="2615381"/>
            <a:ext cx="532908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F4761"/>
                </a:solidFill>
                <a:latin typeface="Play"/>
                <a:ea typeface="Play"/>
                <a:cs typeface="Play"/>
                <a:sym typeface="Play"/>
              </a:rPr>
              <a:t>Entrada: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recursos, datos o información que ingresan al sistema desde el entorno.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F4761"/>
                </a:solidFill>
                <a:latin typeface="Play"/>
                <a:ea typeface="Play"/>
                <a:cs typeface="Play"/>
                <a:sym typeface="Play"/>
              </a:rPr>
              <a:t>Proceso: 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operaciones y transformaciones que convierten las entradas en salidas.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0F4761"/>
                </a:solidFill>
                <a:latin typeface="Play"/>
                <a:ea typeface="Play"/>
                <a:cs typeface="Play"/>
                <a:sym typeface="Play"/>
              </a:rPr>
              <a:t>Salida:</a:t>
            </a:r>
            <a:r>
              <a:rPr lang="es-E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resultados o productos que el sistema entrega al entorno.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s-ES" sz="3600">
                <a:latin typeface="Arial"/>
                <a:ea typeface="Arial"/>
                <a:cs typeface="Arial"/>
                <a:sym typeface="Arial"/>
              </a:rPr>
              <a:t>PERSONAL INVOLUCRADO EN EL DESARROLLO</a:t>
            </a:r>
            <a:endParaRPr sz="4800"/>
          </a:p>
        </p:txBody>
      </p:sp>
      <p:sp>
        <p:nvSpPr>
          <p:cNvPr id="188" name="Google Shape;188;p11"/>
          <p:cNvSpPr txBox="1">
            <a:spLocks noGrp="1"/>
          </p:cNvSpPr>
          <p:nvPr>
            <p:ph type="body" idx="1"/>
          </p:nvPr>
        </p:nvSpPr>
        <p:spPr>
          <a:xfrm>
            <a:off x="581193" y="2886371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s-ES" sz="2800" b="1">
                <a:latin typeface="Arial"/>
                <a:ea typeface="Arial"/>
                <a:cs typeface="Arial"/>
                <a:sym typeface="Arial"/>
              </a:rPr>
              <a:t>Analistas de Sistemas:</a:t>
            </a:r>
            <a:r>
              <a:rPr lang="es-ES" sz="2800">
                <a:latin typeface="Arial"/>
                <a:ea typeface="Arial"/>
                <a:cs typeface="Arial"/>
                <a:sym typeface="Arial"/>
              </a:rPr>
              <a:t> Identifican las necesidades del negocio y diseñan soluciones tecnológicas.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pic>
        <p:nvPicPr>
          <p:cNvPr id="189" name="Google Shape;189;p11" descr="Gráfico, Gráfico de proyección solar&#10;&#10;Descripción generada automáticamente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21140" y="2886075"/>
            <a:ext cx="4556770" cy="36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581192" y="1979015"/>
            <a:ext cx="85353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El desarrollo de sistemas de información involucra a una variedad de roles especializados:</a:t>
            </a:r>
            <a:endParaRPr sz="1800" b="1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ES" b="1">
                <a:latin typeface="Arial"/>
                <a:ea typeface="Arial"/>
                <a:cs typeface="Arial"/>
                <a:sym typeface="Arial"/>
              </a:rPr>
              <a:t>DESARROLLADORES DE SOFTWARE</a:t>
            </a:r>
            <a:endParaRPr sz="4000"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Codifican y crean los sistemas basados en los diseños de los analistas.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306000" lvl="0" indent="-200844" algn="l" rtl="0">
              <a:spcBef>
                <a:spcPts val="96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  <p:pic>
        <p:nvPicPr>
          <p:cNvPr id="197" name="Google Shape;197;p12" descr="Diagrama, Escala de tiempo&#10;&#10;Descripción generada automáticamente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88075" y="2417286"/>
            <a:ext cx="5422900" cy="325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ES" b="1">
                <a:latin typeface="Arial"/>
                <a:ea typeface="Arial"/>
                <a:cs typeface="Arial"/>
                <a:sym typeface="Arial"/>
              </a:rPr>
              <a:t>ADMINISTRADORES DE BASES DE DATOS</a:t>
            </a:r>
            <a:endParaRPr sz="4000"/>
          </a:p>
        </p:txBody>
      </p:sp>
      <p:sp>
        <p:nvSpPr>
          <p:cNvPr id="203" name="Google Shape;203;p13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Gestionan los datos y aseguran la integridad y seguridad de la información.</a:t>
            </a:r>
            <a:endParaRPr sz="2800"/>
          </a:p>
        </p:txBody>
      </p:sp>
      <p:pic>
        <p:nvPicPr>
          <p:cNvPr id="204" name="Google Shape;204;p13" descr="Imagen que contiene texto&#10;&#10;Descripción generada automáticamente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77000" y="2227263"/>
            <a:ext cx="4845049" cy="363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s-ES" sz="2400" b="1">
                <a:latin typeface="Arial"/>
                <a:ea typeface="Arial"/>
                <a:cs typeface="Arial"/>
                <a:sym typeface="Arial"/>
              </a:rPr>
              <a:t>GESTORES DE PROYECTOS</a:t>
            </a:r>
            <a:endParaRPr sz="3600"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Planifican y supervisan el desarrollo del sistema para asegurar que se cumplan los plazos y el presupuesto.</a:t>
            </a:r>
            <a:endParaRPr sz="2800"/>
          </a:p>
        </p:txBody>
      </p:sp>
      <p:pic>
        <p:nvPicPr>
          <p:cNvPr id="211" name="Google Shape;211;p14" descr="Diagrama&#10;&#10;Descripción generada automáticamente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88075" y="2256824"/>
            <a:ext cx="5422900" cy="357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ES" b="1">
                <a:latin typeface="Arial"/>
                <a:ea typeface="Arial"/>
                <a:cs typeface="Arial"/>
                <a:sym typeface="Arial"/>
              </a:rPr>
              <a:t>USUARIOS FINALES</a:t>
            </a:r>
            <a:endParaRPr sz="4000"/>
          </a:p>
        </p:txBody>
      </p:sp>
      <p:sp>
        <p:nvSpPr>
          <p:cNvPr id="217" name="Google Shape;217;p1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576"/>
              <a:buChar char="◼"/>
            </a:pPr>
            <a:r>
              <a:rPr lang="es-ES" sz="2800">
                <a:latin typeface="Arial"/>
                <a:ea typeface="Arial"/>
                <a:cs typeface="Arial"/>
                <a:sym typeface="Arial"/>
              </a:rPr>
              <a:t>Proporcionan requisitos y retroalimentación durante el desarrollo y utilizan el sistema una vez implementado.</a:t>
            </a:r>
            <a:endParaRPr sz="2800"/>
          </a:p>
        </p:txBody>
      </p:sp>
      <p:pic>
        <p:nvPicPr>
          <p:cNvPr id="218" name="Google Shape;218;p15" descr="Gráfico de burbujas&#10;&#10;Descripción generada automáticamente con confianza baja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85025" y="2329656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b="0" cap="none">
                <a:latin typeface="Gill Sans"/>
                <a:ea typeface="Gill Sans"/>
                <a:cs typeface="Gill Sans"/>
                <a:sym typeface="Gill Sans"/>
              </a:rPr>
              <a:t>CICLOS DE VIDA DE UN SISTEMA</a:t>
            </a:r>
            <a:endParaRPr/>
          </a:p>
        </p:txBody>
      </p:sp>
      <p:pic>
        <p:nvPicPr>
          <p:cNvPr id="224" name="Google Shape;224;p16" descr="Diagra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r="3208" b="1"/>
          <a:stretch/>
        </p:blipFill>
        <p:spPr>
          <a:xfrm>
            <a:off x="1470368" y="2228003"/>
            <a:ext cx="3644039" cy="363304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 txBox="1"/>
          <p:nvPr/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es-ES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El ciclo de vida de un sistema describe las fases por las que pasa un sistema desde su concepción hasta su retirada definitiva.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b="0" cap="none">
                <a:latin typeface="Gill Sans"/>
                <a:ea typeface="Gill Sans"/>
                <a:cs typeface="Gill Sans"/>
                <a:sym typeface="Gill Sans"/>
              </a:rPr>
              <a:t>FASES DEL CICLO DE VIDA DE UN SISTEMA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endParaRPr b="0" cap="none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249382" y="1869600"/>
            <a:ext cx="11693235" cy="447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Planeación:</a:t>
            </a:r>
            <a:endParaRPr sz="1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Objetivo: Identificar la necesidad del sistema y definir sus objetivos y alcance.</a:t>
            </a:r>
            <a:endParaRPr/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Actividades: Análisis de viabilidad, estudios preliminares, definición de objetivos y recursos.</a:t>
            </a:r>
            <a:endParaRPr/>
          </a:p>
          <a:p>
            <a:pPr marL="0" marR="0" lvl="0" indent="0" algn="l" rtl="0">
              <a:spcBef>
                <a:spcPts val="92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Análisis de Requisitos:</a:t>
            </a:r>
            <a:endParaRPr sz="1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Objetivo: Recopilar y analizar los requisitos del sistema.</a:t>
            </a:r>
            <a:endParaRPr/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Actividades: Entrevistas, cuestionarios, reuniones con stakeholders, análisis de la información recopilada, especificación de requisitos.</a:t>
            </a:r>
            <a:endParaRPr/>
          </a:p>
          <a:p>
            <a:pPr marL="0" marR="0" lvl="0" indent="0" algn="l" rtl="0">
              <a:spcBef>
                <a:spcPts val="92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Diseño:</a:t>
            </a:r>
            <a:endParaRPr sz="1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Objetivo: Definir cómo se implementarán los requisitos en el sistema.</a:t>
            </a:r>
            <a:endParaRPr/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Actividades: Diseño de la arquitectura del sistema, diseño de bases de datos, interfaces de usuario, módulos y componentes.</a:t>
            </a:r>
            <a:endParaRPr/>
          </a:p>
          <a:p>
            <a:pPr marL="0" marR="0" lvl="0" indent="0" algn="l" rtl="0">
              <a:spcBef>
                <a:spcPts val="92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Desarrollo o Implementación:</a:t>
            </a:r>
            <a:endParaRPr sz="1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Objetivo: Construir el sistema según los diseños especificados.</a:t>
            </a:r>
            <a:endParaRPr/>
          </a:p>
          <a:p>
            <a:pPr marL="306000" marR="0" lvl="0" indent="-30600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es-ES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   Actividades: Programación, codificación, integración de sistemas, desarrollo de bases de datos, creación de interfaces.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/>
        </p:nvSpPr>
        <p:spPr>
          <a:xfrm>
            <a:off x="792187" y="976149"/>
            <a:ext cx="1047565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Pruebas (Testing):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Objetivo: Verificar que el sistema cumple con los requisitos y funciona correctamente.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Actividades: Pruebas unitarias, pruebas de integración, pruebas de sistema, pruebas de aceptación por los usuarios.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Despliegue (Implementación):</a:t>
            </a: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Objetivo: Poner el sistema en funcionamiento en el entorno real de operación.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Actividades: Instalación del sistema, configuración, migración de datos, capacitación a usuarios, documentación.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Operación y Mantenimiento: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Objetivo: Asegurar el correcto funcionamiento del sistema y realizar mejoras y correcciones.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Actividades: Monitoreo del sistema, mantenimiento correctivo, mantenimiento preventivo, actualizaciones y mejoras.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Retirada o Disposición: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Objetivo: Retirar el sistema cuando ya no es útil o necesario.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Actividades: Planificación de la retirada, migración a nuevos sistemas, desmantelamiento del sistema, eliminación segura de datos.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4263598" y="1357536"/>
            <a:ext cx="11693235" cy="447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/>
        </p:nvSpPr>
        <p:spPr>
          <a:xfrm>
            <a:off x="1119267" y="1053247"/>
            <a:ext cx="898420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Modelos de Ciclo de Vida de un Sistema: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Modelo en Cascada: Secuencial, cada fase debe completarse antes de iniciar la siguiente.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Modelo Iterativo: Desarrolla el sistema en iteraciones, permitiendo revisiones y mejoras continuas.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Modelo en Espiral: Combina elementos del modelo en cascada y el iterativo, con un enfoque en la gestión de riesgos.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Modelo Ágil: Enfoque flexible y adaptable, con entregas incrementales y continuas mejoras.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Importancia del Ciclo de Vida de un Sistema:</a:t>
            </a:r>
            <a:endParaRPr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Gestión de Proyectos: Facilita la planificación, ejecución y control del desarrollo del sistema.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Calidad del Sistema: Asegura que el sistema cumpla con los requisitos y expectativas de los usuarios.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▪"/>
            </a:pPr>
            <a:r>
              <a:rPr lang="es-ES" sz="16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Costos y Recursos: Ayuda a gestionar eficazmente los recursos y costos asociados con el desarrollo y mantenimiento del sistema.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1344</Words>
  <Application>Microsoft Office PowerPoint</Application>
  <PresentationFormat>Panorámica</PresentationFormat>
  <Paragraphs>129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Play</vt:lpstr>
      <vt:lpstr>Calibri</vt:lpstr>
      <vt:lpstr>Gill Sans</vt:lpstr>
      <vt:lpstr>Noto Sans Symbols</vt:lpstr>
      <vt:lpstr>Arial</vt:lpstr>
      <vt:lpstr>Personalizado</vt:lpstr>
      <vt:lpstr>TEORIA GENERAL DE SISTEMAS</vt:lpstr>
      <vt:lpstr>CONCEPTOS BÁSICOS DE SISTEMAS</vt:lpstr>
      <vt:lpstr>Presentación de PowerPoint</vt:lpstr>
      <vt:lpstr>Presentación de PowerPoint</vt:lpstr>
      <vt:lpstr>Presentación de PowerPoint</vt:lpstr>
      <vt:lpstr>CLASIFICACIÓN DE SISTEMAS EN GENERAL</vt:lpstr>
      <vt:lpstr>CLASIFICACIÓN DE SISTEMAS DE INFORMACIÓN</vt:lpstr>
      <vt:lpstr>Presentación de PowerPoint</vt:lpstr>
      <vt:lpstr>PRINCIPIOS DE SISTEMAS</vt:lpstr>
      <vt:lpstr>Presentación de PowerPoint</vt:lpstr>
      <vt:lpstr>ELEMENTOS DE UN SISTEMA</vt:lpstr>
      <vt:lpstr>PERSONAL INVOLUCRADO EN EL DESARROLLO</vt:lpstr>
      <vt:lpstr>DESARROLLADORES DE SOFTWARE</vt:lpstr>
      <vt:lpstr>ADMINISTRADORES DE BASES DE DATOS</vt:lpstr>
      <vt:lpstr>GESTORES DE PROYECTOS</vt:lpstr>
      <vt:lpstr>USUARIOS FINALES</vt:lpstr>
      <vt:lpstr>CICLOS DE VIDA DE UN SISTEMA</vt:lpstr>
      <vt:lpstr>FASES DEL CICLO DE VIDA DE UN SISTEMA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GENERAL DE SISTEMAS</dc:title>
  <dc:creator>samuel cardenas tellez</dc:creator>
  <cp:lastModifiedBy>hugo arnaldo guzman centellas</cp:lastModifiedBy>
  <cp:revision>3</cp:revision>
  <dcterms:created xsi:type="dcterms:W3CDTF">2024-06-11T23:18:23Z</dcterms:created>
  <dcterms:modified xsi:type="dcterms:W3CDTF">2026-10-01T13:19:00Z</dcterms:modified>
</cp:coreProperties>
</file>