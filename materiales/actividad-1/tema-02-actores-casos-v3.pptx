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03da9ee55542a0" /><Relationship Type="http://schemas.openxmlformats.org/officeDocument/2006/relationships/extended-properties" Target="/docProps/app.xml" Id="Rf20adb7f030d42a6" /><Relationship Type="http://schemas.openxmlformats.org/officeDocument/2006/relationships/officeDocument" Target="/ppt/presentation.xml" Id="Ra94cf0ea37094f6d" /></Relationships>
</file>

<file path=ppt/presentation.xml><?xml version="1.0" encoding="utf-8"?>
<p:presentation xmlns:p="http://schemas.openxmlformats.org/presentationml/2006/main">
  <p:sldMasterIdLst>
    <p:sldMasterId xmlns:r="http://schemas.openxmlformats.org/officeDocument/2006/relationships" id="2147483648" r:id="R22e6205871c1451f"/>
  </p:sldMasterIdLst>
  <p:notesMasterIdLst>
    <p:notesMasterId xmlns:r="http://schemas.openxmlformats.org/officeDocument/2006/relationships" r:id="R15a2b125dd3f4b13"/>
  </p:notesMasterIdLst>
  <p:sldIdLst>
    <p:sldId xmlns:r="http://schemas.openxmlformats.org/officeDocument/2006/relationships" id="256" r:id="R3d2745177caf4585"/>
    <p:sldId xmlns:r="http://schemas.openxmlformats.org/officeDocument/2006/relationships" id="257" r:id="R2a312d26cdd945a2"/>
    <p:sldId xmlns:r="http://schemas.openxmlformats.org/officeDocument/2006/relationships" id="258" r:id="Re95f7da4cb5a4819"/>
    <p:sldId xmlns:r="http://schemas.openxmlformats.org/officeDocument/2006/relationships" id="259" r:id="R0d21c4ce07034384"/>
    <p:sldId xmlns:r="http://schemas.openxmlformats.org/officeDocument/2006/relationships" id="260" r:id="R2cdbcceb9e4d4b86"/>
    <p:sldId xmlns:r="http://schemas.openxmlformats.org/officeDocument/2006/relationships" id="261" r:id="R3a35d6dc0024496b"/>
    <p:sldId xmlns:r="http://schemas.openxmlformats.org/officeDocument/2006/relationships" id="262" r:id="R9dd450f29aa042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590902bcdb482f" /><Relationship Type="http://schemas.openxmlformats.org/officeDocument/2006/relationships/slideMaster" Target="/ppt/slideMasters/slideMaster1.xml" Id="R22e6205871c1451f" /><Relationship Type="http://schemas.openxmlformats.org/officeDocument/2006/relationships/notesMaster" Target="/ppt/notesMasters/notesMaster1.xml" Id="R15a2b125dd3f4b13" /><Relationship Type="http://schemas.openxmlformats.org/officeDocument/2006/relationships/presProps" Target="/ppt/presProps.xml" Id="Rd088cb511b354d63" /><Relationship Type="http://schemas.openxmlformats.org/officeDocument/2006/relationships/tableStyles" Target="/ppt/tableStyles.xml" Id="Re07aa4df374947be" /><Relationship Type="http://schemas.openxmlformats.org/officeDocument/2006/relationships/slide" Target="/ppt/slides/slide1.xml" Id="R3d2745177caf4585" /><Relationship Type="http://schemas.openxmlformats.org/officeDocument/2006/relationships/slide" Target="/ppt/slides/slide2.xml" Id="R2a312d26cdd945a2" /><Relationship Type="http://schemas.openxmlformats.org/officeDocument/2006/relationships/slide" Target="/ppt/slides/slide3.xml" Id="Re95f7da4cb5a4819" /><Relationship Type="http://schemas.openxmlformats.org/officeDocument/2006/relationships/slide" Target="/ppt/slides/slide4.xml" Id="R0d21c4ce07034384" /><Relationship Type="http://schemas.openxmlformats.org/officeDocument/2006/relationships/slide" Target="/ppt/slides/slide5.xml" Id="R2cdbcceb9e4d4b86" /><Relationship Type="http://schemas.openxmlformats.org/officeDocument/2006/relationships/slide" Target="/ppt/slides/slide6.xml" Id="R3a35d6dc0024496b" /><Relationship Type="http://schemas.openxmlformats.org/officeDocument/2006/relationships/slide" Target="/ppt/slides/slide7.xml" Id="R9dd450f29aa042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d32f773b6441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8dae0d549a4e14" /><Relationship Type="http://schemas.openxmlformats.org/officeDocument/2006/relationships/notesMaster" Target="/ppt/notesMasters/notesMaster1.xml" Id="Rb5e7b1b2eae947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8ce2ac2fcc4ea9" /><Relationship Type="http://schemas.openxmlformats.org/officeDocument/2006/relationships/notesMaster" Target="/ppt/notesMasters/notesMaster1.xml" Id="Ra1f219e03ff442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e8b75dd5864dec" /><Relationship Type="http://schemas.openxmlformats.org/officeDocument/2006/relationships/notesMaster" Target="/ppt/notesMasters/notesMaster1.xml" Id="Rf71f161963ee4b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cd3eb7caf1469f" /><Relationship Type="http://schemas.openxmlformats.org/officeDocument/2006/relationships/notesMaster" Target="/ppt/notesMasters/notesMaster1.xml" Id="R1f9455a8394d4d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0257fe527c47cc" /><Relationship Type="http://schemas.openxmlformats.org/officeDocument/2006/relationships/notesMaster" Target="/ppt/notesMasters/notesMaster1.xml" Id="R1d562caed71242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2eb1cd365947ae" /><Relationship Type="http://schemas.openxmlformats.org/officeDocument/2006/relationships/notesMaster" Target="/ppt/notesMasters/notesMaster1.xml" Id="R871e85b8d7144a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d25cc7a2d94e6c" /><Relationship Type="http://schemas.openxmlformats.org/officeDocument/2006/relationships/notesMaster" Target="/ppt/notesMasters/notesMaster1.xml" Id="R82c52f448c834e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el tema asignado al grupo, los nombres completos de los cinco integrantes y la pregunta guía. La fotografía del grupo debe agregarse cuando esté disponible. La exposición dura diez minutos, dos minutos por integrante.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actor representa un rol: En UML, el actor designa una entidad externa que intercambia información o inicia acciones con el sistema. Puede ser una persona, una organización, un dispositivo o un programa. “Estudiante” es un rol; “Ana” sería una persona que podría desempeñarlo. Una misma persona puede asumir roles diferentes en contextos distintos. El actor queda fuera del límite del sistema porque representa parte de su entorno, aunque reciba o envíe información. Actor primario: inicia una interacción para alcanzar un objetivo, como buscar un libro. Actor de apoyo: participa durante la ejecución, como un servicio externo de autenticación si forma parte del contexto estudiado. La descripción del actor explica su relación con el sistema; no enumera personas concretas del equipo.</a:t>
            </a:r>
          </a:p>
          <a:p xmlns:a="http://schemas.openxmlformats.org/drawingml/2006/main">
            <a:r>
              <a:t/>
            </a:r>
          </a:p>
          <a:p xmlns:a="http://schemas.openxmlformats.org/drawingml/2006/main">
            <a:r>
              <a:t>Objetivos y frontera del sistema: Un caso de uso reúne las interacciones que producen un resultado de valor para un actor. Su nombre suele expresar una acción y su objeto: Consultar disponibilidad o Registrar préstamo. El rectángulo de frontera indica qué funciones ofrece la solución; los actores permanecen fuera y los casos de uso aparecen dentro. La frontera evita confundir una tarea humana con una capacidad del software o ampliar el alcance sin motivo. Buscar libro y Consultar disponibilidad son objetivos que puede iniciar un Estudiante. Registrar préstamo y Registrar devolución son funciones asociadas al rol Bibliotecario. La línea de asociación indica quién participa, pero no expresa el orden de las acciones ni todos los pasos del proceso.</a:t>
            </a:r>
          </a:p>
          <a:p xmlns:a="http://schemas.openxmlformats.org/drawingml/2006/main">
            <a:r>
              <a:t/>
            </a:r>
          </a:p>
          <a:p xmlns:a="http://schemas.openxmlformats.org/drawingml/2006/main">
            <a:r>
              <a:t>Relaciones y descripción textual: Las relaciones include y extend tienen significados específicos. Include señala un comportamiento que se inserta como parte requerida de otro caso; extend añade un comportamiento condicionado que amplía el caso base. Una relación no se agrega solo para decorar el diagrama. Los detalles de precondiciones, pasos, excepciones y resultado se explican en una descripción textual del caso de uso. Ejemplo de precondición: la cuenta del estudiante está identificada. Flujo principal: el estudiante selecciona un ejemplar disponible y confirma la reserva. Alternativa: si el ejemplar no está disponible, el sistema comunica la condición y no registra la reserva.</a:t>
            </a:r>
          </a:p>
          <a:p xmlns:a="http://schemas.openxmlformats.org/drawingml/2006/main">
            <a:r>
              <a:t/>
            </a:r>
          </a:p>
          <a:p xmlns:a="http://schemas.openxmlformats.org/drawingml/2006/main">
            <a:r>
              <a:t>Fuentes:</a:t>
            </a:r>
          </a:p>
          <a:p xmlns:a="http://schemas.openxmlformats.org/drawingml/2006/main">
            <a:r>
              <a:t>• Object Management Group. (2017). Unified Modeling Language (UML), Version 2.5.1, Clause 18: Use Cases.</a:t>
            </a:r>
          </a:p>
          <a:p xmlns:a="http://schemas.openxmlformats.org/drawingml/2006/main">
            <a:r>
              <a:t>  https://www.omg.org/spec/UML/2.5.1/PDF</a:t>
            </a:r>
          </a:p>
          <a:p xmlns:a="http://schemas.openxmlformats.org/drawingml/2006/main">
            <a:r>
              <a:t>• IBM. (s. f.). The use-case model.</a:t>
            </a:r>
          </a:p>
          <a:p xmlns:a="http://schemas.openxmlformats.org/drawingml/2006/main">
            <a:r>
              <a:t>  https://www.ibm.com/docs/en/rsas/7.5.0?topic=model-use-case</a:t>
            </a:r>
          </a:p>
          <a:p xmlns:a="http://schemas.openxmlformats.org/drawingml/2006/main">
            <a:r>
              <a:t>• IBM. (s. f.). Use cases in modeling diagrams.</a:t>
            </a:r>
          </a:p>
          <a:p xmlns:a="http://schemas.openxmlformats.org/drawingml/2006/main">
            <a:r>
              <a:t>  https://www.ibm.com/docs/en/dma?topic=diagrams-use-cases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el diagrama de izquierda a derecha. Señalar que el ejemplo de biblioteca es didáctico y no constituye un requisito del proyecto final. Fuentes:</a:t>
            </a:r>
          </a:p>
          <a:p xmlns:a="http://schemas.openxmlformats.org/drawingml/2006/main">
            <a:r>
              <a:t>• Object Management Group. (2017). Unified Modeling Language (UML), Version 2.5.1, Clause 18: Use Cases.</a:t>
            </a:r>
          </a:p>
          <a:p xmlns:a="http://schemas.openxmlformats.org/drawingml/2006/main">
            <a:r>
              <a:t>  https://www.omg.org/spec/UML/2.5.1/PDF</a:t>
            </a:r>
          </a:p>
          <a:p xmlns:a="http://schemas.openxmlformats.org/drawingml/2006/main">
            <a:r>
              <a:t>• IBM. (s. f.). The use-case model.</a:t>
            </a:r>
          </a:p>
          <a:p xmlns:a="http://schemas.openxmlformats.org/drawingml/2006/main">
            <a:r>
              <a:t>  https://www.ibm.com/docs/en/rsas/7.5.0?topic=model-use-case</a:t>
            </a:r>
          </a:p>
          <a:p xmlns:a="http://schemas.openxmlformats.org/drawingml/2006/main">
            <a:r>
              <a:t>• IBM. (s. f.). Use cases in modeling diagrams.</a:t>
            </a:r>
          </a:p>
          <a:p xmlns:a="http://schemas.openxmlformats.org/drawingml/2006/main">
            <a:r>
              <a:t>  https://www.ibm.com/docs/en/dma?topic=diagrams-use-cases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relaciones include y extend tienen significados específicos. Include señala un comportamiento que se inserta como parte requerida de otro caso; extend añade un comportamiento condicionado que amplía el caso base. Una relación no se agrega solo para decorar el diagrama. Los detalles de precondiciones, pasos, excepciones y resultado se explican en una descripción textual del caso de uso.</a:t>
            </a:r>
          </a:p>
          <a:p xmlns:a="http://schemas.openxmlformats.org/drawingml/2006/main">
            <a:r>
              <a:t/>
            </a:r>
          </a:p>
          <a:p xmlns:a="http://schemas.openxmlformats.org/drawingml/2006/main">
            <a:r>
              <a:t>Ejemplo de precondición: la cuenta del estudiante está identificada.</a:t>
            </a:r>
          </a:p>
          <a:p xmlns:a="http://schemas.openxmlformats.org/drawingml/2006/main">
            <a:r>
              <a:t>Flujo principal: el estudiante selecciona un ejemplar disponible y confirma la reserva.</a:t>
            </a:r>
          </a:p>
          <a:p xmlns:a="http://schemas.openxmlformats.org/drawingml/2006/main">
            <a:r>
              <a:t>Alternativa: si el ejemplar no está disponible, el sistema comunica la condición y no registra la reserva.</a:t>
            </a:r>
          </a:p>
          <a:p xmlns:a="http://schemas.openxmlformats.org/drawingml/2006/main">
            <a:r>
              <a:t/>
            </a:r>
          </a:p>
          <a:p xmlns:a="http://schemas.openxmlformats.org/drawingml/2006/main">
            <a:r>
              <a:t>Fuentes:</a:t>
            </a:r>
          </a:p>
          <a:p xmlns:a="http://schemas.openxmlformats.org/drawingml/2006/main">
            <a:r>
              <a:t>• Object Management Group. (2017). Unified Modeling Language (UML), Version 2.5.1, Clause 18: Use Cases.</a:t>
            </a:r>
          </a:p>
          <a:p xmlns:a="http://schemas.openxmlformats.org/drawingml/2006/main">
            <a:r>
              <a:t>  https://www.omg.org/spec/UML/2.5.1/PDF</a:t>
            </a:r>
          </a:p>
          <a:p xmlns:a="http://schemas.openxmlformats.org/drawingml/2006/main">
            <a:r>
              <a:t>• IBM. (s. f.). The use-case model.</a:t>
            </a:r>
          </a:p>
          <a:p xmlns:a="http://schemas.openxmlformats.org/drawingml/2006/main">
            <a:r>
              <a:t>  https://www.ibm.com/docs/en/rsas/7.5.0?topic=model-use-case</a:t>
            </a:r>
          </a:p>
          <a:p xmlns:a="http://schemas.openxmlformats.org/drawingml/2006/main">
            <a:r>
              <a:t>• IBM. (s. f.). Use cases in modeling diagrams.</a:t>
            </a:r>
          </a:p>
          <a:p xmlns:a="http://schemas.openxmlformats.org/drawingml/2006/main">
            <a:r>
              <a:t>  https://www.ibm.com/docs/en/dma?topic=diagrams-use-cases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relaciones include y extend tienen significados específicos. Include señala un comportamiento que se inserta como parte requerida de otro caso; extend añade un comportamiento condicionado que amplía el caso base. Una relación no se agrega solo para decorar el diagrama. Los detalles de precondiciones, pasos, excepciones y resultado se explican en una descripción textual del caso de uso.</a:t>
            </a:r>
          </a:p>
          <a:p xmlns:a="http://schemas.openxmlformats.org/drawingml/2006/main">
            <a:r>
              <a:t/>
            </a:r>
          </a:p>
          <a:p xmlns:a="http://schemas.openxmlformats.org/drawingml/2006/main">
            <a:r>
              <a:t>Ejemplo de precondición: la cuenta del estudiante está identificada.</a:t>
            </a:r>
          </a:p>
          <a:p xmlns:a="http://schemas.openxmlformats.org/drawingml/2006/main">
            <a:r>
              <a:t>Flujo principal: el estudiante selecciona un ejemplar disponible y confirma la reserva.</a:t>
            </a:r>
          </a:p>
          <a:p xmlns:a="http://schemas.openxmlformats.org/drawingml/2006/main">
            <a:r>
              <a:t>Alternativa: si el ejemplar no está disponible, el sistema comunica la condición y no registra la reserva.</a:t>
            </a:r>
          </a:p>
          <a:p xmlns:a="http://schemas.openxmlformats.org/drawingml/2006/main">
            <a:r>
              <a:t/>
            </a:r>
          </a:p>
          <a:p xmlns:a="http://schemas.openxmlformats.org/drawingml/2006/main">
            <a:r>
              <a:t>Fuentes: • Object Management Group. (2017). Unified Modeling Language (UML), Version 2.5.1, Clause 18: Use Cases.</a:t>
            </a:r>
          </a:p>
          <a:p xmlns:a="http://schemas.openxmlformats.org/drawingml/2006/main">
            <a:r>
              <a:t>  https://www.omg.org/spec/UML/2.5.1/PDF</a:t>
            </a:r>
          </a:p>
          <a:p xmlns:a="http://schemas.openxmlformats.org/drawingml/2006/main">
            <a:r>
              <a:t>• IBM. (s. f.). The use-case model.</a:t>
            </a:r>
          </a:p>
          <a:p xmlns:a="http://schemas.openxmlformats.org/drawingml/2006/main">
            <a:r>
              <a:t>  https://www.ibm.com/docs/en/rsas/7.5.0?topic=model-use-case</a:t>
            </a:r>
          </a:p>
          <a:p xmlns:a="http://schemas.openxmlformats.org/drawingml/2006/main">
            <a:r>
              <a:t>• IBM. (s. f.). Use cases in modeling diagrams.</a:t>
            </a:r>
          </a:p>
          <a:p xmlns:a="http://schemas.openxmlformats.org/drawingml/2006/main">
            <a:r>
              <a:t>  https://www.ibm.com/docs/en/dma?topic=diagrams-use-cases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física sugerida: Análisis y diseño orientado a objetos con UML y Rational Rose. Sergio Matsukawa, 2004. https://biblioteca.upds.edu.bo/biblioteca/index.php?id=2516&amp;lvl=categ_see</a:t>
            </a:r>
          </a:p>
          <a:p xmlns:a="http://schemas.openxmlformats.org/drawingml/2006/main">
            <a:r>
              <a:t>El catálogo UPDS lo identifica como impreso y registra un ejemplar disponible en Biblioteca Tarija; confirma estado y préstamo al consultarlo.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técnicas complementarias: • Object Management Group. (2017). Unified Modeling Language (UML), Version 2.5.1, Clause 18: Use Cases.</a:t>
            </a:r>
          </a:p>
          <a:p xmlns:a="http://schemas.openxmlformats.org/drawingml/2006/main">
            <a:r>
              <a:t>  https://www.omg.org/spec/UML/2.5.1/PDF</a:t>
            </a:r>
          </a:p>
          <a:p xmlns:a="http://schemas.openxmlformats.org/drawingml/2006/main">
            <a:r>
              <a:t>• IBM. (s. f.). The use-case model.</a:t>
            </a:r>
          </a:p>
          <a:p xmlns:a="http://schemas.openxmlformats.org/drawingml/2006/main">
            <a:r>
              <a:t>  https://www.ibm.com/docs/en/rsas/7.5.0?topic=model-use-case</a:t>
            </a:r>
          </a:p>
          <a:p xmlns:a="http://schemas.openxmlformats.org/drawingml/2006/main">
            <a:r>
              <a:t>• IBM. (s. f.). Use cases in modeling diagrams.</a:t>
            </a:r>
          </a:p>
          <a:p xmlns:a="http://schemas.openxmlformats.org/drawingml/2006/main">
            <a:r>
              <a:t>  https://www.ibm.com/docs/en/dma?topic=diagrams-use-cases</a:t>
            </a:r>
          </a:p>
          <a:p xmlns:a="http://schemas.openxmlformats.org/drawingml/2006/main">
            <a:r>
              <a:t>Disponibilidad de los libros digitales mediante UPDS pendiente de verificar con cuenta institucional.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4f3a320c9b4e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4267ffa8b24215" /><Relationship Type="http://schemas.openxmlformats.org/officeDocument/2006/relationships/slideLayout" Target="/ppt/slideLayouts/slideLayout1.xml" Id="Rb9109b6c414f4b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109b6c414f4b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187fad65f8448c" /><Relationship Type="http://schemas.openxmlformats.org/officeDocument/2006/relationships/notesSlide" Target="/ppt/notesSlides/notesSlide1.xml" Id="R5cdf7548847942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3970b3e9334928" /><Relationship Type="http://schemas.openxmlformats.org/officeDocument/2006/relationships/notesSlide" Target="/ppt/notesSlides/notesSlide2.xml" Id="Rad2ca6d35e024a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d381801c9a49b5" /><Relationship Type="http://schemas.openxmlformats.org/officeDocument/2006/relationships/notesSlide" Target="/ppt/notesSlides/notesSlide3.xml" Id="R3c9ad498b0e646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a08a381de14634" /><Relationship Type="http://schemas.openxmlformats.org/officeDocument/2006/relationships/notesSlide" Target="/ppt/notesSlides/notesSlide4.xml" Id="Rc6ff25da95ef45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b785b0fad4482d" /><Relationship Type="http://schemas.openxmlformats.org/officeDocument/2006/relationships/notesSlide" Target="/ppt/notesSlides/notesSlide5.xml" Id="R4f6154c26c0d43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99ab0095404696" /><Relationship Type="http://schemas.openxmlformats.org/officeDocument/2006/relationships/notesSlide" Target="/ppt/notesSlides/notesSlide6.xml" Id="Ra7a64e992a2e49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5d112fd21c4eca" /><Relationship Type="http://schemas.openxmlformats.org/officeDocument/2006/relationships/notesSlide" Target="/ppt/notesSlides/notesSlide7.xml" Id="Rf83af9693c91484c" /></Relationships>
</file>

<file path=ppt/slides/slide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3F00F20-EEAC-41EB-9AFF-1DB678914B0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0821B7-D4D6-4488-9103-5CE55D9728FC}"/>
              </a:ext>
            </a:extLst>
          </p:cNvPr>
          <p:cNvSpPr>
            <a:spLocks xmlns:a="http://schemas.openxmlformats.org/drawingml/2006/main" noGrp="1"/>
          </p:cNvSpPr>
          <p:nvPr/>
        </p:nvSpPr>
        <p:spPr>
          <a:xfrm xmlns:a="http://schemas.openxmlformats.org/drawingml/2006/main">
            <a:off x="685800" y="5334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B7E3C4"/>
                </a:solidFill>
                <a:latin typeface="Arial"/>
                <a:ea typeface="Arial"/>
                <a:cs typeface="Arial"/>
              </a:defRPr>
            </a:pPr>
            <a:r>
              <a:rPr sz="1125" b="1">
                <a:solidFill>
                  <a:srgbClr val="B7E3C4"/>
                </a:solidFill>
                <a:latin typeface="Arial"/>
                <a:ea typeface="Arial"/>
                <a:cs typeface="Arial"/>
              </a:rPr>
              <a:t>ACTIVIDAD 1  /  INVESTIGACIÓN Y EXPOSICIÓN</a:t>
            </a:r>
          </a:p>
        </p:txBody>
      </p:sp>
      <p:sp>
        <p:nvSpPr>
          <p:cNvPr id="3" name="">
            <a:extLst xmlns:a="http://schemas.openxmlformats.org/drawingml/2006/main">
              <a:ext uri="{FF2B5EF4-FFF2-40B4-BE49-F238E27FC236}">
                <a16:creationId xmlns:a16="http://schemas.microsoft.com/office/drawing/2014/main" id="{E940D051-21C8-45F3-9E79-FA83E5B90618}"/>
              </a:ext>
            </a:extLst>
          </p:cNvPr>
          <p:cNvSpPr>
            <a:spLocks xmlns:a="http://schemas.openxmlformats.org/drawingml/2006/main" noGrp="1"/>
          </p:cNvSpPr>
          <p:nvPr/>
        </p:nvSpPr>
        <p:spPr>
          <a:xfrm xmlns:a="http://schemas.openxmlformats.org/drawingml/2006/main">
            <a:off x="685800" y="1238250"/>
            <a:ext cx="7810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Actores y casos de uso</a:t>
            </a:r>
          </a:p>
        </p:txBody>
      </p:sp>
      <p:sp>
        <p:nvSpPr>
          <p:cNvPr id="4" name="">
            <a:extLst xmlns:a="http://schemas.openxmlformats.org/drawingml/2006/main">
              <a:ext uri="{FF2B5EF4-FFF2-40B4-BE49-F238E27FC236}">
                <a16:creationId xmlns:a16="http://schemas.microsoft.com/office/drawing/2014/main" id="{DBD82798-2C88-425C-870E-94F811048BC3}"/>
              </a:ext>
            </a:extLst>
          </p:cNvPr>
          <p:cNvSpPr>
            <a:spLocks xmlns:a="http://schemas.openxmlformats.org/drawingml/2006/main" noGrp="1"/>
          </p:cNvSpPr>
          <p:nvPr/>
        </p:nvSpPr>
        <p:spPr>
          <a:xfrm xmlns:a="http://schemas.openxmlformats.org/drawingml/2006/main">
            <a:off x="723900" y="2886075"/>
            <a:ext cx="723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D4E4E1"/>
                </a:solidFill>
                <a:latin typeface="Arial"/>
                <a:ea typeface="Arial"/>
                <a:cs typeface="Arial"/>
              </a:defRPr>
            </a:pPr>
            <a:r>
              <a:rPr sz="1725" b="0">
                <a:solidFill>
                  <a:srgbClr val="D4E4E1"/>
                </a:solidFill>
                <a:latin typeface="Arial"/>
                <a:ea typeface="Arial"/>
                <a:cs typeface="Arial"/>
              </a:rPr>
              <a:t>¿Quién interactúa con el sistema y qué resultado recibe de esa interacción?</a:t>
            </a:r>
          </a:p>
        </p:txBody>
      </p:sp>
      <p:sp>
        <p:nvSpPr>
          <p:cNvPr id="5" name="">
            <a:extLst xmlns:a="http://schemas.openxmlformats.org/drawingml/2006/main">
              <a:ext uri="{FF2B5EF4-FFF2-40B4-BE49-F238E27FC236}">
                <a16:creationId xmlns:a16="http://schemas.microsoft.com/office/drawing/2014/main" id="{F312DE5A-8FDF-4A39-92AA-65F520BB96F4}"/>
              </a:ext>
            </a:extLst>
          </p:cNvPr>
          <p:cNvSpPr>
            <a:spLocks xmlns:a="http://schemas.openxmlformats.org/drawingml/2006/main" noGrp="1"/>
          </p:cNvSpPr>
          <p:nvPr/>
        </p:nvSpPr>
        <p:spPr>
          <a:xfrm xmlns:a="http://schemas.openxmlformats.org/drawingml/2006/main">
            <a:off x="723900" y="3914775"/>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B8C9C8"/>
                </a:solidFill>
                <a:latin typeface="Arial"/>
                <a:ea typeface="Arial"/>
                <a:cs typeface="Arial"/>
              </a:defRPr>
            </a:pPr>
            <a:r>
              <a:rPr sz="1275" b="0">
                <a:solidFill>
                  <a:srgbClr val="B8C9C8"/>
                </a:solidFill>
                <a:latin typeface="Arial"/>
                <a:ea typeface="Arial"/>
                <a:cs typeface="Arial"/>
              </a:rPr>
              <a:t>10 minutos  ·  5 integrantes  ·  Ejemplo didáctico: biblioteca</a:t>
            </a:r>
          </a:p>
        </p:txBody>
      </p:sp>
      <p:sp>
        <p:nvSpPr>
          <p:cNvPr id="6" name="">
            <a:extLst xmlns:a="http://schemas.openxmlformats.org/drawingml/2006/main">
              <a:ext uri="{FF2B5EF4-FFF2-40B4-BE49-F238E27FC236}">
                <a16:creationId xmlns:a16="http://schemas.microsoft.com/office/drawing/2014/main" id="{F6D24A3A-CF5B-40BE-8ADE-493694969BD1}"/>
              </a:ext>
            </a:extLst>
          </p:cNvPr>
          <p:cNvSpPr>
            <a:spLocks xmlns:a="http://schemas.openxmlformats.org/drawingml/2006/main" noGrp="1"/>
          </p:cNvSpPr>
          <p:nvPr/>
        </p:nvSpPr>
        <p:spPr>
          <a:xfrm xmlns:a="http://schemas.openxmlformats.org/drawingml/2006/main">
            <a:off x="8572500" y="1485900"/>
            <a:ext cx="2800350" cy="3028950"/>
          </a:xfrm>
          <a:prstGeom xmlns:a="http://schemas.openxmlformats.org/drawingml/2006/main" prst="roundRect">
            <a:avLst>
              <a:gd name="adj" fmla="val 2721"/>
            </a:avLst>
          </a:prstGeom>
          <a:solidFill xmlns:a="http://schemas.openxmlformats.org/drawingml/2006/main">
            <a:srgbClr val="FFFFFF"/>
          </a:solidFill>
          <a:ln xmlns:a="http://schemas.openxmlformats.org/drawingml/2006/main" w="14288">
            <a:solidFill>
              <a:srgbClr val="C7D3D0"/>
            </a:solidFill>
          </a:ln>
        </p:spPr>
      </p:sp>
      <p:sp>
        <p:nvSpPr>
          <p:cNvPr id="7" name="">
            <a:extLst xmlns:a="http://schemas.openxmlformats.org/drawingml/2006/main">
              <a:ext uri="{FF2B5EF4-FFF2-40B4-BE49-F238E27FC236}">
                <a16:creationId xmlns:a16="http://schemas.microsoft.com/office/drawing/2014/main" id="{D50FFA7A-E11B-434E-9C89-431D7B900A25}"/>
              </a:ext>
            </a:extLst>
          </p:cNvPr>
          <p:cNvSpPr>
            <a:spLocks xmlns:a="http://schemas.openxmlformats.org/drawingml/2006/main" noGrp="1"/>
          </p:cNvSpPr>
          <p:nvPr/>
        </p:nvSpPr>
        <p:spPr>
          <a:xfrm xmlns:a="http://schemas.openxmlformats.org/drawingml/2006/main">
            <a:off x="8724900" y="1638300"/>
            <a:ext cx="2495550" cy="2419350"/>
          </a:xfrm>
          <a:prstGeom xmlns:a="http://schemas.openxmlformats.org/drawingml/2006/main" prst="roundRect">
            <a:avLst>
              <a:gd name="adj" fmla="val 3150"/>
            </a:avLst>
          </a:prstGeom>
          <a:solidFill xmlns:a="http://schemas.openxmlformats.org/drawingml/2006/main">
            <a:srgbClr val="E9EFEC"/>
          </a:solidFill>
          <a:ln xmlns:a="http://schemas.openxmlformats.org/drawingml/2006/main" w="14288">
            <a:solidFill>
              <a:srgbClr val="C7D3D0"/>
            </a:solidFill>
          </a:ln>
        </p:spPr>
      </p:sp>
      <p:sp>
        <p:nvSpPr>
          <p:cNvPr id="8" name="">
            <a:extLst xmlns:a="http://schemas.openxmlformats.org/drawingml/2006/main">
              <a:ext uri="{FF2B5EF4-FFF2-40B4-BE49-F238E27FC236}">
                <a16:creationId xmlns:a16="http://schemas.microsoft.com/office/drawing/2014/main" id="{9A64DA3B-BA17-4D29-90E9-8258AFB6B66D}"/>
              </a:ext>
            </a:extLst>
          </p:cNvPr>
          <p:cNvSpPr>
            <a:spLocks xmlns:a="http://schemas.openxmlformats.org/drawingml/2006/main" noGrp="1"/>
          </p:cNvSpPr>
          <p:nvPr/>
        </p:nvSpPr>
        <p:spPr>
          <a:xfrm xmlns:a="http://schemas.openxmlformats.org/drawingml/2006/main">
            <a:off x="8839200" y="2952750"/>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5E6F76"/>
                </a:solidFill>
                <a:latin typeface="Arial"/>
                <a:ea typeface="Arial"/>
                <a:cs typeface="Arial"/>
              </a:defRPr>
            </a:pPr>
            <a:r>
              <a:rPr sz="1050" b="1">
                <a:solidFill>
                  <a:srgbClr val="5E6F76"/>
                </a:solidFill>
                <a:latin typeface="Arial"/>
                <a:ea typeface="Arial"/>
                <a:cs typeface="Arial"/>
              </a:rPr>
              <a:t>FOTO PENDIENTE</a:t>
            </a:r>
          </a:p>
        </p:txBody>
      </p:sp>
      <p:sp>
        <p:nvSpPr>
          <p:cNvPr id="9" name="">
            <a:extLst xmlns:a="http://schemas.openxmlformats.org/drawingml/2006/main">
              <a:ext uri="{FF2B5EF4-FFF2-40B4-BE49-F238E27FC236}">
                <a16:creationId xmlns:a16="http://schemas.microsoft.com/office/drawing/2014/main" id="{F781BB84-998B-4D8E-8E58-F81A2C456D30}"/>
              </a:ext>
            </a:extLst>
          </p:cNvPr>
          <p:cNvSpPr>
            <a:spLocks xmlns:a="http://schemas.openxmlformats.org/drawingml/2006/main" noGrp="1"/>
          </p:cNvSpPr>
          <p:nvPr/>
        </p:nvSpPr>
        <p:spPr>
          <a:xfrm xmlns:a="http://schemas.openxmlformats.org/drawingml/2006/main">
            <a:off x="8743950" y="4105275"/>
            <a:ext cx="2457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102B3A"/>
                </a:solidFill>
                <a:latin typeface="Arial"/>
                <a:ea typeface="Arial"/>
                <a:cs typeface="Arial"/>
              </a:defRPr>
            </a:pPr>
            <a:r>
              <a:rPr sz="975" b="1">
                <a:solidFill>
                  <a:srgbClr val="102B3A"/>
                </a:solidFill>
                <a:latin typeface="Arial"/>
                <a:ea typeface="Arial"/>
                <a:cs typeface="Arial"/>
              </a:rPr>
              <a:t>FOTO DEL GRUPO</a:t>
            </a:r>
          </a:p>
        </p:txBody>
      </p:sp>
      <p:sp>
        <p:nvSpPr>
          <p:cNvPr id="10" name="">
            <a:extLst xmlns:a="http://schemas.openxmlformats.org/drawingml/2006/main">
              <a:ext uri="{FF2B5EF4-FFF2-40B4-BE49-F238E27FC236}">
                <a16:creationId xmlns:a16="http://schemas.microsoft.com/office/drawing/2014/main" id="{96A2CE9E-D942-4038-98AD-2738D54FD23B}"/>
              </a:ext>
            </a:extLst>
          </p:cNvPr>
          <p:cNvSpPr>
            <a:spLocks xmlns:a="http://schemas.openxmlformats.org/drawingml/2006/main" noGrp="1"/>
          </p:cNvSpPr>
          <p:nvPr/>
        </p:nvSpPr>
        <p:spPr>
          <a:xfrm xmlns:a="http://schemas.openxmlformats.org/drawingml/2006/main">
            <a:off x="8743950" y="4295775"/>
            <a:ext cx="24574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6061"/>
          </a:bodyPr>
          <a:lstStyle xmlns:a="http://schemas.openxmlformats.org/drawingml/2006/main"/>
          <a:p xmlns:a="http://schemas.openxmlformats.org/drawingml/2006/main">
            <a:pPr algn="l">
              <a:defRPr sz="825" b="0">
                <a:solidFill>
                  <a:srgbClr val="5E6F76"/>
                </a:solidFill>
                <a:latin typeface="Arial"/>
                <a:ea typeface="Arial"/>
                <a:cs typeface="Arial"/>
              </a:defRPr>
            </a:pPr>
            <a:r>
              <a:rPr sz="825" b="0">
                <a:solidFill>
                  <a:srgbClr val="5E6F76"/>
                </a:solidFill>
                <a:latin typeface="Arial"/>
                <a:ea typeface="Arial"/>
                <a:cs typeface="Arial"/>
              </a:rPr>
              <a:t>Agregar foto real del equipo</a:t>
            </a:r>
          </a:p>
        </p:txBody>
      </p:sp>
      <p:sp>
        <p:nvSpPr>
          <p:cNvPr id="11" name="">
            <a:extLst xmlns:a="http://schemas.openxmlformats.org/drawingml/2006/main">
              <a:ext uri="{FF2B5EF4-FFF2-40B4-BE49-F238E27FC236}">
                <a16:creationId xmlns:a16="http://schemas.microsoft.com/office/drawing/2014/main" id="{75ADEF42-C9D6-438F-ABD6-9DAA9E7CBF56}"/>
              </a:ext>
            </a:extLst>
          </p:cNvPr>
          <p:cNvSpPr>
            <a:spLocks xmlns:a="http://schemas.openxmlformats.org/drawingml/2006/main" noGrp="1"/>
          </p:cNvSpPr>
          <p:nvPr/>
        </p:nvSpPr>
        <p:spPr>
          <a:xfrm xmlns:a="http://schemas.openxmlformats.org/drawingml/2006/main">
            <a:off x="723900" y="5981700"/>
            <a:ext cx="7429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1">
                <a:solidFill>
                  <a:srgbClr val="B7E3C4"/>
                </a:solidFill>
                <a:latin typeface="Arial"/>
                <a:ea typeface="Arial"/>
                <a:cs typeface="Arial"/>
              </a:defRPr>
            </a:pPr>
            <a:r>
              <a:rPr sz="1200" b="1">
                <a:solidFill>
                  <a:srgbClr val="B7E3C4"/>
                </a:solidFill>
                <a:latin typeface="Arial"/>
                <a:ea typeface="Arial"/>
                <a:cs typeface="Arial"/>
              </a:rPr>
              <a:t>Universidad  /  Sistemas de Información I</a:t>
            </a:r>
          </a:p>
        </p:txBody>
      </p:sp>
    </p:spTree>
    <p:extLst>
      <p:ext uri="{BB962C8B-B14F-4D97-AF65-F5344CB8AC3E}">
        <p14:creationId xmlns:p14="http://schemas.microsoft.com/office/powerpoint/2010/main" val="538574547"/>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BBB67D-7E58-4456-9ED8-C856D762CF0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A478F7-ADA9-4011-BF39-5EF5C6C6BCAE}"/>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6442C8E5-AE93-4A3D-B1B7-AC66D8AB2017}"/>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IDEAS CLAVE</a:t>
            </a:r>
          </a:p>
        </p:txBody>
      </p:sp>
      <p:sp>
        <p:nvSpPr>
          <p:cNvPr id="4" name="">
            <a:extLst xmlns:a="http://schemas.openxmlformats.org/drawingml/2006/main">
              <a:ext uri="{FF2B5EF4-FFF2-40B4-BE49-F238E27FC236}">
                <a16:creationId xmlns:a16="http://schemas.microsoft.com/office/drawing/2014/main" id="{03F5674C-24FA-4E81-B990-A59F81E54DFF}"/>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25385E54-3FCE-4F39-AE69-95CC0E86BD57}"/>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02</a:t>
            </a:r>
          </a:p>
        </p:txBody>
      </p:sp>
      <p:sp>
        <p:nvSpPr>
          <p:cNvPr id="6" name="">
            <a:extLst xmlns:a="http://schemas.openxmlformats.org/drawingml/2006/main">
              <a:ext uri="{FF2B5EF4-FFF2-40B4-BE49-F238E27FC236}">
                <a16:creationId xmlns:a16="http://schemas.microsoft.com/office/drawing/2014/main" id="{215B78AE-E601-4EFB-97F4-95E618D78101}"/>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CFC912C-56A5-407D-B16C-118956A239E3}"/>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INVESTIGACIÓN</a:t>
            </a:r>
          </a:p>
        </p:txBody>
      </p:sp>
      <p:sp>
        <p:nvSpPr>
          <p:cNvPr id="8" name="">
            <a:extLst xmlns:a="http://schemas.openxmlformats.org/drawingml/2006/main">
              <a:ext uri="{FF2B5EF4-FFF2-40B4-BE49-F238E27FC236}">
                <a16:creationId xmlns:a16="http://schemas.microsoft.com/office/drawing/2014/main" id="{14BC6B9D-09DE-4226-88FC-B2E00D74D72B}"/>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Conceptos centrales</a:t>
            </a:r>
          </a:p>
        </p:txBody>
      </p:sp>
      <p:sp>
        <p:nvSpPr>
          <p:cNvPr id="9" name="">
            <a:extLst xmlns:a="http://schemas.openxmlformats.org/drawingml/2006/main">
              <a:ext uri="{FF2B5EF4-FFF2-40B4-BE49-F238E27FC236}">
                <a16:creationId xmlns:a16="http://schemas.microsoft.com/office/drawing/2014/main" id="{EBA400BC-0BC8-4DCC-8364-37BB883F9131}"/>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La perspectiva externa: los roles que se relacionan con el sistema y los resultados que buscan.</a:t>
            </a:r>
          </a:p>
        </p:txBody>
      </p:sp>
      <p:sp>
        <p:nvSpPr>
          <p:cNvPr id="10" name="">
            <a:extLst xmlns:a="http://schemas.openxmlformats.org/drawingml/2006/main">
              <a:ext uri="{FF2B5EF4-FFF2-40B4-BE49-F238E27FC236}">
                <a16:creationId xmlns:a16="http://schemas.microsoft.com/office/drawing/2014/main" id="{C4385ED8-88FE-4A98-999D-2DA5826F09B2}"/>
              </a:ext>
            </a:extLst>
          </p:cNvPr>
          <p:cNvSpPr>
            <a:spLocks xmlns:a="http://schemas.openxmlformats.org/drawingml/2006/main" noGrp="1"/>
          </p:cNvSpPr>
          <p:nvPr/>
        </p:nvSpPr>
        <p:spPr>
          <a:xfrm xmlns:a="http://schemas.openxmlformats.org/drawingml/2006/main">
            <a:off x="838200" y="256222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13D34F-6B30-4FF7-B93C-0F61522F5EA0}"/>
              </a:ext>
            </a:extLst>
          </p:cNvPr>
          <p:cNvSpPr>
            <a:spLocks xmlns:a="http://schemas.openxmlformats.org/drawingml/2006/main" noGrp="1"/>
          </p:cNvSpPr>
          <p:nvPr/>
        </p:nvSpPr>
        <p:spPr>
          <a:xfrm xmlns:a="http://schemas.openxmlformats.org/drawingml/2006/main">
            <a:off x="1104900" y="2476500"/>
            <a:ext cx="100203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648"/>
          </a:bodyPr>
          <a:lstStyle xmlns:a="http://schemas.openxmlformats.org/drawingml/2006/main"/>
          <a:p xmlns:a="http://schemas.openxmlformats.org/drawingml/2006/main">
            <a:pPr algn="l">
              <a:defRPr sz="1650" b="0">
                <a:solidFill>
                  <a:srgbClr val="152C3A"/>
                </a:solidFill>
                <a:latin typeface="Arial"/>
                <a:ea typeface="Arial"/>
                <a:cs typeface="Arial"/>
              </a:defRPr>
            </a:pPr>
            <a:r>
              <a:rPr sz="1650" b="0">
                <a:solidFill>
                  <a:srgbClr val="152C3A"/>
                </a:solidFill>
                <a:latin typeface="Arial"/>
                <a:ea typeface="Arial"/>
                <a:cs typeface="Arial"/>
              </a:rPr>
              <a:t>El actor representa un rol: En UML, el actor designa una entidad externa que intercambia información o inicia acciones con el sistema. Puede ser una persona, una organización, un dispositivo o un programa. “Estudiante” es un rol; “Ana” sería una persona que podría desempeñarlo. Una misma persona puede asumir roles diferentes en contextos distintos. El actor queda fuera del límite del sistema porque representa parte de su entorno, aunque reciba o envíe información.</a:t>
            </a:r>
          </a:p>
        </p:txBody>
      </p:sp>
      <p:sp>
        <p:nvSpPr>
          <p:cNvPr id="12" name="">
            <a:extLst xmlns:a="http://schemas.openxmlformats.org/drawingml/2006/main">
              <a:ext uri="{FF2B5EF4-FFF2-40B4-BE49-F238E27FC236}">
                <a16:creationId xmlns:a16="http://schemas.microsoft.com/office/drawing/2014/main" id="{41B4348A-ABEA-42B5-8F2B-73DDB8B3A66B}"/>
              </a:ext>
            </a:extLst>
          </p:cNvPr>
          <p:cNvSpPr>
            <a:spLocks xmlns:a="http://schemas.openxmlformats.org/drawingml/2006/main" noGrp="1"/>
          </p:cNvSpPr>
          <p:nvPr/>
        </p:nvSpPr>
        <p:spPr>
          <a:xfrm xmlns:a="http://schemas.openxmlformats.org/drawingml/2006/main">
            <a:off x="838200" y="3676650"/>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A9CBE7-1FE9-47F8-A1C3-C797A344C911}"/>
              </a:ext>
            </a:extLst>
          </p:cNvPr>
          <p:cNvSpPr>
            <a:spLocks xmlns:a="http://schemas.openxmlformats.org/drawingml/2006/main" noGrp="1"/>
          </p:cNvSpPr>
          <p:nvPr/>
        </p:nvSpPr>
        <p:spPr>
          <a:xfrm xmlns:a="http://schemas.openxmlformats.org/drawingml/2006/main">
            <a:off x="1104900" y="3590925"/>
            <a:ext cx="100203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75"/>
          </a:bodyPr>
          <a:lstStyle xmlns:a="http://schemas.openxmlformats.org/drawingml/2006/main"/>
          <a:p xmlns:a="http://schemas.openxmlformats.org/drawingml/2006/main">
            <a:pPr algn="l">
              <a:defRPr sz="1650" b="0">
                <a:solidFill>
                  <a:srgbClr val="152C3A"/>
                </a:solidFill>
                <a:latin typeface="Arial"/>
                <a:ea typeface="Arial"/>
                <a:cs typeface="Arial"/>
              </a:defRPr>
            </a:pPr>
            <a:r>
              <a:rPr sz="1650" b="0">
                <a:solidFill>
                  <a:srgbClr val="152C3A"/>
                </a:solidFill>
                <a:latin typeface="Arial"/>
                <a:ea typeface="Arial"/>
                <a:cs typeface="Arial"/>
              </a:rPr>
              <a:t>Objetivos y frontera del sistema: Un caso de uso reúne las interacciones que producen un resultado de valor para un actor. Su nombre suele expresar una acción y su objeto: Consultar disponibilidad o Registrar préstamo. El rectángulo de frontera indica qué funciones ofrece la solución; los actores permanecen fuera y los casos de uso aparecen dentro. La frontera evita confundir una tarea humana con una capacidad del software o ampliar el alcance sin motivo.</a:t>
            </a:r>
          </a:p>
        </p:txBody>
      </p:sp>
      <p:sp>
        <p:nvSpPr>
          <p:cNvPr id="14" name="">
            <a:extLst xmlns:a="http://schemas.openxmlformats.org/drawingml/2006/main">
              <a:ext uri="{FF2B5EF4-FFF2-40B4-BE49-F238E27FC236}">
                <a16:creationId xmlns:a16="http://schemas.microsoft.com/office/drawing/2014/main" id="{161CC6DD-D617-44E1-9843-AA3AF1844D9C}"/>
              </a:ext>
            </a:extLst>
          </p:cNvPr>
          <p:cNvSpPr>
            <a:spLocks xmlns:a="http://schemas.openxmlformats.org/drawingml/2006/main" noGrp="1"/>
          </p:cNvSpPr>
          <p:nvPr/>
        </p:nvSpPr>
        <p:spPr>
          <a:xfrm xmlns:a="http://schemas.openxmlformats.org/drawingml/2006/main">
            <a:off x="838200" y="479107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F63FAA3-A7C2-4DFE-B802-52A73670CB13}"/>
              </a:ext>
            </a:extLst>
          </p:cNvPr>
          <p:cNvSpPr>
            <a:spLocks xmlns:a="http://schemas.openxmlformats.org/drawingml/2006/main" noGrp="1"/>
          </p:cNvSpPr>
          <p:nvPr/>
        </p:nvSpPr>
        <p:spPr>
          <a:xfrm xmlns:a="http://schemas.openxmlformats.org/drawingml/2006/main">
            <a:off x="1104900" y="4705350"/>
            <a:ext cx="100203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07"/>
          </a:bodyPr>
          <a:lstStyle xmlns:a="http://schemas.openxmlformats.org/drawingml/2006/main"/>
          <a:p xmlns:a="http://schemas.openxmlformats.org/drawingml/2006/main">
            <a:pPr algn="l">
              <a:defRPr sz="1650" b="0">
                <a:solidFill>
                  <a:srgbClr val="152C3A"/>
                </a:solidFill>
                <a:latin typeface="Arial"/>
                <a:ea typeface="Arial"/>
                <a:cs typeface="Arial"/>
              </a:defRPr>
            </a:pPr>
            <a:r>
              <a:rPr sz="1650" b="0">
                <a:solidFill>
                  <a:srgbClr val="152C3A"/>
                </a:solidFill>
                <a:latin typeface="Arial"/>
                <a:ea typeface="Arial"/>
                <a:cs typeface="Arial"/>
              </a:rPr>
              <a:t>Relaciones y descripción textual: Las relaciones include y extend tienen significados específicos. Include señala un comportamiento que se inserta como parte requerida de otro caso; extend añade un comportamiento condicionado que amplía el caso base. Una relación no se agrega solo para decorar el diagrama. Los detalles de precondiciones, pasos, excepciones y resultado se explican en una descripción textual del caso de uso.</a:t>
            </a:r>
          </a:p>
        </p:txBody>
      </p:sp>
    </p:spTree>
    <p:extLst>
      <p:ext uri="{BB962C8B-B14F-4D97-AF65-F5344CB8AC3E}">
        <p14:creationId xmlns:p14="http://schemas.microsoft.com/office/powerpoint/2010/main" val="27504486"/>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D90917F-AB1D-40AC-89CD-8C4A10CB120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A7F60C-0B91-4A0F-93EB-AD77CBEFC80C}"/>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49ECE0A1-9871-402F-842D-0291F210AF8E}"/>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DIAGRAMA</a:t>
            </a:r>
          </a:p>
        </p:txBody>
      </p:sp>
      <p:sp>
        <p:nvSpPr>
          <p:cNvPr id="4" name="">
            <a:extLst xmlns:a="http://schemas.openxmlformats.org/drawingml/2006/main">
              <a:ext uri="{FF2B5EF4-FFF2-40B4-BE49-F238E27FC236}">
                <a16:creationId xmlns:a16="http://schemas.microsoft.com/office/drawing/2014/main" id="{A50B8E24-DBB4-4C31-8559-3EEBA43BEDC1}"/>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AADEABEF-D8D4-4075-8203-0C7FE3F350AC}"/>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02</a:t>
            </a:r>
          </a:p>
        </p:txBody>
      </p:sp>
      <p:sp>
        <p:nvSpPr>
          <p:cNvPr id="6" name="">
            <a:extLst xmlns:a="http://schemas.openxmlformats.org/drawingml/2006/main">
              <a:ext uri="{FF2B5EF4-FFF2-40B4-BE49-F238E27FC236}">
                <a16:creationId xmlns:a16="http://schemas.microsoft.com/office/drawing/2014/main" id="{A2DF1375-949D-47BF-949B-055E47F8CBEC}"/>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59D989B-B38B-40EE-9DC3-A2F35EFF06F1}"/>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DIAGRAMA DE INTERACCIÓN</a:t>
            </a:r>
          </a:p>
        </p:txBody>
      </p:sp>
      <p:sp>
        <p:nvSpPr>
          <p:cNvPr id="8" name="">
            <a:extLst xmlns:a="http://schemas.openxmlformats.org/drawingml/2006/main">
              <a:ext uri="{FF2B5EF4-FFF2-40B4-BE49-F238E27FC236}">
                <a16:creationId xmlns:a16="http://schemas.microsoft.com/office/drawing/2014/main" id="{205F786A-19B3-4BD0-81C6-1A02B5D3B3D5}"/>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El actor busca un resultado</a:t>
            </a:r>
          </a:p>
        </p:txBody>
      </p:sp>
      <p:sp>
        <p:nvSpPr>
          <p:cNvPr id="9" name="">
            <a:extLst xmlns:a="http://schemas.openxmlformats.org/drawingml/2006/main">
              <a:ext uri="{FF2B5EF4-FFF2-40B4-BE49-F238E27FC236}">
                <a16:creationId xmlns:a16="http://schemas.microsoft.com/office/drawing/2014/main" id="{F02B069B-2C69-45F1-BAD3-7367BD136C26}"/>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El rectángulo define el alcance; los roles quedan fuera y los objetivos dentro.</a:t>
            </a:r>
          </a:p>
        </p:txBody>
      </p:sp>
      <p:sp>
        <p:nvSpPr>
          <p:cNvPr id="10" name="">
            <a:extLst xmlns:a="http://schemas.openxmlformats.org/drawingml/2006/main">
              <a:ext uri="{FF2B5EF4-FFF2-40B4-BE49-F238E27FC236}">
                <a16:creationId xmlns:a16="http://schemas.microsoft.com/office/drawing/2014/main" id="{741CED6A-DA02-4B31-9BA4-8BC40F898634}"/>
              </a:ext>
            </a:extLst>
          </p:cNvPr>
          <p:cNvSpPr>
            <a:spLocks xmlns:a="http://schemas.openxmlformats.org/drawingml/2006/main" noGrp="1"/>
          </p:cNvSpPr>
          <p:nvPr/>
        </p:nvSpPr>
        <p:spPr>
          <a:xfrm xmlns:a="http://schemas.openxmlformats.org/drawingml/2006/main">
            <a:off x="3333750" y="2400300"/>
            <a:ext cx="5619750" cy="2895600"/>
          </a:xfrm>
          <a:prstGeom xmlns:a="http://schemas.openxmlformats.org/drawingml/2006/main" prst="roundRect">
            <a:avLst>
              <a:gd name="adj" fmla="val 2632"/>
            </a:avLst>
          </a:prstGeom>
          <a:solidFill xmlns:a="http://schemas.openxmlformats.org/drawingml/2006/main">
            <a:srgbClr val="EEF5F2"/>
          </a:solidFill>
          <a:ln xmlns:a="http://schemas.openxmlformats.org/drawingml/2006/main" w="14288">
            <a:solidFill>
              <a:srgbClr val="007C78"/>
            </a:solidFill>
          </a:ln>
        </p:spPr>
      </p:sp>
      <p:sp>
        <p:nvSpPr>
          <p:cNvPr id="11" name="">
            <a:extLst xmlns:a="http://schemas.openxmlformats.org/drawingml/2006/main">
              <a:ext uri="{FF2B5EF4-FFF2-40B4-BE49-F238E27FC236}">
                <a16:creationId xmlns:a16="http://schemas.microsoft.com/office/drawing/2014/main" id="{305E5A33-AF17-47D4-8082-60CE9B8A8E4D}"/>
              </a:ext>
            </a:extLst>
          </p:cNvPr>
          <p:cNvSpPr>
            <a:spLocks xmlns:a="http://schemas.openxmlformats.org/drawingml/2006/main" noGrp="1"/>
          </p:cNvSpPr>
          <p:nvPr/>
        </p:nvSpPr>
        <p:spPr>
          <a:xfrm xmlns:a="http://schemas.openxmlformats.org/drawingml/2006/main">
            <a:off x="3571875" y="25146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ctr">
              <a:defRPr sz="1125" b="1">
                <a:solidFill>
                  <a:srgbClr val="007C78"/>
                </a:solidFill>
                <a:latin typeface="Arial"/>
                <a:ea typeface="Arial"/>
                <a:cs typeface="Arial"/>
              </a:defRPr>
            </a:pPr>
            <a:r>
              <a:rPr sz="1125" b="1">
                <a:solidFill>
                  <a:srgbClr val="007C78"/>
                </a:solidFill>
                <a:latin typeface="Arial"/>
                <a:ea typeface="Arial"/>
                <a:cs typeface="Arial"/>
              </a:rPr>
              <a:t>SISTEMA DE BIBLIOTECA</a:t>
            </a:r>
          </a:p>
        </p:txBody>
      </p:sp>
      <p:sp>
        <p:nvSpPr>
          <p:cNvPr id="12" name="">
            <a:extLst xmlns:a="http://schemas.openxmlformats.org/drawingml/2006/main">
              <a:ext uri="{FF2B5EF4-FFF2-40B4-BE49-F238E27FC236}">
                <a16:creationId xmlns:a16="http://schemas.microsoft.com/office/drawing/2014/main" id="{3774FE4F-7569-47EC-BFF1-EDBCE2A25C60}"/>
              </a:ext>
            </a:extLst>
          </p:cNvPr>
          <p:cNvSpPr>
            <a:spLocks xmlns:a="http://schemas.openxmlformats.org/drawingml/2006/main" noGrp="1"/>
          </p:cNvSpPr>
          <p:nvPr/>
        </p:nvSpPr>
        <p:spPr>
          <a:xfrm xmlns:a="http://schemas.openxmlformats.org/drawingml/2006/main">
            <a:off x="4572000" y="2990850"/>
            <a:ext cx="3143250" cy="457200"/>
          </a:xfrm>
          <a:prstGeom xmlns:a="http://schemas.openxmlformats.org/drawingml/2006/main" prst="ellipse">
            <a:avLst/>
          </a:prstGeom>
          <a:solidFill xmlns:a="http://schemas.openxmlformats.org/drawingml/2006/main">
            <a:srgbClr val="FFFFFF"/>
          </a:solidFill>
          <a:ln xmlns:a="http://schemas.openxmlformats.org/drawingml/2006/main" w="14288">
            <a:solidFill>
              <a:srgbClr val="C7D3D0"/>
            </a:solidFill>
          </a:ln>
        </p:spPr>
      </p:sp>
      <p:sp>
        <p:nvSpPr>
          <p:cNvPr id="13" name="">
            <a:extLst xmlns:a="http://schemas.openxmlformats.org/drawingml/2006/main">
              <a:ext uri="{FF2B5EF4-FFF2-40B4-BE49-F238E27FC236}">
                <a16:creationId xmlns:a16="http://schemas.microsoft.com/office/drawing/2014/main" id="{219B0E21-2CC6-47F6-B310-0DA5D8DF3E42}"/>
              </a:ext>
            </a:extLst>
          </p:cNvPr>
          <p:cNvSpPr>
            <a:spLocks xmlns:a="http://schemas.openxmlformats.org/drawingml/2006/main" noGrp="1"/>
          </p:cNvSpPr>
          <p:nvPr/>
        </p:nvSpPr>
        <p:spPr>
          <a:xfrm xmlns:a="http://schemas.openxmlformats.org/drawingml/2006/main">
            <a:off x="4705350" y="3009900"/>
            <a:ext cx="2876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B3A"/>
                </a:solidFill>
                <a:latin typeface="Arial"/>
                <a:ea typeface="Arial"/>
                <a:cs typeface="Arial"/>
              </a:defRPr>
            </a:pPr>
            <a:r>
              <a:rPr sz="1350" b="0">
                <a:solidFill>
                  <a:srgbClr val="102B3A"/>
                </a:solidFill>
                <a:latin typeface="Arial"/>
                <a:ea typeface="Arial"/>
                <a:cs typeface="Arial"/>
              </a:rPr>
              <a:t>Buscar libro</a:t>
            </a:r>
          </a:p>
        </p:txBody>
      </p:sp>
      <p:sp>
        <p:nvSpPr>
          <p:cNvPr id="14" name="">
            <a:extLst xmlns:a="http://schemas.openxmlformats.org/drawingml/2006/main">
              <a:ext uri="{FF2B5EF4-FFF2-40B4-BE49-F238E27FC236}">
                <a16:creationId xmlns:a16="http://schemas.microsoft.com/office/drawing/2014/main" id="{54C2E5E7-9520-4333-9AC1-E510510E10DC}"/>
              </a:ext>
            </a:extLst>
          </p:cNvPr>
          <p:cNvSpPr>
            <a:spLocks xmlns:a="http://schemas.openxmlformats.org/drawingml/2006/main" noGrp="1"/>
          </p:cNvSpPr>
          <p:nvPr/>
        </p:nvSpPr>
        <p:spPr>
          <a:xfrm xmlns:a="http://schemas.openxmlformats.org/drawingml/2006/main">
            <a:off x="4572000" y="3695700"/>
            <a:ext cx="3143250" cy="457200"/>
          </a:xfrm>
          <a:prstGeom xmlns:a="http://schemas.openxmlformats.org/drawingml/2006/main" prst="ellipse">
            <a:avLst/>
          </a:prstGeom>
          <a:solidFill xmlns:a="http://schemas.openxmlformats.org/drawingml/2006/main">
            <a:srgbClr val="FFFFFF"/>
          </a:solidFill>
          <a:ln xmlns:a="http://schemas.openxmlformats.org/drawingml/2006/main" w="14288">
            <a:solidFill>
              <a:srgbClr val="C7D3D0"/>
            </a:solidFill>
          </a:ln>
        </p:spPr>
      </p:sp>
      <p:sp>
        <p:nvSpPr>
          <p:cNvPr id="15" name="">
            <a:extLst xmlns:a="http://schemas.openxmlformats.org/drawingml/2006/main">
              <a:ext uri="{FF2B5EF4-FFF2-40B4-BE49-F238E27FC236}">
                <a16:creationId xmlns:a16="http://schemas.microsoft.com/office/drawing/2014/main" id="{A0474F76-AD9D-42EE-A2ED-A250EE2C0310}"/>
              </a:ext>
            </a:extLst>
          </p:cNvPr>
          <p:cNvSpPr>
            <a:spLocks xmlns:a="http://schemas.openxmlformats.org/drawingml/2006/main" noGrp="1"/>
          </p:cNvSpPr>
          <p:nvPr/>
        </p:nvSpPr>
        <p:spPr>
          <a:xfrm xmlns:a="http://schemas.openxmlformats.org/drawingml/2006/main">
            <a:off x="4705350" y="3714750"/>
            <a:ext cx="2876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B3A"/>
                </a:solidFill>
                <a:latin typeface="Arial"/>
                <a:ea typeface="Arial"/>
                <a:cs typeface="Arial"/>
              </a:defRPr>
            </a:pPr>
            <a:r>
              <a:rPr sz="1350" b="0">
                <a:solidFill>
                  <a:srgbClr val="102B3A"/>
                </a:solidFill>
                <a:latin typeface="Arial"/>
                <a:ea typeface="Arial"/>
                <a:cs typeface="Arial"/>
              </a:rPr>
              <a:t>Consultar disponibilidad</a:t>
            </a:r>
          </a:p>
        </p:txBody>
      </p:sp>
      <p:sp>
        <p:nvSpPr>
          <p:cNvPr id="16" name="">
            <a:extLst xmlns:a="http://schemas.openxmlformats.org/drawingml/2006/main">
              <a:ext uri="{FF2B5EF4-FFF2-40B4-BE49-F238E27FC236}">
                <a16:creationId xmlns:a16="http://schemas.microsoft.com/office/drawing/2014/main" id="{7E11F91E-6014-44DD-91E4-FEC218B5D179}"/>
              </a:ext>
            </a:extLst>
          </p:cNvPr>
          <p:cNvSpPr>
            <a:spLocks xmlns:a="http://schemas.openxmlformats.org/drawingml/2006/main" noGrp="1"/>
          </p:cNvSpPr>
          <p:nvPr/>
        </p:nvSpPr>
        <p:spPr>
          <a:xfrm xmlns:a="http://schemas.openxmlformats.org/drawingml/2006/main">
            <a:off x="4572000" y="4400550"/>
            <a:ext cx="3143250" cy="457200"/>
          </a:xfrm>
          <a:prstGeom xmlns:a="http://schemas.openxmlformats.org/drawingml/2006/main" prst="ellipse">
            <a:avLst/>
          </a:prstGeom>
          <a:solidFill xmlns:a="http://schemas.openxmlformats.org/drawingml/2006/main">
            <a:srgbClr val="FFFFFF"/>
          </a:solidFill>
          <a:ln xmlns:a="http://schemas.openxmlformats.org/drawingml/2006/main" w="14288">
            <a:solidFill>
              <a:srgbClr val="C7D3D0"/>
            </a:solidFill>
          </a:ln>
        </p:spPr>
      </p:sp>
      <p:sp>
        <p:nvSpPr>
          <p:cNvPr id="17" name="">
            <a:extLst xmlns:a="http://schemas.openxmlformats.org/drawingml/2006/main">
              <a:ext uri="{FF2B5EF4-FFF2-40B4-BE49-F238E27FC236}">
                <a16:creationId xmlns:a16="http://schemas.microsoft.com/office/drawing/2014/main" id="{158A9486-31B6-4881-B4BA-6E935AE6F2BB}"/>
              </a:ext>
            </a:extLst>
          </p:cNvPr>
          <p:cNvSpPr>
            <a:spLocks xmlns:a="http://schemas.openxmlformats.org/drawingml/2006/main" noGrp="1"/>
          </p:cNvSpPr>
          <p:nvPr/>
        </p:nvSpPr>
        <p:spPr>
          <a:xfrm xmlns:a="http://schemas.openxmlformats.org/drawingml/2006/main">
            <a:off x="4705350" y="4419600"/>
            <a:ext cx="2876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B3A"/>
                </a:solidFill>
                <a:latin typeface="Arial"/>
                <a:ea typeface="Arial"/>
                <a:cs typeface="Arial"/>
              </a:defRPr>
            </a:pPr>
            <a:r>
              <a:rPr sz="1350" b="0">
                <a:solidFill>
                  <a:srgbClr val="102B3A"/>
                </a:solidFill>
                <a:latin typeface="Arial"/>
                <a:ea typeface="Arial"/>
                <a:cs typeface="Arial"/>
              </a:rPr>
              <a:t>Reservar ejemplar</a:t>
            </a:r>
          </a:p>
        </p:txBody>
      </p:sp>
      <p:sp>
        <p:nvSpPr>
          <p:cNvPr id="18" name="">
            <a:extLst xmlns:a="http://schemas.openxmlformats.org/drawingml/2006/main">
              <a:ext uri="{FF2B5EF4-FFF2-40B4-BE49-F238E27FC236}">
                <a16:creationId xmlns:a16="http://schemas.microsoft.com/office/drawing/2014/main" id="{A200D828-F1B0-4D7F-9A91-D56471EA6074}"/>
              </a:ext>
            </a:extLst>
          </p:cNvPr>
          <p:cNvSpPr>
            <a:spLocks xmlns:a="http://schemas.openxmlformats.org/drawingml/2006/main" noGrp="1"/>
          </p:cNvSpPr>
          <p:nvPr/>
        </p:nvSpPr>
        <p:spPr>
          <a:xfrm xmlns:a="http://schemas.openxmlformats.org/drawingml/2006/main">
            <a:off x="762000" y="3409950"/>
            <a:ext cx="16954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007C78"/>
            </a:solidFill>
          </a:ln>
        </p:spPr>
      </p:sp>
      <p:sp>
        <p:nvSpPr>
          <p:cNvPr id="19" name="">
            <a:extLst xmlns:a="http://schemas.openxmlformats.org/drawingml/2006/main">
              <a:ext uri="{FF2B5EF4-FFF2-40B4-BE49-F238E27FC236}">
                <a16:creationId xmlns:a16="http://schemas.microsoft.com/office/drawing/2014/main" id="{5C02C7BF-23D9-4A97-AE90-0126160F612B}"/>
              </a:ext>
            </a:extLst>
          </p:cNvPr>
          <p:cNvSpPr>
            <a:spLocks xmlns:a="http://schemas.openxmlformats.org/drawingml/2006/main" noGrp="1"/>
          </p:cNvSpPr>
          <p:nvPr/>
        </p:nvSpPr>
        <p:spPr>
          <a:xfrm xmlns:a="http://schemas.openxmlformats.org/drawingml/2006/main">
            <a:off x="876300" y="3533775"/>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ESTUDIANTE</a:t>
            </a:r>
          </a:p>
        </p:txBody>
      </p:sp>
      <p:sp>
        <p:nvSpPr>
          <p:cNvPr id="20" name="">
            <a:extLst xmlns:a="http://schemas.openxmlformats.org/drawingml/2006/main">
              <a:ext uri="{FF2B5EF4-FFF2-40B4-BE49-F238E27FC236}">
                <a16:creationId xmlns:a16="http://schemas.microsoft.com/office/drawing/2014/main" id="{4EA93ECE-E984-4D34-AEBA-6D903B32807C}"/>
              </a:ext>
            </a:extLst>
          </p:cNvPr>
          <p:cNvSpPr>
            <a:spLocks xmlns:a="http://schemas.openxmlformats.org/drawingml/2006/main" noGrp="1"/>
          </p:cNvSpPr>
          <p:nvPr/>
        </p:nvSpPr>
        <p:spPr>
          <a:xfrm xmlns:a="http://schemas.openxmlformats.org/drawingml/2006/main">
            <a:off x="2457450" y="3219450"/>
            <a:ext cx="2114550" cy="504825"/>
          </a:xfrm>
          <a:prstGeom xmlns:a="http://schemas.openxmlformats.org/drawingml/2006/main" prst="line">
            <a:avLst/>
          </a:prstGeom>
          <a:noFill xmlns:a="http://schemas.openxmlformats.org/drawingml/2006/main"/>
          <a:ln xmlns:a="http://schemas.openxmlformats.org/drawingml/2006/main" w="14288">
            <a:solidFill>
              <a:srgbClr val="007C78"/>
            </a:solidFill>
          </a:ln>
        </p:spPr>
      </p:sp>
      <p:sp>
        <p:nvSpPr>
          <p:cNvPr id="21" name="">
            <a:extLst xmlns:a="http://schemas.openxmlformats.org/drawingml/2006/main">
              <a:ext uri="{FF2B5EF4-FFF2-40B4-BE49-F238E27FC236}">
                <a16:creationId xmlns:a16="http://schemas.microsoft.com/office/drawing/2014/main" id="{E783B5B8-F1DC-47DA-A7E3-841DE238529F}"/>
              </a:ext>
            </a:extLst>
          </p:cNvPr>
          <p:cNvSpPr>
            <a:spLocks xmlns:a="http://schemas.openxmlformats.org/drawingml/2006/main" noGrp="1"/>
          </p:cNvSpPr>
          <p:nvPr/>
        </p:nvSpPr>
        <p:spPr>
          <a:xfrm xmlns:a="http://schemas.openxmlformats.org/drawingml/2006/main">
            <a:off x="2457450" y="3724275"/>
            <a:ext cx="2114550" cy="200025"/>
          </a:xfrm>
          <a:prstGeom xmlns:a="http://schemas.openxmlformats.org/drawingml/2006/main" prst="line">
            <a:avLst/>
          </a:prstGeom>
          <a:noFill xmlns:a="http://schemas.openxmlformats.org/drawingml/2006/main"/>
          <a:ln xmlns:a="http://schemas.openxmlformats.org/drawingml/2006/main" w="14288">
            <a:solidFill>
              <a:srgbClr val="007C78"/>
            </a:solidFill>
          </a:ln>
        </p:spPr>
      </p:sp>
      <p:sp>
        <p:nvSpPr>
          <p:cNvPr id="22" name="">
            <a:extLst xmlns:a="http://schemas.openxmlformats.org/drawingml/2006/main">
              <a:ext uri="{FF2B5EF4-FFF2-40B4-BE49-F238E27FC236}">
                <a16:creationId xmlns:a16="http://schemas.microsoft.com/office/drawing/2014/main" id="{2B6A07C1-9D58-4A32-B4CD-C6A4EA64D7B7}"/>
              </a:ext>
            </a:extLst>
          </p:cNvPr>
          <p:cNvSpPr>
            <a:spLocks xmlns:a="http://schemas.openxmlformats.org/drawingml/2006/main" noGrp="1"/>
          </p:cNvSpPr>
          <p:nvPr/>
        </p:nvSpPr>
        <p:spPr>
          <a:xfrm xmlns:a="http://schemas.openxmlformats.org/drawingml/2006/main">
            <a:off x="2457450" y="3724275"/>
            <a:ext cx="2114550" cy="904875"/>
          </a:xfrm>
          <a:prstGeom xmlns:a="http://schemas.openxmlformats.org/drawingml/2006/main" prst="line">
            <a:avLst/>
          </a:prstGeom>
          <a:noFill xmlns:a="http://schemas.openxmlformats.org/drawingml/2006/main"/>
          <a:ln xmlns:a="http://schemas.openxmlformats.org/drawingml/2006/main" w="14288">
            <a:solidFill>
              <a:srgbClr val="007C78"/>
            </a:solidFill>
          </a:ln>
        </p:spPr>
      </p:sp>
      <p:sp>
        <p:nvSpPr>
          <p:cNvPr id="23" name="">
            <a:extLst xmlns:a="http://schemas.openxmlformats.org/drawingml/2006/main">
              <a:ext uri="{FF2B5EF4-FFF2-40B4-BE49-F238E27FC236}">
                <a16:creationId xmlns:a16="http://schemas.microsoft.com/office/drawing/2014/main" id="{636C83B1-1509-4AB5-A93A-1CF5D31B003D}"/>
              </a:ext>
            </a:extLst>
          </p:cNvPr>
          <p:cNvSpPr>
            <a:spLocks xmlns:a="http://schemas.openxmlformats.org/drawingml/2006/main" noGrp="1"/>
          </p:cNvSpPr>
          <p:nvPr/>
        </p:nvSpPr>
        <p:spPr>
          <a:xfrm xmlns:a="http://schemas.openxmlformats.org/drawingml/2006/main">
            <a:off x="9686925" y="3400425"/>
            <a:ext cx="16954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007C78"/>
            </a:solidFill>
          </a:ln>
        </p:spPr>
      </p:sp>
      <p:sp>
        <p:nvSpPr>
          <p:cNvPr id="24" name="">
            <a:extLst xmlns:a="http://schemas.openxmlformats.org/drawingml/2006/main">
              <a:ext uri="{FF2B5EF4-FFF2-40B4-BE49-F238E27FC236}">
                <a16:creationId xmlns:a16="http://schemas.microsoft.com/office/drawing/2014/main" id="{617CFE76-F8DC-4D7D-B617-1237AF2F5532}"/>
              </a:ext>
            </a:extLst>
          </p:cNvPr>
          <p:cNvSpPr>
            <a:spLocks xmlns:a="http://schemas.openxmlformats.org/drawingml/2006/main" noGrp="1"/>
          </p:cNvSpPr>
          <p:nvPr/>
        </p:nvSpPr>
        <p:spPr>
          <a:xfrm xmlns:a="http://schemas.openxmlformats.org/drawingml/2006/main">
            <a:off x="9801225" y="3524250"/>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02B3A"/>
                </a:solidFill>
                <a:latin typeface="Arial"/>
                <a:ea typeface="Arial"/>
                <a:cs typeface="Arial"/>
              </a:defRPr>
            </a:pPr>
            <a:r>
              <a:rPr sz="1275" b="1">
                <a:solidFill>
                  <a:srgbClr val="102B3A"/>
                </a:solidFill>
                <a:latin typeface="Arial"/>
                <a:ea typeface="Arial"/>
                <a:cs typeface="Arial"/>
              </a:rPr>
              <a:t>CATÁLOGO</a:t>
            </a:r>
          </a:p>
        </p:txBody>
      </p:sp>
      <p:sp>
        <p:nvSpPr>
          <p:cNvPr id="25" name="">
            <a:extLst xmlns:a="http://schemas.openxmlformats.org/drawingml/2006/main">
              <a:ext uri="{FF2B5EF4-FFF2-40B4-BE49-F238E27FC236}">
                <a16:creationId xmlns:a16="http://schemas.microsoft.com/office/drawing/2014/main" id="{3E118BD0-0469-4677-AD67-A01400DB206A}"/>
              </a:ext>
            </a:extLst>
          </p:cNvPr>
          <p:cNvSpPr>
            <a:spLocks xmlns:a="http://schemas.openxmlformats.org/drawingml/2006/main" noGrp="1"/>
          </p:cNvSpPr>
          <p:nvPr/>
        </p:nvSpPr>
        <p:spPr>
          <a:xfrm xmlns:a="http://schemas.openxmlformats.org/drawingml/2006/main">
            <a:off x="7715250" y="3219450"/>
            <a:ext cx="1971675" cy="495300"/>
          </a:xfrm>
          <a:prstGeom xmlns:a="http://schemas.openxmlformats.org/drawingml/2006/main" prst="line">
            <a:avLst/>
          </a:prstGeom>
          <a:noFill xmlns:a="http://schemas.openxmlformats.org/drawingml/2006/main"/>
          <a:ln xmlns:a="http://schemas.openxmlformats.org/drawingml/2006/main" w="19050">
            <a:solidFill>
              <a:srgbClr val="E8AA57"/>
            </a:solidFill>
          </a:ln>
        </p:spPr>
      </p:sp>
      <p:sp>
        <p:nvSpPr>
          <p:cNvPr id="26" name="">
            <a:extLst xmlns:a="http://schemas.openxmlformats.org/drawingml/2006/main">
              <a:ext uri="{FF2B5EF4-FFF2-40B4-BE49-F238E27FC236}">
                <a16:creationId xmlns:a16="http://schemas.microsoft.com/office/drawing/2014/main" id="{2AB5A414-AF49-49BD-9891-CF26B4C01AC2}"/>
              </a:ext>
            </a:extLst>
          </p:cNvPr>
          <p:cNvSpPr>
            <a:spLocks xmlns:a="http://schemas.openxmlformats.org/drawingml/2006/main" noGrp="1"/>
          </p:cNvSpPr>
          <p:nvPr/>
        </p:nvSpPr>
        <p:spPr>
          <a:xfrm xmlns:a="http://schemas.openxmlformats.org/drawingml/2006/main">
            <a:off x="762000" y="4162425"/>
            <a:ext cx="1695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ctr">
              <a:defRPr sz="975" b="0">
                <a:solidFill>
                  <a:srgbClr val="5E6F76"/>
                </a:solidFill>
                <a:latin typeface="Arial"/>
                <a:ea typeface="Arial"/>
                <a:cs typeface="Arial"/>
              </a:defRPr>
            </a:pPr>
            <a:r>
              <a:rPr sz="975" b="0">
                <a:solidFill>
                  <a:srgbClr val="5E6F76"/>
                </a:solidFill>
                <a:latin typeface="Arial"/>
                <a:ea typeface="Arial"/>
                <a:cs typeface="Arial"/>
              </a:rPr>
              <a:t>Actor primario</a:t>
            </a:r>
          </a:p>
        </p:txBody>
      </p:sp>
      <p:sp>
        <p:nvSpPr>
          <p:cNvPr id="27" name="">
            <a:extLst xmlns:a="http://schemas.openxmlformats.org/drawingml/2006/main">
              <a:ext uri="{FF2B5EF4-FFF2-40B4-BE49-F238E27FC236}">
                <a16:creationId xmlns:a16="http://schemas.microsoft.com/office/drawing/2014/main" id="{B1F41D62-A005-4832-8E38-AF97EFD09066}"/>
              </a:ext>
            </a:extLst>
          </p:cNvPr>
          <p:cNvSpPr>
            <a:spLocks xmlns:a="http://schemas.openxmlformats.org/drawingml/2006/main" noGrp="1"/>
          </p:cNvSpPr>
          <p:nvPr/>
        </p:nvSpPr>
        <p:spPr>
          <a:xfrm xmlns:a="http://schemas.openxmlformats.org/drawingml/2006/main">
            <a:off x="9686925" y="4162425"/>
            <a:ext cx="1695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ctr">
              <a:defRPr sz="975" b="0">
                <a:solidFill>
                  <a:srgbClr val="5E6F76"/>
                </a:solidFill>
                <a:latin typeface="Arial"/>
                <a:ea typeface="Arial"/>
                <a:cs typeface="Arial"/>
              </a:defRPr>
            </a:pPr>
            <a:r>
              <a:rPr sz="975" b="0">
                <a:solidFill>
                  <a:srgbClr val="5E6F76"/>
                </a:solidFill>
                <a:latin typeface="Arial"/>
                <a:ea typeface="Arial"/>
                <a:cs typeface="Arial"/>
              </a:rPr>
              <a:t>Servicio externo</a:t>
            </a:r>
          </a:p>
        </p:txBody>
      </p:sp>
    </p:spTree>
    <p:extLst>
      <p:ext uri="{BB962C8B-B14F-4D97-AF65-F5344CB8AC3E}">
        <p14:creationId xmlns:p14="http://schemas.microsoft.com/office/powerpoint/2010/main" val="1735233676"/>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708DD0A-1AAF-42BE-8955-96763E7F021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580FC0-E57E-4DD1-9C45-6F9EBB1A6D14}"/>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87C4E998-9D30-4392-96A6-328401D792C0}"/>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EJEMPLO</a:t>
            </a:r>
          </a:p>
        </p:txBody>
      </p:sp>
      <p:sp>
        <p:nvSpPr>
          <p:cNvPr id="4" name="">
            <a:extLst xmlns:a="http://schemas.openxmlformats.org/drawingml/2006/main">
              <a:ext uri="{FF2B5EF4-FFF2-40B4-BE49-F238E27FC236}">
                <a16:creationId xmlns:a16="http://schemas.microsoft.com/office/drawing/2014/main" id="{6038A9C2-A7AE-4738-8805-AC62F74C26F5}"/>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436DEA32-4774-40AB-8D26-98D67AD5A168}"/>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02</a:t>
            </a:r>
          </a:p>
        </p:txBody>
      </p:sp>
      <p:sp>
        <p:nvSpPr>
          <p:cNvPr id="6" name="">
            <a:extLst xmlns:a="http://schemas.openxmlformats.org/drawingml/2006/main">
              <a:ext uri="{FF2B5EF4-FFF2-40B4-BE49-F238E27FC236}">
                <a16:creationId xmlns:a16="http://schemas.microsoft.com/office/drawing/2014/main" id="{97916E51-0B2E-470D-ABDA-75A81A424919}"/>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04E259C-78C5-4FBE-B857-CBD65163BF90}"/>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APLICACIÓN</a:t>
            </a:r>
          </a:p>
        </p:txBody>
      </p:sp>
      <p:sp>
        <p:nvSpPr>
          <p:cNvPr id="8" name="">
            <a:extLst xmlns:a="http://schemas.openxmlformats.org/drawingml/2006/main">
              <a:ext uri="{FF2B5EF4-FFF2-40B4-BE49-F238E27FC236}">
                <a16:creationId xmlns:a16="http://schemas.microsoft.com/office/drawing/2014/main" id="{A389DDA2-5402-44E8-A9FE-A3F6301E3F81}"/>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Un ejemplo paso a paso</a:t>
            </a:r>
          </a:p>
        </p:txBody>
      </p:sp>
      <p:sp>
        <p:nvSpPr>
          <p:cNvPr id="9" name="">
            <a:extLst xmlns:a="http://schemas.openxmlformats.org/drawingml/2006/main">
              <a:ext uri="{FF2B5EF4-FFF2-40B4-BE49-F238E27FC236}">
                <a16:creationId xmlns:a16="http://schemas.microsoft.com/office/drawing/2014/main" id="{30B51740-E3FA-421E-BD65-BD749B480944}"/>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Caso ilustrativo de una biblioteca; validar las reglas antes de aplicarlas a un sistema real.</a:t>
            </a:r>
          </a:p>
        </p:txBody>
      </p:sp>
      <p:sp>
        <p:nvSpPr>
          <p:cNvPr id="10" name="">
            <a:extLst xmlns:a="http://schemas.openxmlformats.org/drawingml/2006/main">
              <a:ext uri="{FF2B5EF4-FFF2-40B4-BE49-F238E27FC236}">
                <a16:creationId xmlns:a16="http://schemas.microsoft.com/office/drawing/2014/main" id="{1F891F34-9937-4DF3-88E4-0C9EA628CCED}"/>
              </a:ext>
            </a:extLst>
          </p:cNvPr>
          <p:cNvSpPr>
            <a:spLocks xmlns:a="http://schemas.openxmlformats.org/drawingml/2006/main" noGrp="1"/>
          </p:cNvSpPr>
          <p:nvPr/>
        </p:nvSpPr>
        <p:spPr>
          <a:xfrm xmlns:a="http://schemas.openxmlformats.org/drawingml/2006/main">
            <a:off x="876300" y="254317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382318-B80B-48FA-84D9-7199BD4EC6FD}"/>
              </a:ext>
            </a:extLst>
          </p:cNvPr>
          <p:cNvSpPr>
            <a:spLocks xmlns:a="http://schemas.openxmlformats.org/drawingml/2006/main" noGrp="1"/>
          </p:cNvSpPr>
          <p:nvPr/>
        </p:nvSpPr>
        <p:spPr>
          <a:xfrm xmlns:a="http://schemas.openxmlformats.org/drawingml/2006/main">
            <a:off x="1143000" y="2457450"/>
            <a:ext cx="992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C3A"/>
                </a:solidFill>
                <a:latin typeface="Arial"/>
                <a:ea typeface="Arial"/>
                <a:cs typeface="Arial"/>
              </a:defRPr>
            </a:pPr>
            <a:r>
              <a:rPr sz="1575" b="0">
                <a:solidFill>
                  <a:srgbClr val="152C3A"/>
                </a:solidFill>
                <a:latin typeface="Arial"/>
                <a:ea typeface="Arial"/>
                <a:cs typeface="Arial"/>
              </a:rPr>
              <a:t>Ejemplo de precondición: la cuenta del estudiante está identificada.</a:t>
            </a:r>
          </a:p>
        </p:txBody>
      </p:sp>
      <p:sp>
        <p:nvSpPr>
          <p:cNvPr id="12" name="">
            <a:extLst xmlns:a="http://schemas.openxmlformats.org/drawingml/2006/main">
              <a:ext uri="{FF2B5EF4-FFF2-40B4-BE49-F238E27FC236}">
                <a16:creationId xmlns:a16="http://schemas.microsoft.com/office/drawing/2014/main" id="{7B80FDB7-C4B4-4A1C-BE97-59061F6860BB}"/>
              </a:ext>
            </a:extLst>
          </p:cNvPr>
          <p:cNvSpPr>
            <a:spLocks xmlns:a="http://schemas.openxmlformats.org/drawingml/2006/main" noGrp="1"/>
          </p:cNvSpPr>
          <p:nvPr/>
        </p:nvSpPr>
        <p:spPr>
          <a:xfrm xmlns:a="http://schemas.openxmlformats.org/drawingml/2006/main">
            <a:off x="876300" y="338137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42E20C-F37C-492D-A85B-49FB6FBC282A}"/>
              </a:ext>
            </a:extLst>
          </p:cNvPr>
          <p:cNvSpPr>
            <a:spLocks xmlns:a="http://schemas.openxmlformats.org/drawingml/2006/main" noGrp="1"/>
          </p:cNvSpPr>
          <p:nvPr/>
        </p:nvSpPr>
        <p:spPr>
          <a:xfrm xmlns:a="http://schemas.openxmlformats.org/drawingml/2006/main">
            <a:off x="1143000" y="3295650"/>
            <a:ext cx="992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C3A"/>
                </a:solidFill>
                <a:latin typeface="Arial"/>
                <a:ea typeface="Arial"/>
                <a:cs typeface="Arial"/>
              </a:defRPr>
            </a:pPr>
            <a:r>
              <a:rPr sz="1575" b="0">
                <a:solidFill>
                  <a:srgbClr val="152C3A"/>
                </a:solidFill>
                <a:latin typeface="Arial"/>
                <a:ea typeface="Arial"/>
                <a:cs typeface="Arial"/>
              </a:rPr>
              <a:t>Flujo principal: el estudiante selecciona un ejemplar disponible y confirma la reserva.</a:t>
            </a:r>
          </a:p>
        </p:txBody>
      </p:sp>
      <p:sp>
        <p:nvSpPr>
          <p:cNvPr id="14" name="">
            <a:extLst xmlns:a="http://schemas.openxmlformats.org/drawingml/2006/main">
              <a:ext uri="{FF2B5EF4-FFF2-40B4-BE49-F238E27FC236}">
                <a16:creationId xmlns:a16="http://schemas.microsoft.com/office/drawing/2014/main" id="{BA97BA22-0A2C-4F4D-B9E5-BA688F5E601D}"/>
              </a:ext>
            </a:extLst>
          </p:cNvPr>
          <p:cNvSpPr>
            <a:spLocks xmlns:a="http://schemas.openxmlformats.org/drawingml/2006/main" noGrp="1"/>
          </p:cNvSpPr>
          <p:nvPr/>
        </p:nvSpPr>
        <p:spPr>
          <a:xfrm xmlns:a="http://schemas.openxmlformats.org/drawingml/2006/main">
            <a:off x="876300" y="4219575"/>
            <a:ext cx="104775" cy="104775"/>
          </a:xfrm>
          <a:prstGeom xmlns:a="http://schemas.openxmlformats.org/drawingml/2006/main" prst="ellipse">
            <a:avLst/>
          </a:prstGeom>
          <a:solidFill xmlns:a="http://schemas.openxmlformats.org/drawingml/2006/main">
            <a:srgbClr val="007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F330A05-EE36-492D-8445-D49DC5508B79}"/>
              </a:ext>
            </a:extLst>
          </p:cNvPr>
          <p:cNvSpPr>
            <a:spLocks xmlns:a="http://schemas.openxmlformats.org/drawingml/2006/main" noGrp="1"/>
          </p:cNvSpPr>
          <p:nvPr/>
        </p:nvSpPr>
        <p:spPr>
          <a:xfrm xmlns:a="http://schemas.openxmlformats.org/drawingml/2006/main">
            <a:off x="1143000" y="4133850"/>
            <a:ext cx="992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52C3A"/>
                </a:solidFill>
                <a:latin typeface="Arial"/>
                <a:ea typeface="Arial"/>
                <a:cs typeface="Arial"/>
              </a:defRPr>
            </a:pPr>
            <a:r>
              <a:rPr sz="1575" b="0">
                <a:solidFill>
                  <a:srgbClr val="152C3A"/>
                </a:solidFill>
                <a:latin typeface="Arial"/>
                <a:ea typeface="Arial"/>
                <a:cs typeface="Arial"/>
              </a:rPr>
              <a:t>Alternativa: si el ejemplar no está disponible, el sistema comunica la condición y no registra la reserva.</a:t>
            </a:r>
          </a:p>
        </p:txBody>
      </p:sp>
      <p:sp>
        <p:nvSpPr>
          <p:cNvPr id="16" name="">
            <a:extLst xmlns:a="http://schemas.openxmlformats.org/drawingml/2006/main">
              <a:ext uri="{FF2B5EF4-FFF2-40B4-BE49-F238E27FC236}">
                <a16:creationId xmlns:a16="http://schemas.microsoft.com/office/drawing/2014/main" id="{795222CE-61AB-4CF9-8EED-7A8FE6F127EB}"/>
              </a:ext>
            </a:extLst>
          </p:cNvPr>
          <p:cNvSpPr>
            <a:spLocks xmlns:a="http://schemas.openxmlformats.org/drawingml/2006/main" noGrp="1"/>
          </p:cNvSpPr>
          <p:nvPr/>
        </p:nvSpPr>
        <p:spPr>
          <a:xfrm xmlns:a="http://schemas.openxmlformats.org/drawingml/2006/main">
            <a:off x="876300" y="5114925"/>
            <a:ext cx="10191750" cy="704850"/>
          </a:xfrm>
          <a:prstGeom xmlns:a="http://schemas.openxmlformats.org/drawingml/2006/main" prst="roundRect">
            <a:avLst>
              <a:gd name="adj" fmla="val 10811"/>
            </a:avLst>
          </a:prstGeom>
          <a:solidFill xmlns:a="http://schemas.openxmlformats.org/drawingml/2006/main">
            <a:srgbClr val="E2EFEC"/>
          </a:solidFill>
          <a:ln xmlns:a="http://schemas.openxmlformats.org/drawingml/2006/main" w="14288">
            <a:solidFill>
              <a:srgbClr val="C7D3D0"/>
            </a:solidFill>
          </a:ln>
        </p:spPr>
      </p:sp>
      <p:sp>
        <p:nvSpPr>
          <p:cNvPr id="17" name="">
            <a:extLst xmlns:a="http://schemas.openxmlformats.org/drawingml/2006/main">
              <a:ext uri="{FF2B5EF4-FFF2-40B4-BE49-F238E27FC236}">
                <a16:creationId xmlns:a16="http://schemas.microsoft.com/office/drawing/2014/main" id="{D12920C3-2D59-48C2-9530-46E6C49C7D5F}"/>
              </a:ext>
            </a:extLst>
          </p:cNvPr>
          <p:cNvSpPr>
            <a:spLocks xmlns:a="http://schemas.openxmlformats.org/drawingml/2006/main" noGrp="1"/>
          </p:cNvSpPr>
          <p:nvPr/>
        </p:nvSpPr>
        <p:spPr>
          <a:xfrm xmlns:a="http://schemas.openxmlformats.org/drawingml/2006/main">
            <a:off x="1104900" y="52006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Pregunta para el curso</a:t>
            </a:r>
          </a:p>
        </p:txBody>
      </p:sp>
      <p:sp>
        <p:nvSpPr>
          <p:cNvPr id="18" name="">
            <a:extLst xmlns:a="http://schemas.openxmlformats.org/drawingml/2006/main">
              <a:ext uri="{FF2B5EF4-FFF2-40B4-BE49-F238E27FC236}">
                <a16:creationId xmlns:a16="http://schemas.microsoft.com/office/drawing/2014/main" id="{44B5FF28-C795-4030-A38C-DD85A2FDD94F}"/>
              </a:ext>
            </a:extLst>
          </p:cNvPr>
          <p:cNvSpPr>
            <a:spLocks xmlns:a="http://schemas.openxmlformats.org/drawingml/2006/main" noGrp="1"/>
          </p:cNvSpPr>
          <p:nvPr/>
        </p:nvSpPr>
        <p:spPr>
          <a:xfrm xmlns:a="http://schemas.openxmlformats.org/drawingml/2006/main">
            <a:off x="1104900" y="5438775"/>
            <a:ext cx="960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102B3A"/>
                </a:solidFill>
                <a:latin typeface="Arial"/>
                <a:ea typeface="Arial"/>
                <a:cs typeface="Arial"/>
              </a:defRPr>
            </a:pPr>
            <a:r>
              <a:rPr sz="1425" b="1">
                <a:solidFill>
                  <a:srgbClr val="102B3A"/>
                </a:solidFill>
                <a:latin typeface="Arial"/>
                <a:ea typeface="Arial"/>
                <a:cs typeface="Arial"/>
              </a:rPr>
              <a:t>¿Qué dato, regla o evidencia faltaría para validar este modelo?</a:t>
            </a:r>
          </a:p>
        </p:txBody>
      </p:sp>
    </p:spTree>
    <p:extLst>
      <p:ext uri="{BB962C8B-B14F-4D97-AF65-F5344CB8AC3E}">
        <p14:creationId xmlns:p14="http://schemas.microsoft.com/office/powerpoint/2010/main" val="476065013"/>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BF64A2F-9C02-465F-A5CF-57C0A96C897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2DD674-2309-4E84-94F0-D1EDF1EC20E6}"/>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24E95C8E-2975-4B0B-A764-F204DC036370}"/>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LECTURA DEL MODELO</a:t>
            </a:r>
          </a:p>
        </p:txBody>
      </p:sp>
      <p:sp>
        <p:nvSpPr>
          <p:cNvPr id="4" name="">
            <a:extLst xmlns:a="http://schemas.openxmlformats.org/drawingml/2006/main">
              <a:ext uri="{FF2B5EF4-FFF2-40B4-BE49-F238E27FC236}">
                <a16:creationId xmlns:a16="http://schemas.microsoft.com/office/drawing/2014/main" id="{FDA127B8-603F-48A4-A045-43A2FF012269}"/>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8662C511-D1D3-4AE4-AB99-6D885AC83DC8}"/>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02</a:t>
            </a:r>
          </a:p>
        </p:txBody>
      </p:sp>
      <p:sp>
        <p:nvSpPr>
          <p:cNvPr id="6" name="">
            <a:extLst xmlns:a="http://schemas.openxmlformats.org/drawingml/2006/main">
              <a:ext uri="{FF2B5EF4-FFF2-40B4-BE49-F238E27FC236}">
                <a16:creationId xmlns:a16="http://schemas.microsoft.com/office/drawing/2014/main" id="{D4B4530E-EBCC-41A3-8123-ED54311AB300}"/>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927C9F9F-4210-43F4-8912-3D7F714A40AB}"/>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IDEA CENTRAL</a:t>
            </a:r>
          </a:p>
        </p:txBody>
      </p:sp>
      <p:sp>
        <p:nvSpPr>
          <p:cNvPr id="8" name="">
            <a:extLst xmlns:a="http://schemas.openxmlformats.org/drawingml/2006/main">
              <a:ext uri="{FF2B5EF4-FFF2-40B4-BE49-F238E27FC236}">
                <a16:creationId xmlns:a16="http://schemas.microsoft.com/office/drawing/2014/main" id="{DC8B77A7-525B-42F6-AE56-02D92654918F}"/>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Interpretación del ejemplo</a:t>
            </a:r>
          </a:p>
        </p:txBody>
      </p:sp>
      <p:sp>
        <p:nvSpPr>
          <p:cNvPr id="9" name="">
            <a:extLst xmlns:a="http://schemas.openxmlformats.org/drawingml/2006/main">
              <a:ext uri="{FF2B5EF4-FFF2-40B4-BE49-F238E27FC236}">
                <a16:creationId xmlns:a16="http://schemas.microsoft.com/office/drawing/2014/main" id="{D34EE8DC-2C48-4FCE-9023-B49606800DBD}"/>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Actores y casos de uso</a:t>
            </a:r>
          </a:p>
        </p:txBody>
      </p:sp>
      <p:sp>
        <p:nvSpPr>
          <p:cNvPr id="10" name="">
            <a:extLst xmlns:a="http://schemas.openxmlformats.org/drawingml/2006/main">
              <a:ext uri="{FF2B5EF4-FFF2-40B4-BE49-F238E27FC236}">
                <a16:creationId xmlns:a16="http://schemas.microsoft.com/office/drawing/2014/main" id="{7B812390-5690-41E4-931D-D1109B7F9D18}"/>
              </a:ext>
            </a:extLst>
          </p:cNvPr>
          <p:cNvSpPr>
            <a:spLocks xmlns:a="http://schemas.openxmlformats.org/drawingml/2006/main" noGrp="1"/>
          </p:cNvSpPr>
          <p:nvPr/>
        </p:nvSpPr>
        <p:spPr>
          <a:xfrm xmlns:a="http://schemas.openxmlformats.org/drawingml/2006/main">
            <a:off x="876300" y="2333625"/>
            <a:ext cx="10439400" cy="1762125"/>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14288">
            <a:solidFill>
              <a:srgbClr val="C7D3D0"/>
            </a:solidFill>
          </a:ln>
        </p:spPr>
      </p:sp>
      <p:sp>
        <p:nvSpPr>
          <p:cNvPr id="11" name="">
            <a:extLst xmlns:a="http://schemas.openxmlformats.org/drawingml/2006/main">
              <a:ext uri="{FF2B5EF4-FFF2-40B4-BE49-F238E27FC236}">
                <a16:creationId xmlns:a16="http://schemas.microsoft.com/office/drawing/2014/main" id="{BCACBB4D-A54F-4B22-8EC8-8A7B32E42385}"/>
              </a:ext>
            </a:extLst>
          </p:cNvPr>
          <p:cNvSpPr>
            <a:spLocks xmlns:a="http://schemas.openxmlformats.org/drawingml/2006/main" noGrp="1"/>
          </p:cNvSpPr>
          <p:nvPr/>
        </p:nvSpPr>
        <p:spPr>
          <a:xfrm xmlns:a="http://schemas.openxmlformats.org/drawingml/2006/main">
            <a:off x="1143000" y="2552700"/>
            <a:ext cx="9906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02B3A"/>
                </a:solidFill>
                <a:latin typeface="Arial"/>
                <a:ea typeface="Arial"/>
                <a:cs typeface="Arial"/>
              </a:defRPr>
            </a:pPr>
            <a:r>
              <a:rPr sz="1500" b="0">
                <a:solidFill>
                  <a:srgbClr val="102B3A"/>
                </a:solidFill>
                <a:latin typeface="Arial"/>
                <a:ea typeface="Arial"/>
                <a:cs typeface="Arial"/>
              </a:rPr>
              <a:t>El diagrama resume el contexto, los objetivos y la participación de cada actor, pero no detalla todas las decisiones de una conversación. Una descripción textual complementaria conserva las condiciones previas, el flujo normal, las alternativas y el resultado. Esa combinación permite revisar si cada función tiene un usuario o sistema externo relacionado y si el alcance está delimitado con claridad.</a:t>
            </a:r>
          </a:p>
        </p:txBody>
      </p:sp>
      <p:sp>
        <p:nvSpPr>
          <p:cNvPr id="12" name="">
            <a:extLst xmlns:a="http://schemas.openxmlformats.org/drawingml/2006/main">
              <a:ext uri="{FF2B5EF4-FFF2-40B4-BE49-F238E27FC236}">
                <a16:creationId xmlns:a16="http://schemas.microsoft.com/office/drawing/2014/main" id="{38866ED5-8E0B-41FD-ABFB-5146499CB905}"/>
              </a:ext>
            </a:extLst>
          </p:cNvPr>
          <p:cNvSpPr>
            <a:spLocks xmlns:a="http://schemas.openxmlformats.org/drawingml/2006/main" noGrp="1"/>
          </p:cNvSpPr>
          <p:nvPr/>
        </p:nvSpPr>
        <p:spPr>
          <a:xfrm xmlns:a="http://schemas.openxmlformats.org/drawingml/2006/main">
            <a:off x="876300" y="4381500"/>
            <a:ext cx="10439400" cy="1143000"/>
          </a:xfrm>
          <a:prstGeom xmlns:a="http://schemas.openxmlformats.org/drawingml/2006/main" prst="roundRect">
            <a:avLst>
              <a:gd name="adj" fmla="val 6667"/>
            </a:avLst>
          </a:prstGeom>
          <a:solidFill xmlns:a="http://schemas.openxmlformats.org/drawingml/2006/main">
            <a:srgbClr val="F4EED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ED79B0F-1275-4FCB-9C86-1EEC09C1DF95}"/>
              </a:ext>
            </a:extLst>
          </p:cNvPr>
          <p:cNvSpPr>
            <a:spLocks xmlns:a="http://schemas.openxmlformats.org/drawingml/2006/main" noGrp="1"/>
          </p:cNvSpPr>
          <p:nvPr/>
        </p:nvSpPr>
        <p:spPr>
          <a:xfrm xmlns:a="http://schemas.openxmlformats.org/drawingml/2006/main">
            <a:off x="1104900" y="4514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07C78"/>
                </a:solidFill>
                <a:latin typeface="Arial"/>
                <a:ea typeface="Arial"/>
                <a:cs typeface="Arial"/>
              </a:defRPr>
            </a:pPr>
            <a:r>
              <a:rPr sz="1125" b="1">
                <a:solidFill>
                  <a:srgbClr val="007C78"/>
                </a:solidFill>
                <a:latin typeface="Arial"/>
                <a:ea typeface="Arial"/>
                <a:cs typeface="Arial"/>
              </a:rPr>
              <a:t>Relación con el ejemplo</a:t>
            </a:r>
          </a:p>
        </p:txBody>
      </p:sp>
      <p:sp>
        <p:nvSpPr>
          <p:cNvPr id="14" name="">
            <a:extLst xmlns:a="http://schemas.openxmlformats.org/drawingml/2006/main">
              <a:ext uri="{FF2B5EF4-FFF2-40B4-BE49-F238E27FC236}">
                <a16:creationId xmlns:a16="http://schemas.microsoft.com/office/drawing/2014/main" id="{53E5E8F1-0DEA-4957-A50D-2DA6CDA8D7B0}"/>
              </a:ext>
            </a:extLst>
          </p:cNvPr>
          <p:cNvSpPr>
            <a:spLocks xmlns:a="http://schemas.openxmlformats.org/drawingml/2006/main" noGrp="1"/>
          </p:cNvSpPr>
          <p:nvPr/>
        </p:nvSpPr>
        <p:spPr>
          <a:xfrm xmlns:a="http://schemas.openxmlformats.org/drawingml/2006/main">
            <a:off x="1104900" y="481965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52C3A"/>
                </a:solidFill>
                <a:latin typeface="Arial"/>
                <a:ea typeface="Arial"/>
                <a:cs typeface="Arial"/>
              </a:defRPr>
            </a:pPr>
            <a:r>
              <a:rPr sz="1275" b="0">
                <a:solidFill>
                  <a:srgbClr val="152C3A"/>
                </a:solidFill>
                <a:latin typeface="Arial"/>
                <a:ea typeface="Arial"/>
                <a:cs typeface="Arial"/>
              </a:rPr>
              <a:t>Ejemplo de precondición: la cuenta del estudiante está identificada.</a:t>
            </a:r>
          </a:p>
        </p:txBody>
      </p:sp>
    </p:spTree>
    <p:extLst>
      <p:ext uri="{BB962C8B-B14F-4D97-AF65-F5344CB8AC3E}">
        <p14:creationId xmlns:p14="http://schemas.microsoft.com/office/powerpoint/2010/main" val="751831983"/>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B98D053-2E77-4615-96EB-ACB2479EAF4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417D63-39C1-43C3-BED6-800A60E37226}"/>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ACCE043F-D6E7-4481-972A-454B73D31C31}"/>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FUENTE FÍSICA</a:t>
            </a:r>
          </a:p>
        </p:txBody>
      </p:sp>
      <p:sp>
        <p:nvSpPr>
          <p:cNvPr id="4" name="">
            <a:extLst xmlns:a="http://schemas.openxmlformats.org/drawingml/2006/main">
              <a:ext uri="{FF2B5EF4-FFF2-40B4-BE49-F238E27FC236}">
                <a16:creationId xmlns:a16="http://schemas.microsoft.com/office/drawing/2014/main" id="{7CED2A7D-1B3B-44B8-BD61-F9589BAE8869}"/>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D220B9A4-A936-4FE8-8A8F-96008D766BC8}"/>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02</a:t>
            </a:r>
          </a:p>
        </p:txBody>
      </p:sp>
      <p:sp>
        <p:nvSpPr>
          <p:cNvPr id="6" name="">
            <a:extLst xmlns:a="http://schemas.openxmlformats.org/drawingml/2006/main">
              <a:ext uri="{FF2B5EF4-FFF2-40B4-BE49-F238E27FC236}">
                <a16:creationId xmlns:a16="http://schemas.microsoft.com/office/drawing/2014/main" id="{B3000935-B41A-4345-818E-98B7BC58AF15}"/>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C99BAA4C-13EA-450B-A21F-1B1B8CC691D2}"/>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LIBRO FÍSICO SUGERIDO</a:t>
            </a:r>
          </a:p>
        </p:txBody>
      </p:sp>
      <p:sp>
        <p:nvSpPr>
          <p:cNvPr id="8" name="">
            <a:extLst xmlns:a="http://schemas.openxmlformats.org/drawingml/2006/main">
              <a:ext uri="{FF2B5EF4-FFF2-40B4-BE49-F238E27FC236}">
                <a16:creationId xmlns:a16="http://schemas.microsoft.com/office/drawing/2014/main" id="{A7186821-F6F5-401B-99B0-CDB5B26BC9E2}"/>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Evidencia bibliográfica del tema</a:t>
            </a:r>
          </a:p>
        </p:txBody>
      </p:sp>
      <p:sp>
        <p:nvSpPr>
          <p:cNvPr id="9" name="">
            <a:extLst xmlns:a="http://schemas.openxmlformats.org/drawingml/2006/main">
              <a:ext uri="{FF2B5EF4-FFF2-40B4-BE49-F238E27FC236}">
                <a16:creationId xmlns:a16="http://schemas.microsoft.com/office/drawing/2014/main" id="{2625660D-D364-4A6B-B318-F4205253E583}"/>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El catálogo UPDS lo registra como impreso; confirme disponibilidad al consultarlo.</a:t>
            </a:r>
          </a:p>
        </p:txBody>
      </p:sp>
      <p:sp>
        <p:nvSpPr>
          <p:cNvPr id="10" name="">
            <a:extLst xmlns:a="http://schemas.openxmlformats.org/drawingml/2006/main">
              <a:ext uri="{FF2B5EF4-FFF2-40B4-BE49-F238E27FC236}">
                <a16:creationId xmlns:a16="http://schemas.microsoft.com/office/drawing/2014/main" id="{604B9B3C-E222-4A49-867B-C9DB8BF5D280}"/>
              </a:ext>
            </a:extLst>
          </p:cNvPr>
          <p:cNvSpPr>
            <a:spLocks xmlns:a="http://schemas.openxmlformats.org/drawingml/2006/main" noGrp="1"/>
          </p:cNvSpPr>
          <p:nvPr/>
        </p:nvSpPr>
        <p:spPr>
          <a:xfrm xmlns:a="http://schemas.openxmlformats.org/drawingml/2006/main">
            <a:off x="876300" y="2286000"/>
            <a:ext cx="10439400" cy="742950"/>
          </a:xfrm>
          <a:prstGeom xmlns:a="http://schemas.openxmlformats.org/drawingml/2006/main" prst="roundRect">
            <a:avLst>
              <a:gd name="adj" fmla="val 10256"/>
            </a:avLst>
          </a:prstGeom>
          <a:solidFill xmlns:a="http://schemas.openxmlformats.org/drawingml/2006/main">
            <a:srgbClr val="E2EFEC"/>
          </a:solidFill>
          <a:ln xmlns:a="http://schemas.openxmlformats.org/drawingml/2006/main" w="14288">
            <a:solidFill>
              <a:srgbClr val="C7D3D0"/>
            </a:solidFill>
          </a:ln>
        </p:spPr>
      </p:sp>
      <p:sp>
        <p:nvSpPr>
          <p:cNvPr id="11" name="">
            <a:extLst xmlns:a="http://schemas.openxmlformats.org/drawingml/2006/main">
              <a:ext uri="{FF2B5EF4-FFF2-40B4-BE49-F238E27FC236}">
                <a16:creationId xmlns:a16="http://schemas.microsoft.com/office/drawing/2014/main" id="{84D3B2AF-49AB-4BAF-A5D9-5CF9A94529E7}"/>
              </a:ext>
            </a:extLst>
          </p:cNvPr>
          <p:cNvSpPr>
            <a:spLocks xmlns:a="http://schemas.openxmlformats.org/drawingml/2006/main" noGrp="1"/>
          </p:cNvSpPr>
          <p:nvPr/>
        </p:nvSpPr>
        <p:spPr>
          <a:xfrm xmlns:a="http://schemas.openxmlformats.org/drawingml/2006/main">
            <a:off x="1066800" y="2352675"/>
            <a:ext cx="10058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74"/>
          </a:bodyPr>
          <a:lstStyle xmlns:a="http://schemas.openxmlformats.org/drawingml/2006/main"/>
          <a:p xmlns:a="http://schemas.openxmlformats.org/drawingml/2006/main">
            <a:pPr algn="l">
              <a:defRPr sz="1350" b="1">
                <a:solidFill>
                  <a:srgbClr val="102B3A"/>
                </a:solidFill>
                <a:latin typeface="Arial"/>
                <a:ea typeface="Arial"/>
                <a:cs typeface="Arial"/>
              </a:defRPr>
            </a:pPr>
            <a:r>
              <a:rPr sz="1350" b="1">
                <a:solidFill>
                  <a:srgbClr val="102B3A"/>
                </a:solidFill>
                <a:latin typeface="Arial"/>
                <a:ea typeface="Arial"/>
                <a:cs typeface="Arial"/>
              </a:rPr>
              <a:t>Análisis y diseño orientado a objetos con UML y Rational Rose</a:t>
            </a:r>
          </a:p>
        </p:txBody>
      </p:sp>
      <p:sp>
        <p:nvSpPr>
          <p:cNvPr id="12" name="">
            <a:extLst xmlns:a="http://schemas.openxmlformats.org/drawingml/2006/main">
              <a:ext uri="{FF2B5EF4-FFF2-40B4-BE49-F238E27FC236}">
                <a16:creationId xmlns:a16="http://schemas.microsoft.com/office/drawing/2014/main" id="{8A5841CA-85FC-45FB-B682-0039DFDF5C75}"/>
              </a:ext>
            </a:extLst>
          </p:cNvPr>
          <p:cNvSpPr>
            <a:spLocks xmlns:a="http://schemas.openxmlformats.org/drawingml/2006/main" noGrp="1"/>
          </p:cNvSpPr>
          <p:nvPr/>
        </p:nvSpPr>
        <p:spPr>
          <a:xfrm xmlns:a="http://schemas.openxmlformats.org/drawingml/2006/main">
            <a:off x="1066800" y="2667000"/>
            <a:ext cx="1005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0">
                <a:solidFill>
                  <a:srgbClr val="152C3A"/>
                </a:solidFill>
                <a:latin typeface="Arial"/>
                <a:ea typeface="Arial"/>
                <a:cs typeface="Arial"/>
              </a:defRPr>
            </a:pPr>
            <a:r>
              <a:rPr sz="1050" b="0">
                <a:solidFill>
                  <a:srgbClr val="152C3A"/>
                </a:solidFill>
                <a:latin typeface="Arial"/>
                <a:ea typeface="Arial"/>
                <a:cs typeface="Arial"/>
              </a:rPr>
              <a:t>Sergio Matsukawa · Empresa Editora Macro · 2004 · 520 páginas</a:t>
            </a:r>
          </a:p>
        </p:txBody>
      </p:sp>
      <p:sp>
        <p:nvSpPr>
          <p:cNvPr id="13" name="">
            <a:extLst xmlns:a="http://schemas.openxmlformats.org/drawingml/2006/main">
              <a:ext uri="{FF2B5EF4-FFF2-40B4-BE49-F238E27FC236}">
                <a16:creationId xmlns:a16="http://schemas.microsoft.com/office/drawing/2014/main" id="{1296DF63-6E30-4975-8489-D794F0D009C6}"/>
              </a:ext>
            </a:extLst>
          </p:cNvPr>
          <p:cNvSpPr>
            <a:spLocks xmlns:a="http://schemas.openxmlformats.org/drawingml/2006/main" noGrp="1"/>
          </p:cNvSpPr>
          <p:nvPr/>
        </p:nvSpPr>
        <p:spPr>
          <a:xfrm xmlns:a="http://schemas.openxmlformats.org/drawingml/2006/main">
            <a:off x="876300" y="3257550"/>
            <a:ext cx="485775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4288">
            <a:solidFill>
              <a:srgbClr val="C7D3D0"/>
            </a:solidFill>
          </a:ln>
        </p:spPr>
      </p:sp>
      <p:sp>
        <p:nvSpPr>
          <p:cNvPr id="14" name="">
            <a:extLst xmlns:a="http://schemas.openxmlformats.org/drawingml/2006/main">
              <a:ext uri="{FF2B5EF4-FFF2-40B4-BE49-F238E27FC236}">
                <a16:creationId xmlns:a16="http://schemas.microsoft.com/office/drawing/2014/main" id="{98CA463E-08E1-4643-8E31-46DFB6D4BEAB}"/>
              </a:ext>
            </a:extLst>
          </p:cNvPr>
          <p:cNvSpPr>
            <a:spLocks xmlns:a="http://schemas.openxmlformats.org/drawingml/2006/main" noGrp="1"/>
          </p:cNvSpPr>
          <p:nvPr/>
        </p:nvSpPr>
        <p:spPr>
          <a:xfrm xmlns:a="http://schemas.openxmlformats.org/drawingml/2006/main">
            <a:off x="1028700" y="3409950"/>
            <a:ext cx="4552950" cy="1485900"/>
          </a:xfrm>
          <a:prstGeom xmlns:a="http://schemas.openxmlformats.org/drawingml/2006/main" prst="roundRect">
            <a:avLst>
              <a:gd name="adj" fmla="val 5128"/>
            </a:avLst>
          </a:prstGeom>
          <a:solidFill xmlns:a="http://schemas.openxmlformats.org/drawingml/2006/main">
            <a:srgbClr val="E9EFEC"/>
          </a:solidFill>
          <a:ln xmlns:a="http://schemas.openxmlformats.org/drawingml/2006/main" w="14288">
            <a:solidFill>
              <a:srgbClr val="C7D3D0"/>
            </a:solidFill>
          </a:ln>
        </p:spPr>
      </p:sp>
      <p:sp>
        <p:nvSpPr>
          <p:cNvPr id="15" name="">
            <a:extLst xmlns:a="http://schemas.openxmlformats.org/drawingml/2006/main">
              <a:ext uri="{FF2B5EF4-FFF2-40B4-BE49-F238E27FC236}">
                <a16:creationId xmlns:a16="http://schemas.microsoft.com/office/drawing/2014/main" id="{FB08D8BD-AA8E-4565-86A3-B91083EEFC04}"/>
              </a:ext>
            </a:extLst>
          </p:cNvPr>
          <p:cNvSpPr>
            <a:spLocks xmlns:a="http://schemas.openxmlformats.org/drawingml/2006/main" noGrp="1"/>
          </p:cNvSpPr>
          <p:nvPr/>
        </p:nvSpPr>
        <p:spPr>
          <a:xfrm xmlns:a="http://schemas.openxmlformats.org/drawingml/2006/main">
            <a:off x="1143000" y="4257675"/>
            <a:ext cx="432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5E6F76"/>
                </a:solidFill>
                <a:latin typeface="Arial"/>
                <a:ea typeface="Arial"/>
                <a:cs typeface="Arial"/>
              </a:defRPr>
            </a:pPr>
            <a:r>
              <a:rPr sz="1050" b="1">
                <a:solidFill>
                  <a:srgbClr val="5E6F76"/>
                </a:solidFill>
                <a:latin typeface="Arial"/>
                <a:ea typeface="Arial"/>
                <a:cs typeface="Arial"/>
              </a:rPr>
              <a:t>FOTO PENDIENTE</a:t>
            </a:r>
          </a:p>
        </p:txBody>
      </p:sp>
      <p:sp>
        <p:nvSpPr>
          <p:cNvPr id="16" name="">
            <a:extLst xmlns:a="http://schemas.openxmlformats.org/drawingml/2006/main">
              <a:ext uri="{FF2B5EF4-FFF2-40B4-BE49-F238E27FC236}">
                <a16:creationId xmlns:a16="http://schemas.microsoft.com/office/drawing/2014/main" id="{36EBB5A5-F948-4B3E-8AB0-2E47CFC13784}"/>
              </a:ext>
            </a:extLst>
          </p:cNvPr>
          <p:cNvSpPr>
            <a:spLocks xmlns:a="http://schemas.openxmlformats.org/drawingml/2006/main" noGrp="1"/>
          </p:cNvSpPr>
          <p:nvPr/>
        </p:nvSpPr>
        <p:spPr>
          <a:xfrm xmlns:a="http://schemas.openxmlformats.org/drawingml/2006/main">
            <a:off x="1047750" y="4943475"/>
            <a:ext cx="4514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102B3A"/>
                </a:solidFill>
                <a:latin typeface="Arial"/>
                <a:ea typeface="Arial"/>
                <a:cs typeface="Arial"/>
              </a:defRPr>
            </a:pPr>
            <a:r>
              <a:rPr sz="975" b="1">
                <a:solidFill>
                  <a:srgbClr val="102B3A"/>
                </a:solidFill>
                <a:latin typeface="Arial"/>
                <a:ea typeface="Arial"/>
                <a:cs typeface="Arial"/>
              </a:rPr>
              <a:t>PORTADA O PÁGINA LEGAL</a:t>
            </a:r>
          </a:p>
        </p:txBody>
      </p:sp>
      <p:sp>
        <p:nvSpPr>
          <p:cNvPr id="17" name="">
            <a:extLst xmlns:a="http://schemas.openxmlformats.org/drawingml/2006/main">
              <a:ext uri="{FF2B5EF4-FFF2-40B4-BE49-F238E27FC236}">
                <a16:creationId xmlns:a16="http://schemas.microsoft.com/office/drawing/2014/main" id="{3C21699C-C2D3-4AC3-8B8F-A5900E056F23}"/>
              </a:ext>
            </a:extLst>
          </p:cNvPr>
          <p:cNvSpPr>
            <a:spLocks xmlns:a="http://schemas.openxmlformats.org/drawingml/2006/main" noGrp="1"/>
          </p:cNvSpPr>
          <p:nvPr/>
        </p:nvSpPr>
        <p:spPr>
          <a:xfrm xmlns:a="http://schemas.openxmlformats.org/drawingml/2006/main">
            <a:off x="1047750" y="5133975"/>
            <a:ext cx="4514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6061"/>
          </a:bodyPr>
          <a:lstStyle xmlns:a="http://schemas.openxmlformats.org/drawingml/2006/main"/>
          <a:p xmlns:a="http://schemas.openxmlformats.org/drawingml/2006/main">
            <a:pPr algn="l">
              <a:defRPr sz="825" b="0">
                <a:solidFill>
                  <a:srgbClr val="5E6F76"/>
                </a:solidFill>
                <a:latin typeface="Arial"/>
                <a:ea typeface="Arial"/>
                <a:cs typeface="Arial"/>
              </a:defRPr>
            </a:pPr>
            <a:r>
              <a:rPr sz="825" b="0">
                <a:solidFill>
                  <a:srgbClr val="5E6F76"/>
                </a:solidFill>
                <a:latin typeface="Arial"/>
                <a:ea typeface="Arial"/>
                <a:cs typeface="Arial"/>
              </a:rPr>
              <a:t>Título · autor · edición</a:t>
            </a:r>
          </a:p>
        </p:txBody>
      </p:sp>
      <p:sp>
        <p:nvSpPr>
          <p:cNvPr id="18" name="">
            <a:extLst xmlns:a="http://schemas.openxmlformats.org/drawingml/2006/main">
              <a:ext uri="{FF2B5EF4-FFF2-40B4-BE49-F238E27FC236}">
                <a16:creationId xmlns:a16="http://schemas.microsoft.com/office/drawing/2014/main" id="{29B7FBBB-F4B3-448D-B55B-9082646CB35F}"/>
              </a:ext>
            </a:extLst>
          </p:cNvPr>
          <p:cNvSpPr>
            <a:spLocks xmlns:a="http://schemas.openxmlformats.org/drawingml/2006/main" noGrp="1"/>
          </p:cNvSpPr>
          <p:nvPr/>
        </p:nvSpPr>
        <p:spPr>
          <a:xfrm xmlns:a="http://schemas.openxmlformats.org/drawingml/2006/main">
            <a:off x="6457950" y="3257550"/>
            <a:ext cx="485775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4288">
            <a:solidFill>
              <a:srgbClr val="C7D3D0"/>
            </a:solidFill>
          </a:ln>
        </p:spPr>
      </p:sp>
      <p:sp>
        <p:nvSpPr>
          <p:cNvPr id="19" name="">
            <a:extLst xmlns:a="http://schemas.openxmlformats.org/drawingml/2006/main">
              <a:ext uri="{FF2B5EF4-FFF2-40B4-BE49-F238E27FC236}">
                <a16:creationId xmlns:a16="http://schemas.microsoft.com/office/drawing/2014/main" id="{BE044FB7-C845-4F07-8490-DB2FDAB0F333}"/>
              </a:ext>
            </a:extLst>
          </p:cNvPr>
          <p:cNvSpPr>
            <a:spLocks xmlns:a="http://schemas.openxmlformats.org/drawingml/2006/main" noGrp="1"/>
          </p:cNvSpPr>
          <p:nvPr/>
        </p:nvSpPr>
        <p:spPr>
          <a:xfrm xmlns:a="http://schemas.openxmlformats.org/drawingml/2006/main">
            <a:off x="6610350" y="3409950"/>
            <a:ext cx="4552950" cy="1485900"/>
          </a:xfrm>
          <a:prstGeom xmlns:a="http://schemas.openxmlformats.org/drawingml/2006/main" prst="roundRect">
            <a:avLst>
              <a:gd name="adj" fmla="val 5128"/>
            </a:avLst>
          </a:prstGeom>
          <a:solidFill xmlns:a="http://schemas.openxmlformats.org/drawingml/2006/main">
            <a:srgbClr val="E9EFEC"/>
          </a:solidFill>
          <a:ln xmlns:a="http://schemas.openxmlformats.org/drawingml/2006/main" w="14288">
            <a:solidFill>
              <a:srgbClr val="C7D3D0"/>
            </a:solidFill>
          </a:ln>
        </p:spPr>
      </p:sp>
      <p:sp>
        <p:nvSpPr>
          <p:cNvPr id="20" name="">
            <a:extLst xmlns:a="http://schemas.openxmlformats.org/drawingml/2006/main">
              <a:ext uri="{FF2B5EF4-FFF2-40B4-BE49-F238E27FC236}">
                <a16:creationId xmlns:a16="http://schemas.microsoft.com/office/drawing/2014/main" id="{23909A0C-BB4A-4E3C-896E-B5AD9A95EF0B}"/>
              </a:ext>
            </a:extLst>
          </p:cNvPr>
          <p:cNvSpPr>
            <a:spLocks xmlns:a="http://schemas.openxmlformats.org/drawingml/2006/main" noGrp="1"/>
          </p:cNvSpPr>
          <p:nvPr/>
        </p:nvSpPr>
        <p:spPr>
          <a:xfrm xmlns:a="http://schemas.openxmlformats.org/drawingml/2006/main">
            <a:off x="6724650" y="4257675"/>
            <a:ext cx="432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5E6F76"/>
                </a:solidFill>
                <a:latin typeface="Arial"/>
                <a:ea typeface="Arial"/>
                <a:cs typeface="Arial"/>
              </a:defRPr>
            </a:pPr>
            <a:r>
              <a:rPr sz="1050" b="1">
                <a:solidFill>
                  <a:srgbClr val="5E6F76"/>
                </a:solidFill>
                <a:latin typeface="Arial"/>
                <a:ea typeface="Arial"/>
                <a:cs typeface="Arial"/>
              </a:rPr>
              <a:t>FOTO PENDIENTE</a:t>
            </a:r>
          </a:p>
        </p:txBody>
      </p:sp>
      <p:sp>
        <p:nvSpPr>
          <p:cNvPr id="21" name="">
            <a:extLst xmlns:a="http://schemas.openxmlformats.org/drawingml/2006/main">
              <a:ext uri="{FF2B5EF4-FFF2-40B4-BE49-F238E27FC236}">
                <a16:creationId xmlns:a16="http://schemas.microsoft.com/office/drawing/2014/main" id="{45CB1E05-A300-42CC-936D-F69FD00F6532}"/>
              </a:ext>
            </a:extLst>
          </p:cNvPr>
          <p:cNvSpPr>
            <a:spLocks xmlns:a="http://schemas.openxmlformats.org/drawingml/2006/main" noGrp="1"/>
          </p:cNvSpPr>
          <p:nvPr/>
        </p:nvSpPr>
        <p:spPr>
          <a:xfrm xmlns:a="http://schemas.openxmlformats.org/drawingml/2006/main">
            <a:off x="6629400" y="4943475"/>
            <a:ext cx="4514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102B3A"/>
                </a:solidFill>
                <a:latin typeface="Arial"/>
                <a:ea typeface="Arial"/>
                <a:cs typeface="Arial"/>
              </a:defRPr>
            </a:pPr>
            <a:r>
              <a:rPr sz="975" b="1">
                <a:solidFill>
                  <a:srgbClr val="102B3A"/>
                </a:solidFill>
                <a:latin typeface="Arial"/>
                <a:ea typeface="Arial"/>
                <a:cs typeface="Arial"/>
              </a:rPr>
              <a:t>PÁGINA CONSULTADA</a:t>
            </a:r>
          </a:p>
        </p:txBody>
      </p:sp>
      <p:sp>
        <p:nvSpPr>
          <p:cNvPr id="22" name="">
            <a:extLst xmlns:a="http://schemas.openxmlformats.org/drawingml/2006/main">
              <a:ext uri="{FF2B5EF4-FFF2-40B4-BE49-F238E27FC236}">
                <a16:creationId xmlns:a16="http://schemas.microsoft.com/office/drawing/2014/main" id="{D2769FC9-029D-47B8-BA61-A3CD4E9AC330}"/>
              </a:ext>
            </a:extLst>
          </p:cNvPr>
          <p:cNvSpPr>
            <a:spLocks xmlns:a="http://schemas.openxmlformats.org/drawingml/2006/main" noGrp="1"/>
          </p:cNvSpPr>
          <p:nvPr/>
        </p:nvSpPr>
        <p:spPr>
          <a:xfrm xmlns:a="http://schemas.openxmlformats.org/drawingml/2006/main">
            <a:off x="6629400" y="5133975"/>
            <a:ext cx="45148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6061"/>
          </a:bodyPr>
          <a:lstStyle xmlns:a="http://schemas.openxmlformats.org/drawingml/2006/main"/>
          <a:p xmlns:a="http://schemas.openxmlformats.org/drawingml/2006/main">
            <a:pPr algn="l">
              <a:defRPr sz="825" b="0">
                <a:solidFill>
                  <a:srgbClr val="5E6F76"/>
                </a:solidFill>
                <a:latin typeface="Arial"/>
                <a:ea typeface="Arial"/>
                <a:cs typeface="Arial"/>
              </a:defRPr>
            </a:pPr>
            <a:r>
              <a:rPr sz="825" b="0">
                <a:solidFill>
                  <a:srgbClr val="5E6F76"/>
                </a:solidFill>
                <a:latin typeface="Arial"/>
                <a:ea typeface="Arial"/>
                <a:cs typeface="Arial"/>
              </a:rPr>
              <a:t>Página relacionada con el tema</a:t>
            </a:r>
          </a:p>
        </p:txBody>
      </p:sp>
      <p:sp>
        <p:nvSpPr>
          <p:cNvPr id="23" name="">
            <a:extLst xmlns:a="http://schemas.openxmlformats.org/drawingml/2006/main">
              <a:ext uri="{FF2B5EF4-FFF2-40B4-BE49-F238E27FC236}">
                <a16:creationId xmlns:a16="http://schemas.microsoft.com/office/drawing/2014/main" id="{AA443AA3-6A84-4A40-9FC5-DB6BD67BBA5B}"/>
              </a:ext>
            </a:extLst>
          </p:cNvPr>
          <p:cNvSpPr>
            <a:spLocks xmlns:a="http://schemas.openxmlformats.org/drawingml/2006/main" noGrp="1"/>
          </p:cNvSpPr>
          <p:nvPr/>
        </p:nvSpPr>
        <p:spPr>
          <a:xfrm xmlns:a="http://schemas.openxmlformats.org/drawingml/2006/main">
            <a:off x="876300" y="5534025"/>
            <a:ext cx="10439400" cy="400050"/>
          </a:xfrm>
          <a:prstGeom xmlns:a="http://schemas.openxmlformats.org/drawingml/2006/main" prst="roundRect">
            <a:avLst>
              <a:gd name="adj" fmla="val 19048"/>
            </a:avLst>
          </a:prstGeom>
          <a:solidFill xmlns:a="http://schemas.openxmlformats.org/drawingml/2006/main">
            <a:srgbClr val="FFF3DF"/>
          </a:solidFill>
          <a:ln xmlns:a="http://schemas.openxmlformats.org/drawingml/2006/main" w="14288">
            <a:solidFill>
              <a:srgbClr val="E8AA57"/>
            </a:solidFill>
          </a:ln>
        </p:spPr>
      </p:sp>
      <p:sp>
        <p:nvSpPr>
          <p:cNvPr id="24" name="">
            <a:extLst xmlns:a="http://schemas.openxmlformats.org/drawingml/2006/main">
              <a:ext uri="{FF2B5EF4-FFF2-40B4-BE49-F238E27FC236}">
                <a16:creationId xmlns:a16="http://schemas.microsoft.com/office/drawing/2014/main" id="{5219DA1C-B14D-4D3F-8F81-F4F9F75B040C}"/>
              </a:ext>
            </a:extLst>
          </p:cNvPr>
          <p:cNvSpPr>
            <a:spLocks xmlns:a="http://schemas.openxmlformats.org/drawingml/2006/main" noGrp="1"/>
          </p:cNvSpPr>
          <p:nvPr/>
        </p:nvSpPr>
        <p:spPr>
          <a:xfrm xmlns:a="http://schemas.openxmlformats.org/drawingml/2006/main">
            <a:off x="1066800" y="5600700"/>
            <a:ext cx="10058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02B3A"/>
                </a:solidFill>
                <a:latin typeface="Arial"/>
                <a:ea typeface="Arial"/>
                <a:cs typeface="Arial"/>
              </a:defRPr>
            </a:pPr>
            <a:r>
              <a:rPr sz="1050" b="1">
                <a:solidFill>
                  <a:srgbClr val="102B3A"/>
                </a:solidFill>
                <a:latin typeface="Arial"/>
                <a:ea typeface="Arial"/>
                <a:cs typeface="Arial"/>
              </a:rPr>
              <a:t>Dos fotografías documentan el mismo libro: su identificación y la página utilizada.</a:t>
            </a:r>
          </a:p>
        </p:txBody>
      </p:sp>
    </p:spTree>
    <p:extLst>
      <p:ext uri="{BB962C8B-B14F-4D97-AF65-F5344CB8AC3E}">
        <p14:creationId xmlns:p14="http://schemas.microsoft.com/office/powerpoint/2010/main" val="746321465"/>
      </p:ext>
    </p:extLst>
  </p:cSld>
</p:sld>
</file>

<file path=ppt/slides/slide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A290806-7127-412D-AC04-F7F40129B32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CF0B48-6DC5-45DA-A602-33A561C70A9B}"/>
              </a:ext>
            </a:extLst>
          </p:cNvPr>
          <p:cNvSpPr>
            <a:spLocks xmlns:a="http://schemas.openxmlformats.org/drawingml/2006/main" noGrp="1"/>
          </p:cNvSpPr>
          <p:nvPr/>
        </p:nvSpPr>
        <p:spPr>
          <a:xfrm xmlns:a="http://schemas.openxmlformats.org/drawingml/2006/main">
            <a:off x="685800" y="3238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1">
                <a:solidFill>
                  <a:srgbClr val="007C78"/>
                </a:solidFill>
                <a:latin typeface="Arial"/>
                <a:ea typeface="Arial"/>
                <a:cs typeface="Arial"/>
              </a:defRPr>
            </a:pPr>
            <a:r>
              <a:rPr sz="1050" b="1">
                <a:solidFill>
                  <a:srgbClr val="007C78"/>
                </a:solidFill>
                <a:latin typeface="Arial"/>
                <a:ea typeface="Arial"/>
                <a:cs typeface="Arial"/>
              </a:rPr>
              <a:t>SISTEMAS DE INFORMACIÓN I</a:t>
            </a:r>
          </a:p>
        </p:txBody>
      </p:sp>
      <p:sp>
        <p:nvSpPr>
          <p:cNvPr id="3" name="">
            <a:extLst xmlns:a="http://schemas.openxmlformats.org/drawingml/2006/main">
              <a:ext uri="{FF2B5EF4-FFF2-40B4-BE49-F238E27FC236}">
                <a16:creationId xmlns:a16="http://schemas.microsoft.com/office/drawing/2014/main" id="{C118FBDD-9756-4CC9-96A7-49BCAD45F10E}"/>
              </a:ext>
            </a:extLst>
          </p:cNvPr>
          <p:cNvSpPr>
            <a:spLocks xmlns:a="http://schemas.openxmlformats.org/drawingml/2006/main" noGrp="1"/>
          </p:cNvSpPr>
          <p:nvPr/>
        </p:nvSpPr>
        <p:spPr>
          <a:xfrm xmlns:a="http://schemas.openxmlformats.org/drawingml/2006/main">
            <a:off x="9258300" y="3238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0">
                <a:solidFill>
                  <a:srgbClr val="5E6F76"/>
                </a:solidFill>
                <a:latin typeface="Arial"/>
                <a:ea typeface="Arial"/>
                <a:cs typeface="Arial"/>
              </a:defRPr>
            </a:pPr>
            <a:r>
              <a:rPr sz="1050" b="0">
                <a:solidFill>
                  <a:srgbClr val="5E6F76"/>
                </a:solidFill>
                <a:latin typeface="Arial"/>
                <a:ea typeface="Arial"/>
                <a:cs typeface="Arial"/>
              </a:rPr>
              <a:t>BIBLIOGRAFÍA</a:t>
            </a:r>
          </a:p>
        </p:txBody>
      </p:sp>
      <p:sp>
        <p:nvSpPr>
          <p:cNvPr id="4" name="">
            <a:extLst xmlns:a="http://schemas.openxmlformats.org/drawingml/2006/main">
              <a:ext uri="{FF2B5EF4-FFF2-40B4-BE49-F238E27FC236}">
                <a16:creationId xmlns:a16="http://schemas.microsoft.com/office/drawing/2014/main" id="{878CB6F0-204E-4BF9-8A54-2046326C0559}"/>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C7D3D0"/>
            </a:solidFill>
          </a:ln>
        </p:spPr>
      </p:sp>
      <p:sp>
        <p:nvSpPr>
          <p:cNvPr id="5" name="">
            <a:extLst xmlns:a="http://schemas.openxmlformats.org/drawingml/2006/main">
              <a:ext uri="{FF2B5EF4-FFF2-40B4-BE49-F238E27FC236}">
                <a16:creationId xmlns:a16="http://schemas.microsoft.com/office/drawing/2014/main" id="{7749CE28-AD70-4B07-9A6A-6E103811E5C0}"/>
              </a:ext>
            </a:extLst>
          </p:cNvPr>
          <p:cNvSpPr>
            <a:spLocks xmlns:a="http://schemas.openxmlformats.org/drawingml/2006/main" noGrp="1"/>
          </p:cNvSpPr>
          <p:nvPr/>
        </p:nvSpPr>
        <p:spPr>
          <a:xfrm xmlns:a="http://schemas.openxmlformats.org/drawingml/2006/main">
            <a:off x="6858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E6F76"/>
                </a:solidFill>
                <a:latin typeface="Arial"/>
                <a:ea typeface="Arial"/>
                <a:cs typeface="Arial"/>
              </a:defRPr>
            </a:pPr>
            <a:r>
              <a:rPr sz="825" b="1">
                <a:solidFill>
                  <a:srgbClr val="5E6F76"/>
                </a:solidFill>
                <a:latin typeface="Arial"/>
                <a:ea typeface="Arial"/>
                <a:cs typeface="Arial"/>
              </a:rPr>
              <a:t>ACTIVIDAD 1  ·  TEMA 02</a:t>
            </a:r>
          </a:p>
        </p:txBody>
      </p:sp>
      <p:sp>
        <p:nvSpPr>
          <p:cNvPr id="6" name="">
            <a:extLst xmlns:a="http://schemas.openxmlformats.org/drawingml/2006/main">
              <a:ext uri="{FF2B5EF4-FFF2-40B4-BE49-F238E27FC236}">
                <a16:creationId xmlns:a16="http://schemas.microsoft.com/office/drawing/2014/main" id="{186F3E90-81F1-486F-B889-1CAE1D867ABE}"/>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007C78"/>
                </a:solidFill>
                <a:latin typeface="Arial"/>
                <a:ea typeface="Arial"/>
                <a:cs typeface="Arial"/>
              </a:defRPr>
            </a:pPr>
            <a:r>
              <a:rPr sz="900" b="1">
                <a:solidFill>
                  <a:srgbClr val="007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247D6F7-18AA-40F9-B372-DDB88C466918}"/>
              </a:ext>
            </a:extLst>
          </p:cNvPr>
          <p:cNvSpPr>
            <a:spLocks xmlns:a="http://schemas.openxmlformats.org/drawingml/2006/main" noGrp="1"/>
          </p:cNvSpPr>
          <p:nvPr/>
        </p:nvSpPr>
        <p:spPr>
          <a:xfrm xmlns:a="http://schemas.openxmlformats.org/drawingml/2006/main">
            <a:off x="685800" y="8001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07C78"/>
                </a:solidFill>
                <a:latin typeface="Arial"/>
                <a:ea typeface="Arial"/>
                <a:cs typeface="Arial"/>
              </a:defRPr>
            </a:pPr>
            <a:r>
              <a:rPr sz="975" b="1">
                <a:solidFill>
                  <a:srgbClr val="007C78"/>
                </a:solidFill>
                <a:latin typeface="Arial"/>
                <a:ea typeface="Arial"/>
                <a:cs typeface="Arial"/>
              </a:rPr>
              <a:t>FUENTES</a:t>
            </a:r>
          </a:p>
        </p:txBody>
      </p:sp>
      <p:sp>
        <p:nvSpPr>
          <p:cNvPr id="8" name="">
            <a:extLst xmlns:a="http://schemas.openxmlformats.org/drawingml/2006/main">
              <a:ext uri="{FF2B5EF4-FFF2-40B4-BE49-F238E27FC236}">
                <a16:creationId xmlns:a16="http://schemas.microsoft.com/office/drawing/2014/main" id="{661007C5-9672-4D99-BA4B-9679823931A7}"/>
              </a:ext>
            </a:extLst>
          </p:cNvPr>
          <p:cNvSpPr>
            <a:spLocks xmlns:a="http://schemas.openxmlformats.org/drawingml/2006/main" noGrp="1"/>
          </p:cNvSpPr>
          <p:nvPr/>
        </p:nvSpPr>
        <p:spPr>
          <a:xfrm xmlns:a="http://schemas.openxmlformats.org/drawingml/2006/main">
            <a:off x="685800" y="106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A"/>
                </a:solidFill>
                <a:latin typeface="Arial"/>
                <a:ea typeface="Arial"/>
                <a:cs typeface="Arial"/>
              </a:defRPr>
            </a:pPr>
            <a:r>
              <a:rPr sz="2550" b="1">
                <a:solidFill>
                  <a:srgbClr val="102B3A"/>
                </a:solidFill>
                <a:latin typeface="Arial"/>
                <a:ea typeface="Arial"/>
                <a:cs typeface="Arial"/>
              </a:rPr>
              <a:t>Dos libros digitales y uno físico</a:t>
            </a:r>
          </a:p>
        </p:txBody>
      </p:sp>
      <p:sp>
        <p:nvSpPr>
          <p:cNvPr id="9" name="">
            <a:extLst xmlns:a="http://schemas.openxmlformats.org/drawingml/2006/main">
              <a:ext uri="{FF2B5EF4-FFF2-40B4-BE49-F238E27FC236}">
                <a16:creationId xmlns:a16="http://schemas.microsoft.com/office/drawing/2014/main" id="{3DB4ACFF-4C3D-4882-94C4-214FFF782F7C}"/>
              </a:ext>
            </a:extLst>
          </p:cNvPr>
          <p:cNvSpPr>
            <a:spLocks xmlns:a="http://schemas.openxmlformats.org/drawingml/2006/main" noGrp="1"/>
          </p:cNvSpPr>
          <p:nvPr/>
        </p:nvSpPr>
        <p:spPr>
          <a:xfrm xmlns:a="http://schemas.openxmlformats.org/drawingml/2006/main">
            <a:off x="685800" y="1724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F76"/>
                </a:solidFill>
                <a:latin typeface="Arial"/>
                <a:ea typeface="Arial"/>
                <a:cs typeface="Arial"/>
              </a:defRPr>
            </a:pPr>
            <a:r>
              <a:rPr sz="1350" b="0">
                <a:solidFill>
                  <a:srgbClr val="5E6F76"/>
                </a:solidFill>
                <a:latin typeface="Arial"/>
                <a:ea typeface="Arial"/>
                <a:cs typeface="Arial"/>
              </a:rPr>
              <a:t>Referencias para ampliar este tema.</a:t>
            </a:r>
          </a:p>
        </p:txBody>
      </p:sp>
      <p:sp>
        <p:nvSpPr>
          <p:cNvPr id="10" name="">
            <a:extLst xmlns:a="http://schemas.openxmlformats.org/drawingml/2006/main">
              <a:ext uri="{FF2B5EF4-FFF2-40B4-BE49-F238E27FC236}">
                <a16:creationId xmlns:a16="http://schemas.microsoft.com/office/drawing/2014/main" id="{4C6E08B0-D737-4A2D-B1E0-F423BDC6E7FA}"/>
              </a:ext>
            </a:extLst>
          </p:cNvPr>
          <p:cNvSpPr>
            <a:spLocks xmlns:a="http://schemas.openxmlformats.org/drawingml/2006/main" noGrp="1"/>
          </p:cNvSpPr>
          <p:nvPr/>
        </p:nvSpPr>
        <p:spPr>
          <a:xfrm xmlns:a="http://schemas.openxmlformats.org/drawingml/2006/main">
            <a:off x="876300" y="2343150"/>
            <a:ext cx="104394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C7D3D0"/>
            </a:solidFill>
          </a:ln>
        </p:spPr>
      </p:sp>
      <p:sp>
        <p:nvSpPr>
          <p:cNvPr id="11" name="">
            <a:extLst xmlns:a="http://schemas.openxmlformats.org/drawingml/2006/main">
              <a:ext uri="{FF2B5EF4-FFF2-40B4-BE49-F238E27FC236}">
                <a16:creationId xmlns:a16="http://schemas.microsoft.com/office/drawing/2014/main" id="{A64AACE8-CDE0-4C78-9BC1-253348713D4B}"/>
              </a:ext>
            </a:extLst>
          </p:cNvPr>
          <p:cNvSpPr>
            <a:spLocks xmlns:a="http://schemas.openxmlformats.org/drawingml/2006/main" noGrp="1"/>
          </p:cNvSpPr>
          <p:nvPr/>
        </p:nvSpPr>
        <p:spPr>
          <a:xfrm xmlns:a="http://schemas.openxmlformats.org/drawingml/2006/main">
            <a:off x="1047750" y="239077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007C78"/>
                </a:solidFill>
                <a:latin typeface="Arial"/>
                <a:ea typeface="Arial"/>
                <a:cs typeface="Arial"/>
              </a:defRPr>
            </a:pPr>
            <a:r>
              <a:rPr sz="900" b="1">
                <a:solidFill>
                  <a:srgbClr val="007C78"/>
                </a:solidFill>
                <a:latin typeface="Arial"/>
                <a:ea typeface="Arial"/>
                <a:cs typeface="Arial"/>
              </a:rPr>
              <a:t>LIBRO DIGITAL 01</a:t>
            </a:r>
          </a:p>
        </p:txBody>
      </p:sp>
      <p:sp>
        <p:nvSpPr>
          <p:cNvPr id="12" name="">
            <a:extLst xmlns:a="http://schemas.openxmlformats.org/drawingml/2006/main">
              <a:ext uri="{FF2B5EF4-FFF2-40B4-BE49-F238E27FC236}">
                <a16:creationId xmlns:a16="http://schemas.microsoft.com/office/drawing/2014/main" id="{609B7440-8C98-41AF-B8FD-12B6E75FD335}"/>
              </a:ext>
            </a:extLst>
          </p:cNvPr>
          <p:cNvSpPr>
            <a:spLocks xmlns:a="http://schemas.openxmlformats.org/drawingml/2006/main" noGrp="1"/>
          </p:cNvSpPr>
          <p:nvPr/>
        </p:nvSpPr>
        <p:spPr>
          <a:xfrm xmlns:a="http://schemas.openxmlformats.org/drawingml/2006/main">
            <a:off x="1047750" y="26003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B3A"/>
                </a:solidFill>
                <a:latin typeface="Arial"/>
                <a:ea typeface="Arial"/>
                <a:cs typeface="Arial"/>
              </a:defRPr>
            </a:pPr>
            <a:r>
              <a:rPr sz="1200" b="1">
                <a:solidFill>
                  <a:srgbClr val="102B3A"/>
                </a:solidFill>
                <a:latin typeface="Arial"/>
                <a:ea typeface="Arial"/>
                <a:cs typeface="Arial"/>
              </a:rPr>
              <a:t>Writing Effective Use Cases · Alistair Cockburn · 1.ª ed. · 2001</a:t>
            </a:r>
          </a:p>
        </p:txBody>
      </p:sp>
      <p:sp>
        <p:nvSpPr>
          <p:cNvPr id="13" name="">
            <a:extLst xmlns:a="http://schemas.openxmlformats.org/drawingml/2006/main">
              <a:ext uri="{FF2B5EF4-FFF2-40B4-BE49-F238E27FC236}">
                <a16:creationId xmlns:a16="http://schemas.microsoft.com/office/drawing/2014/main" id="{BF7D6C3E-3625-40E2-AB24-73F96CDFD2CD}"/>
              </a:ext>
            </a:extLst>
          </p:cNvPr>
          <p:cNvSpPr>
            <a:spLocks xmlns:a="http://schemas.openxmlformats.org/drawingml/2006/main" noGrp="1"/>
          </p:cNvSpPr>
          <p:nvPr/>
        </p:nvSpPr>
        <p:spPr>
          <a:xfrm xmlns:a="http://schemas.openxmlformats.org/drawingml/2006/main">
            <a:off x="1047750" y="29337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007C78"/>
                </a:solidFill>
                <a:latin typeface="Arial"/>
                <a:ea typeface="Arial"/>
                <a:cs typeface="Arial"/>
              </a:defRPr>
            </a:pPr>
            <a:r>
              <a:rPr sz="750" b="0">
                <a:solidFill>
                  <a:srgbClr val="007C78"/>
                </a:solidFill>
                <a:latin typeface="Arial"/>
                <a:ea typeface="Arial"/>
                <a:cs typeface="Arial"/>
              </a:rPr>
              <a:t>https://www.pearson.com/en-us/subject-catalog/p/writing-effective-use-cases/P200000009217/9780321605801</a:t>
            </a:r>
          </a:p>
        </p:txBody>
      </p:sp>
      <p:sp>
        <p:nvSpPr>
          <p:cNvPr id="14" name="">
            <a:extLst xmlns:a="http://schemas.openxmlformats.org/drawingml/2006/main">
              <a:ext uri="{FF2B5EF4-FFF2-40B4-BE49-F238E27FC236}">
                <a16:creationId xmlns:a16="http://schemas.microsoft.com/office/drawing/2014/main" id="{A4968CDF-5B0A-4635-9854-50105A6E0BC8}"/>
              </a:ext>
            </a:extLst>
          </p:cNvPr>
          <p:cNvSpPr>
            <a:spLocks xmlns:a="http://schemas.openxmlformats.org/drawingml/2006/main" noGrp="1"/>
          </p:cNvSpPr>
          <p:nvPr/>
        </p:nvSpPr>
        <p:spPr>
          <a:xfrm xmlns:a="http://schemas.openxmlformats.org/drawingml/2006/main">
            <a:off x="876300" y="3409950"/>
            <a:ext cx="104394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C7D3D0"/>
            </a:solidFill>
          </a:ln>
        </p:spPr>
      </p:sp>
      <p:sp>
        <p:nvSpPr>
          <p:cNvPr id="15" name="">
            <a:extLst xmlns:a="http://schemas.openxmlformats.org/drawingml/2006/main">
              <a:ext uri="{FF2B5EF4-FFF2-40B4-BE49-F238E27FC236}">
                <a16:creationId xmlns:a16="http://schemas.microsoft.com/office/drawing/2014/main" id="{1EB5B380-CC13-43D3-9BDA-6A2223E7D674}"/>
              </a:ext>
            </a:extLst>
          </p:cNvPr>
          <p:cNvSpPr>
            <a:spLocks xmlns:a="http://schemas.openxmlformats.org/drawingml/2006/main" noGrp="1"/>
          </p:cNvSpPr>
          <p:nvPr/>
        </p:nvSpPr>
        <p:spPr>
          <a:xfrm xmlns:a="http://schemas.openxmlformats.org/drawingml/2006/main">
            <a:off x="1047750" y="345757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007C78"/>
                </a:solidFill>
                <a:latin typeface="Arial"/>
                <a:ea typeface="Arial"/>
                <a:cs typeface="Arial"/>
              </a:defRPr>
            </a:pPr>
            <a:r>
              <a:rPr sz="900" b="1">
                <a:solidFill>
                  <a:srgbClr val="007C78"/>
                </a:solidFill>
                <a:latin typeface="Arial"/>
                <a:ea typeface="Arial"/>
                <a:cs typeface="Arial"/>
              </a:rPr>
              <a:t>LIBRO DIGITAL 02</a:t>
            </a:r>
          </a:p>
        </p:txBody>
      </p:sp>
      <p:sp>
        <p:nvSpPr>
          <p:cNvPr id="16" name="">
            <a:extLst xmlns:a="http://schemas.openxmlformats.org/drawingml/2006/main">
              <a:ext uri="{FF2B5EF4-FFF2-40B4-BE49-F238E27FC236}">
                <a16:creationId xmlns:a16="http://schemas.microsoft.com/office/drawing/2014/main" id="{6FC1C0CC-C6C8-4680-A9A6-BA40A4D45F68}"/>
              </a:ext>
            </a:extLst>
          </p:cNvPr>
          <p:cNvSpPr>
            <a:spLocks xmlns:a="http://schemas.openxmlformats.org/drawingml/2006/main" noGrp="1"/>
          </p:cNvSpPr>
          <p:nvPr/>
        </p:nvSpPr>
        <p:spPr>
          <a:xfrm xmlns:a="http://schemas.openxmlformats.org/drawingml/2006/main">
            <a:off x="1047750" y="36671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22"/>
          </a:bodyPr>
          <a:lstStyle xmlns:a="http://schemas.openxmlformats.org/drawingml/2006/main"/>
          <a:p xmlns:a="http://schemas.openxmlformats.org/drawingml/2006/main">
            <a:pPr algn="l">
              <a:defRPr sz="1200" b="1">
                <a:solidFill>
                  <a:srgbClr val="102B3A"/>
                </a:solidFill>
                <a:latin typeface="Arial"/>
                <a:ea typeface="Arial"/>
                <a:cs typeface="Arial"/>
              </a:defRPr>
            </a:pPr>
            <a:r>
              <a:rPr sz="1200" b="1">
                <a:solidFill>
                  <a:srgbClr val="102B3A"/>
                </a:solidFill>
                <a:latin typeface="Arial"/>
                <a:ea typeface="Arial"/>
                <a:cs typeface="Arial"/>
              </a:rPr>
              <a:t>UML @ Classroom: An Introduction to Object-Oriented Modeling · Martina Seidl, Marion Scholz, Christian Huemer y Gerti Kappel · 1.ª ed. · 2015</a:t>
            </a:r>
          </a:p>
        </p:txBody>
      </p:sp>
      <p:sp>
        <p:nvSpPr>
          <p:cNvPr id="17" name="">
            <a:extLst xmlns:a="http://schemas.openxmlformats.org/drawingml/2006/main">
              <a:ext uri="{FF2B5EF4-FFF2-40B4-BE49-F238E27FC236}">
                <a16:creationId xmlns:a16="http://schemas.microsoft.com/office/drawing/2014/main" id="{1A3FAB0B-4528-4641-A6BA-4FACCEC43F55}"/>
              </a:ext>
            </a:extLst>
          </p:cNvPr>
          <p:cNvSpPr>
            <a:spLocks xmlns:a="http://schemas.openxmlformats.org/drawingml/2006/main" noGrp="1"/>
          </p:cNvSpPr>
          <p:nvPr/>
        </p:nvSpPr>
        <p:spPr>
          <a:xfrm xmlns:a="http://schemas.openxmlformats.org/drawingml/2006/main">
            <a:off x="1047750" y="40005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007C78"/>
                </a:solidFill>
                <a:latin typeface="Arial"/>
                <a:ea typeface="Arial"/>
                <a:cs typeface="Arial"/>
              </a:defRPr>
            </a:pPr>
            <a:r>
              <a:rPr sz="750" b="0">
                <a:solidFill>
                  <a:srgbClr val="007C78"/>
                </a:solidFill>
                <a:latin typeface="Arial"/>
                <a:ea typeface="Arial"/>
                <a:cs typeface="Arial"/>
              </a:rPr>
              <a:t>https://link.springer.com/book/10.1007/978-3-319-12742-2</a:t>
            </a:r>
          </a:p>
        </p:txBody>
      </p:sp>
      <p:sp>
        <p:nvSpPr>
          <p:cNvPr id="18" name="">
            <a:extLst xmlns:a="http://schemas.openxmlformats.org/drawingml/2006/main">
              <a:ext uri="{FF2B5EF4-FFF2-40B4-BE49-F238E27FC236}">
                <a16:creationId xmlns:a16="http://schemas.microsoft.com/office/drawing/2014/main" id="{08E0CCD6-2F1A-4093-8E18-A78F5ABC2BA1}"/>
              </a:ext>
            </a:extLst>
          </p:cNvPr>
          <p:cNvSpPr>
            <a:spLocks xmlns:a="http://schemas.openxmlformats.org/drawingml/2006/main" noGrp="1"/>
          </p:cNvSpPr>
          <p:nvPr/>
        </p:nvSpPr>
        <p:spPr>
          <a:xfrm xmlns:a="http://schemas.openxmlformats.org/drawingml/2006/main">
            <a:off x="876300" y="4476750"/>
            <a:ext cx="104394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C7D3D0"/>
            </a:solidFill>
          </a:ln>
        </p:spPr>
      </p:sp>
      <p:sp>
        <p:nvSpPr>
          <p:cNvPr id="19" name="">
            <a:extLst xmlns:a="http://schemas.openxmlformats.org/drawingml/2006/main">
              <a:ext uri="{FF2B5EF4-FFF2-40B4-BE49-F238E27FC236}">
                <a16:creationId xmlns:a16="http://schemas.microsoft.com/office/drawing/2014/main" id="{971F9ED7-5EBE-4C7C-926B-FB119EFC5B78}"/>
              </a:ext>
            </a:extLst>
          </p:cNvPr>
          <p:cNvSpPr>
            <a:spLocks xmlns:a="http://schemas.openxmlformats.org/drawingml/2006/main" noGrp="1"/>
          </p:cNvSpPr>
          <p:nvPr/>
        </p:nvSpPr>
        <p:spPr>
          <a:xfrm xmlns:a="http://schemas.openxmlformats.org/drawingml/2006/main">
            <a:off x="1047750" y="452437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007C78"/>
                </a:solidFill>
                <a:latin typeface="Arial"/>
                <a:ea typeface="Arial"/>
                <a:cs typeface="Arial"/>
              </a:defRPr>
            </a:pPr>
            <a:r>
              <a:rPr sz="900" b="1">
                <a:solidFill>
                  <a:srgbClr val="007C78"/>
                </a:solidFill>
                <a:latin typeface="Arial"/>
                <a:ea typeface="Arial"/>
                <a:cs typeface="Arial"/>
              </a:rPr>
              <a:t>LIBRO FÍSICO · UPDS</a:t>
            </a:r>
          </a:p>
        </p:txBody>
      </p:sp>
      <p:sp>
        <p:nvSpPr>
          <p:cNvPr id="20" name="">
            <a:extLst xmlns:a="http://schemas.openxmlformats.org/drawingml/2006/main">
              <a:ext uri="{FF2B5EF4-FFF2-40B4-BE49-F238E27FC236}">
                <a16:creationId xmlns:a16="http://schemas.microsoft.com/office/drawing/2014/main" id="{676DEF58-E62D-428D-8597-FD6C4E9487E1}"/>
              </a:ext>
            </a:extLst>
          </p:cNvPr>
          <p:cNvSpPr>
            <a:spLocks xmlns:a="http://schemas.openxmlformats.org/drawingml/2006/main" noGrp="1"/>
          </p:cNvSpPr>
          <p:nvPr/>
        </p:nvSpPr>
        <p:spPr>
          <a:xfrm xmlns:a="http://schemas.openxmlformats.org/drawingml/2006/main">
            <a:off x="1047750" y="47339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B3A"/>
                </a:solidFill>
                <a:latin typeface="Arial"/>
                <a:ea typeface="Arial"/>
                <a:cs typeface="Arial"/>
              </a:defRPr>
            </a:pPr>
            <a:r>
              <a:rPr sz="1200" b="1">
                <a:solidFill>
                  <a:srgbClr val="102B3A"/>
                </a:solidFill>
                <a:latin typeface="Arial"/>
                <a:ea typeface="Arial"/>
                <a:cs typeface="Arial"/>
              </a:rPr>
              <a:t>Análisis y diseño orientado a objetos con UML y Rational Rose · Sergio Matsukawa · Empresa Editora Macro · 2004</a:t>
            </a:r>
          </a:p>
        </p:txBody>
      </p:sp>
      <p:sp>
        <p:nvSpPr>
          <p:cNvPr id="21" name="">
            <a:extLst xmlns:a="http://schemas.openxmlformats.org/drawingml/2006/main">
              <a:ext uri="{FF2B5EF4-FFF2-40B4-BE49-F238E27FC236}">
                <a16:creationId xmlns:a16="http://schemas.microsoft.com/office/drawing/2014/main" id="{8E6A1369-2FA8-4791-83A4-404C0FDBE01F}"/>
              </a:ext>
            </a:extLst>
          </p:cNvPr>
          <p:cNvSpPr>
            <a:spLocks xmlns:a="http://schemas.openxmlformats.org/drawingml/2006/main" noGrp="1"/>
          </p:cNvSpPr>
          <p:nvPr/>
        </p:nvSpPr>
        <p:spPr>
          <a:xfrm xmlns:a="http://schemas.openxmlformats.org/drawingml/2006/main">
            <a:off x="1047750" y="506730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007C78"/>
                </a:solidFill>
                <a:latin typeface="Arial"/>
                <a:ea typeface="Arial"/>
                <a:cs typeface="Arial"/>
              </a:defRPr>
            </a:pPr>
            <a:r>
              <a:rPr sz="750" b="0">
                <a:solidFill>
                  <a:srgbClr val="007C78"/>
                </a:solidFill>
                <a:latin typeface="Arial"/>
                <a:ea typeface="Arial"/>
                <a:cs typeface="Arial"/>
              </a:rPr>
              <a:t>https://biblioteca.upds.edu.bo/biblioteca/index.php?id=2516&amp;lvl=categ_see</a:t>
            </a:r>
          </a:p>
        </p:txBody>
      </p:sp>
      <p:sp>
        <p:nvSpPr>
          <p:cNvPr id="22" name="">
            <a:extLst xmlns:a="http://schemas.openxmlformats.org/drawingml/2006/main">
              <a:ext uri="{FF2B5EF4-FFF2-40B4-BE49-F238E27FC236}">
                <a16:creationId xmlns:a16="http://schemas.microsoft.com/office/drawing/2014/main" id="{38761D7D-E6A8-4454-A18A-EC8684E693E4}"/>
              </a:ext>
            </a:extLst>
          </p:cNvPr>
          <p:cNvSpPr>
            <a:spLocks xmlns:a="http://schemas.openxmlformats.org/drawingml/2006/main" noGrp="1"/>
          </p:cNvSpPr>
          <p:nvPr/>
        </p:nvSpPr>
        <p:spPr>
          <a:xfrm xmlns:a="http://schemas.openxmlformats.org/drawingml/2006/main">
            <a:off x="876300" y="5657850"/>
            <a:ext cx="10439400" cy="400050"/>
          </a:xfrm>
          <a:prstGeom xmlns:a="http://schemas.openxmlformats.org/drawingml/2006/main" prst="roundRect">
            <a:avLst>
              <a:gd name="adj" fmla="val 19048"/>
            </a:avLst>
          </a:prstGeom>
          <a:solidFill xmlns:a="http://schemas.openxmlformats.org/drawingml/2006/main">
            <a:srgbClr val="F4EED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4A57B79-F5B4-4D81-A22C-11FE216AFA38}"/>
              </a:ext>
            </a:extLst>
          </p:cNvPr>
          <p:cNvSpPr>
            <a:spLocks xmlns:a="http://schemas.openxmlformats.org/drawingml/2006/main" noGrp="1"/>
          </p:cNvSpPr>
          <p:nvPr/>
        </p:nvSpPr>
        <p:spPr>
          <a:xfrm xmlns:a="http://schemas.openxmlformats.org/drawingml/2006/main">
            <a:off x="1028700" y="571500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102B3A"/>
                </a:solidFill>
                <a:latin typeface="Arial"/>
                <a:ea typeface="Arial"/>
                <a:cs typeface="Arial"/>
              </a:defRPr>
            </a:pPr>
            <a:r>
              <a:rPr sz="900" b="1">
                <a:solidFill>
                  <a:srgbClr val="102B3A"/>
                </a:solidFill>
                <a:latin typeface="Arial"/>
                <a:ea typeface="Arial"/>
                <a:cs typeface="Arial"/>
              </a:rPr>
              <a:t>El catálogo público no confirma si los libros digitales están incluidos en la licencia UPDS.</a:t>
            </a:r>
          </a:p>
        </p:txBody>
      </p:sp>
    </p:spTree>
    <p:extLst>
      <p:ext uri="{BB962C8B-B14F-4D97-AF65-F5344CB8AC3E}">
        <p14:creationId xmlns:p14="http://schemas.microsoft.com/office/powerpoint/2010/main" val="7656290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2026-10-06T14:16:43.9610000Z</dcterms:created>
  <dcterms:modified xsi:type="dcterms:W3CDTF">2026-10-06T14:16:43.9610000Z</dcterms:modified>
</coreProperties>
</file>