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31dca972e14c0f" /><Relationship Type="http://schemas.openxmlformats.org/officeDocument/2006/relationships/extended-properties" Target="/docProps/app.xml" Id="R1a85d4c048664f54" /><Relationship Type="http://schemas.openxmlformats.org/officeDocument/2006/relationships/officeDocument" Target="/ppt/presentation.xml" Id="Re8fd23e5a985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70feed6ccf46ac"/>
  </p:sldMasterIdLst>
  <p:notesMasterIdLst>
    <p:notesMasterId xmlns:r="http://schemas.openxmlformats.org/officeDocument/2006/relationships" r:id="Rc1130ccc321a4b2c"/>
  </p:notesMasterIdLst>
  <p:sldIdLst>
    <p:sldId xmlns:r="http://schemas.openxmlformats.org/officeDocument/2006/relationships" id="256" r:id="R882baedaf02e4420"/>
    <p:sldId xmlns:r="http://schemas.openxmlformats.org/officeDocument/2006/relationships" id="257" r:id="R27f52fd69c354d5f"/>
    <p:sldId xmlns:r="http://schemas.openxmlformats.org/officeDocument/2006/relationships" id="258" r:id="Rfcbf117904634d9c"/>
    <p:sldId xmlns:r="http://schemas.openxmlformats.org/officeDocument/2006/relationships" id="259" r:id="R2e966307861b479f"/>
    <p:sldId xmlns:r="http://schemas.openxmlformats.org/officeDocument/2006/relationships" id="260" r:id="R32c1b906798941b0"/>
    <p:sldId xmlns:r="http://schemas.openxmlformats.org/officeDocument/2006/relationships" id="261" r:id="R6079154a5cce4a3a"/>
    <p:sldId xmlns:r="http://schemas.openxmlformats.org/officeDocument/2006/relationships" id="262" r:id="R080b414ed0194fcd"/>
    <p:sldId xmlns:r="http://schemas.openxmlformats.org/officeDocument/2006/relationships" id="263" r:id="R31250e7b320d444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e6e2dfc2d24aa7" /><Relationship Type="http://schemas.openxmlformats.org/officeDocument/2006/relationships/slideMaster" Target="/ppt/slideMasters/slideMaster1.xml" Id="Rf470feed6ccf46ac" /><Relationship Type="http://schemas.openxmlformats.org/officeDocument/2006/relationships/notesMaster" Target="/ppt/notesMasters/notesMaster1.xml" Id="Rc1130ccc321a4b2c" /><Relationship Type="http://schemas.openxmlformats.org/officeDocument/2006/relationships/presProps" Target="/ppt/presProps.xml" Id="Rbd763636b54b4ef9" /><Relationship Type="http://schemas.openxmlformats.org/officeDocument/2006/relationships/viewProps" Target="/ppt/viewProps.xml" Id="Rab309ef460e5423a" /><Relationship Type="http://schemas.openxmlformats.org/officeDocument/2006/relationships/tableStyles" Target="/ppt/tableStyles.xml" Id="R13cc91d182c645cf" /><Relationship Type="http://schemas.openxmlformats.org/officeDocument/2006/relationships/slide" Target="/ppt/slides/slide1.xml" Id="R882baedaf02e4420" /><Relationship Type="http://schemas.openxmlformats.org/officeDocument/2006/relationships/slide" Target="/ppt/slides/slide2.xml" Id="R27f52fd69c354d5f" /><Relationship Type="http://schemas.openxmlformats.org/officeDocument/2006/relationships/slide" Target="/ppt/slides/slide3.xml" Id="Rfcbf117904634d9c" /><Relationship Type="http://schemas.openxmlformats.org/officeDocument/2006/relationships/slide" Target="/ppt/slides/slide4.xml" Id="R2e966307861b479f" /><Relationship Type="http://schemas.openxmlformats.org/officeDocument/2006/relationships/slide" Target="/ppt/slides/slide5.xml" Id="R32c1b906798941b0" /><Relationship Type="http://schemas.openxmlformats.org/officeDocument/2006/relationships/slide" Target="/ppt/slides/slide6.xml" Id="R6079154a5cce4a3a" /><Relationship Type="http://schemas.openxmlformats.org/officeDocument/2006/relationships/slide" Target="/ppt/slides/slide7.xml" Id="R080b414ed0194fcd" /><Relationship Type="http://schemas.openxmlformats.org/officeDocument/2006/relationships/slide" Target="/ppt/slides/slide8.xml" Id="R31250e7b320d44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a3888728843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c9509a7bb54970" /><Relationship Type="http://schemas.openxmlformats.org/officeDocument/2006/relationships/notesMaster" Target="/ppt/notesMasters/notesMaster1.xml" Id="R7a93f4c619a049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24ac3da8864443" /><Relationship Type="http://schemas.openxmlformats.org/officeDocument/2006/relationships/notesMaster" Target="/ppt/notesMasters/notesMaster1.xml" Id="Rec145205ec61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f20c5fc5e4c34" /><Relationship Type="http://schemas.openxmlformats.org/officeDocument/2006/relationships/notesMaster" Target="/ppt/notesMasters/notesMaster1.xml" Id="R99f515fbb50a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a02795179b41b9" /><Relationship Type="http://schemas.openxmlformats.org/officeDocument/2006/relationships/notesMaster" Target="/ppt/notesMasters/notesMaster1.xml" Id="Rb931f879f0f34b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7a715b27ae45ad" /><Relationship Type="http://schemas.openxmlformats.org/officeDocument/2006/relationships/notesMaster" Target="/ppt/notesMasters/notesMaster1.xml" Id="Rb76290eaf10f46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d9a38f9f4d4694" /><Relationship Type="http://schemas.openxmlformats.org/officeDocument/2006/relationships/notesMaster" Target="/ppt/notesMasters/notesMaster1.xml" Id="Re3ad1b0e1ef440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a77e4a40449a0" /><Relationship Type="http://schemas.openxmlformats.org/officeDocument/2006/relationships/notesMaster" Target="/ppt/notesMasters/notesMaster1.xml" Id="Rcc3f71a7d6354f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a3061dc88c4317" /><Relationship Type="http://schemas.openxmlformats.org/officeDocument/2006/relationships/notesMaster" Target="/ppt/notesMasters/notesMaster1.xml" Id="Rec250d404dbc4d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6c1f1c98c44af" /><Relationship Type="http://schemas.openxmlformats.org/officeDocument/2006/relationships/image" Target="/ppt/media/image.jpeg" Id="R1131b4c2a9a346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07a2ce68f48dc" /><Relationship Type="http://schemas.openxmlformats.org/officeDocument/2006/relationships/image" Target="/ppt/media/image2.jpeg" Id="R7006793b975142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278438d7c4738" /><Relationship Type="http://schemas.openxmlformats.org/officeDocument/2006/relationships/image" Target="/ppt/media/image3.jpeg" Id="Rcf73a024fe9341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c80ba028d47d4" /><Relationship Type="http://schemas.openxmlformats.org/officeDocument/2006/relationships/image" Target="/ppt/media/image4.jpeg" Id="R435d7ceb80454a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d625aeaa040c7" /><Relationship Type="http://schemas.openxmlformats.org/officeDocument/2006/relationships/image" Target="/ppt/media/image5.jpeg" Id="R904b0794909c4e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a9051124740f0" /><Relationship Type="http://schemas.openxmlformats.org/officeDocument/2006/relationships/image" Target="/ppt/media/image6.jpeg" Id="Rea83e362d1ca42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b4f90c1914076" /><Relationship Type="http://schemas.openxmlformats.org/officeDocument/2006/relationships/image" Target="/ppt/media/image7.jpeg" Id="R6d3681b3431241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affcd659e45b4" /><Relationship Type="http://schemas.openxmlformats.org/officeDocument/2006/relationships/image" Target="/ppt/media/image8.jpeg" Id="R0d759aa90d3846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5062c99824e4c" /><Relationship Type="http://schemas.openxmlformats.org/officeDocument/2006/relationships/image" Target="/ppt/media/image9.jpeg" Id="R70015ad2ca7f4bc8" /></Relationships>
</file>

<file path=ppt/slideLayouts/slideLayout1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1b4c2a9a346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"/>
            <a:ext cx="9144000" cy="685525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12B8F1-4160-4E04-914D-A33D6AC7DFC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85800" y="2493817"/>
            <a:ext cx="7772400" cy="10161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rgbClr val="0085C0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6793b9751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D41DD3A0-38F3-4F77-BD67-466C3FAE3DE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50126" y="2876550"/>
            <a:ext cx="1114698" cy="11049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88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1</a:t>
            </a:r>
            <a:endParaRPr/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3B39E573-16E4-4F97-92BA-D96E24D3C8C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405155" y="2876550"/>
            <a:ext cx="3779416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40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3a024fe9341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0BECF5-C039-4658-8B0C-0FB87821741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402080"/>
            <a:ext cx="8577840" cy="4702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C97890F-A2B9-4AF1-B226-BB52281E52B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872605"/>
            <a:ext cx="7130039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E1A9840E-451D-40E1-BA0E-C89E079DED8A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280410" y="2036693"/>
            <a:ext cx="8618537" cy="4552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d7ceb8045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C248BA-9B20-4991-BBEA-0F984240100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4894217"/>
            <a:ext cx="8577840" cy="166926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4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C50D6A28-B1D6-46B3-AA19-E7F1D698A87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86760" y="914400"/>
            <a:ext cx="8577840" cy="38322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b0794909c4e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5A5DF2-2534-47A6-A046-2C4EB9F723B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201785"/>
            <a:ext cx="8577840" cy="46590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EDD7922F-2709-4068-ABAD-82DCECF02B4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2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8FB72D7-C1E5-4A93-AB85-3275F7E18E5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2140" y="760130"/>
            <a:ext cx="8386109" cy="289818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3" name="Triángulo isósceles 12">
            <a:extLst xmlns:a="http://schemas.openxmlformats.org/drawingml/2006/main">
              <a:ext uri="{FF2B5EF4-FFF2-40B4-BE49-F238E27FC236}">
                <a16:creationId xmlns:a16="http://schemas.microsoft.com/office/drawing/2014/main" id="{07039C43-13A2-4440-A9F2-DBB3A87C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020" y="844174"/>
            <a:ext cx="214509" cy="1217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5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3e362d1ca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9642DB-12A5-4721-8734-7DFBB88A9CA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757647"/>
            <a:ext cx="8577840" cy="51032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67B70623-3210-40C8-A9B5-68E3D3387E8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681b3431241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72A54B38-29AA-4842-A527-F45F09F2D4E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8538" y="-3436"/>
            <a:ext cx="4282676" cy="6876499"/>
          </a:xfrm>
          <a:custGeom xmlns:a="http://schemas.openxmlformats.org/drawingml/2006/main"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>
                <a:highlight>
                  <a:srgbClr val="FFFF00"/>
                </a:highlight>
              </a:defRPr>
            </a:lvl1pPr>
          </a:lstStyle>
          <a:p xmlns:a="http://schemas.openxmlformats.org/drawingml/2006/main">
            <a:r>
              <a:t>IMAGEN AQUI</a:t>
            </a:r>
            <a:endParaRPr/>
          </a:p>
        </p:txBody>
      </p:sp>
      <p:sp>
        <p:nvSpPr>
          <p:cNvPr id="13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E6497FA3-17C8-494B-8220-44D6DF34E52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571998" y="718457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4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398ED0F-53BF-4329-A1C0-51E125E471C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71997" y="1265001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BA1DA5AC-724B-47D2-820E-471BD730300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72000" y="1973263"/>
            <a:ext cx="4238625" cy="45418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00"/>
                </a:solidFill>
              </a:defRPr>
            </a:lvl1pPr>
            <a:lvl2pPr>
              <a:buNone/>
              <a:defRPr>
                <a:solidFill>
                  <a:srgbClr val="000000"/>
                </a:solidFill>
              </a:defRPr>
            </a:lvl2pPr>
            <a:lvl3pPr>
              <a:buNone/>
              <a:defRPr>
                <a:solidFill>
                  <a:srgbClr val="000000"/>
                </a:solidFill>
              </a:defRPr>
            </a:lvl3pPr>
            <a:lvl4pPr>
              <a:buNone/>
              <a:defRPr>
                <a:solidFill>
                  <a:srgbClr val="000000"/>
                </a:solidFill>
              </a:defRPr>
            </a:lvl4pPr>
            <a:lvl5pPr>
              <a:buNone/>
              <a:defRPr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59aa90d38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" y="0"/>
            <a:ext cx="914339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Marcador de posición de imagen 22">
            <a:extLst xmlns:a="http://schemas.openxmlformats.org/drawingml/2006/main">
              <a:ext uri="{FF2B5EF4-FFF2-40B4-BE49-F238E27FC236}">
                <a16:creationId xmlns:a16="http://schemas.microsoft.com/office/drawing/2014/main" id="{A8B1E511-DB15-446D-92C7-87A2F32D256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9526" y="-9526"/>
            <a:ext cx="9144000" cy="6870074"/>
          </a:xfrm>
          <a:custGeom xmlns:a="http://schemas.openxmlformats.org/drawingml/2006/main"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Imagen aquí</a:t>
            </a: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866C4D24-FCBC-42BF-93B2-4F1CCDA69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3699" y="2230520"/>
            <a:ext cx="3276600" cy="23899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15ad2ca7f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F77A28E-5613-481C-9B7F-05EE60BC9C2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91124" y="3015915"/>
            <a:ext cx="6761750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54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¡GRACIAS!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f1eb00a8641e4" /><Relationship Type="http://schemas.openxmlformats.org/officeDocument/2006/relationships/slideLayout" Target="/ppt/slideLayouts/slideLayout1.xml" Id="R49d2ce2bb9ef401f" /><Relationship Type="http://schemas.openxmlformats.org/officeDocument/2006/relationships/slideLayout" Target="/ppt/slideLayouts/slideLayout2.xml" Id="R75e00c4257334f6d" /><Relationship Type="http://schemas.openxmlformats.org/officeDocument/2006/relationships/slideLayout" Target="/ppt/slideLayouts/slideLayout3.xml" Id="Rf892507031784d22" /><Relationship Type="http://schemas.openxmlformats.org/officeDocument/2006/relationships/slideLayout" Target="/ppt/slideLayouts/slideLayout4.xml" Id="R2c44670fbc9f4ac5" /><Relationship Type="http://schemas.openxmlformats.org/officeDocument/2006/relationships/slideLayout" Target="/ppt/slideLayouts/slideLayout5.xml" Id="Rba68b02f3be44839" /><Relationship Type="http://schemas.openxmlformats.org/officeDocument/2006/relationships/slideLayout" Target="/ppt/slideLayouts/slideLayout6.xml" Id="Ra36b8e9da0c7460b" /><Relationship Type="http://schemas.openxmlformats.org/officeDocument/2006/relationships/slideLayout" Target="/ppt/slideLayouts/slideLayout7.xml" Id="R36c5c53a1f3f44fb" /><Relationship Type="http://schemas.openxmlformats.org/officeDocument/2006/relationships/slideLayout" Target="/ppt/slideLayouts/slideLayout8.xml" Id="R88734b88918042fd" /><Relationship Type="http://schemas.openxmlformats.org/officeDocument/2006/relationships/slideLayout" Target="/ppt/slideLayouts/slideLayout9.xml" Id="R08708806c23d47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DBEC2B0-72BC-4C12-BAEA-10E4C460C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572D95-C99A-4B64-8E68-92F21EE0CE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725E53-0F8B-430F-A417-4002981246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475B63D-E972-45BF-A693-820FC9EC888F}" type="datetimeFigureOut">
              <a:t>05/10/2026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EF92CD-2A5E-4F82-9866-38B0F7E1F3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C394AB-1F43-4890-BE82-58275EA5AA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1181F41-F723-4400-B87F-3A7D3AC75E0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d2ce2bb9ef401f"/>
    <p:sldLayoutId xmlns:r="http://schemas.openxmlformats.org/officeDocument/2006/relationships" id="2147483650" r:id="R75e00c4257334f6d"/>
    <p:sldLayoutId xmlns:r="http://schemas.openxmlformats.org/officeDocument/2006/relationships" id="2147483651" r:id="Rf892507031784d22"/>
    <p:sldLayoutId xmlns:r="http://schemas.openxmlformats.org/officeDocument/2006/relationships" id="2147483652" r:id="R2c44670fbc9f4ac5"/>
    <p:sldLayoutId xmlns:r="http://schemas.openxmlformats.org/officeDocument/2006/relationships" id="2147483653" r:id="Rba68b02f3be44839"/>
    <p:sldLayoutId xmlns:r="http://schemas.openxmlformats.org/officeDocument/2006/relationships" id="2147483654" r:id="Ra36b8e9da0c7460b"/>
    <p:sldLayoutId xmlns:r="http://schemas.openxmlformats.org/officeDocument/2006/relationships" id="2147483655" r:id="R36c5c53a1f3f44fb"/>
    <p:sldLayoutId xmlns:r="http://schemas.openxmlformats.org/officeDocument/2006/relationships" id="2147483656" r:id="R88734b88918042fd"/>
    <p:sldLayoutId xmlns:r="http://schemas.openxmlformats.org/officeDocument/2006/relationships" id="2147483657" r:id="R08708806c23d474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49f92f4a914f65" /><Relationship Type="http://schemas.openxmlformats.org/officeDocument/2006/relationships/image" Target="/ppt/media/image10.jpeg" Id="Rdfaa5f17c0474015" /><Relationship Type="http://schemas.openxmlformats.org/officeDocument/2006/relationships/notesSlide" Target="/ppt/notesSlides/notesSlide1.xml" Id="Rb04a8bd24f5d41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12a793c814ee6" /><Relationship Type="http://schemas.openxmlformats.org/officeDocument/2006/relationships/notesSlide" Target="/ppt/notesSlides/notesSlide2.xml" Id="R1450594cad6045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e0c9a60a84cd5" /><Relationship Type="http://schemas.openxmlformats.org/officeDocument/2006/relationships/notesSlide" Target="/ppt/notesSlides/notesSlide3.xml" Id="R06c4f74c67c740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ad2318be64573" /><Relationship Type="http://schemas.openxmlformats.org/officeDocument/2006/relationships/notesSlide" Target="/ppt/notesSlides/notesSlide4.xml" Id="Re2ac9f68fdc9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2e100eb1646d9" /><Relationship Type="http://schemas.openxmlformats.org/officeDocument/2006/relationships/hyperlink" Target="https://biblioteca.upds.edu.bo/" TargetMode="External" Id="R28bcdda789804fee" /><Relationship Type="http://schemas.openxmlformats.org/officeDocument/2006/relationships/notesSlide" Target="/ppt/notesSlides/notesSlide5.xml" Id="Rbaad8b4a8ba3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6d88b9bb8449f" /><Relationship Type="http://schemas.openxmlformats.org/officeDocument/2006/relationships/notesSlide" Target="/ppt/notesSlides/notesSlide6.xml" Id="R97e396e13d054e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b6e5b61694402" /><Relationship Type="http://schemas.openxmlformats.org/officeDocument/2006/relationships/notesSlide" Target="/ppt/notesSlides/notesSlide7.xml" Id="Rc283ad3eacff49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66fff3a064fb4" /><Relationship Type="http://schemas.openxmlformats.org/officeDocument/2006/relationships/hyperlink" Target="https://dspace.scz.ucb.edu.bo/dspace/handle/123456789/1392" TargetMode="External" Id="Rc0ea4e6bfa3840a1" /><Relationship Type="http://schemas.openxmlformats.org/officeDocument/2006/relationships/hyperlink" Target="https://dspace.scz.ucb.edu.bo/dspace/handle/123456789/1178" TargetMode="External" Id="R12933612b11c4aac" /><Relationship Type="http://schemas.openxmlformats.org/officeDocument/2006/relationships/hyperlink" Target="https://biblioteca.upds.edu.bo/biblioteca/index.php?id=2516&amp;lvl=categ_see" TargetMode="External" Id="Racc1dfe255dc4ee3" /><Relationship Type="http://schemas.openxmlformats.org/officeDocument/2006/relationships/image" Target="/ppt/media/image11.jpeg" Id="R66def4bb22f04591" /><Relationship Type="http://schemas.openxmlformats.org/officeDocument/2006/relationships/notesSlide" Target="/ppt/notesSlides/notesSlide8.xml" Id="R7825922066cb42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D385CED-EFDF-4BC7-BA01-A50E02F1936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13F9FE-90B9-466A-A060-FB1E6563A6E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A7DC06C-2C75-42AF-95A0-A2248860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8912"/>
            <a:ext cx="5989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2303C"/>
                </a:solidFill>
              </a:rPr>
              <a:t>ACTIVIDAD 1 · TEMA 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7FE00F5-5B10-40B1-96C5-6CF467C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68096"/>
            <a:ext cx="59893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ACTORES Y CASOS DE USO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27E8149-056E-4FC1-BF2F-3D83A7FE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90472"/>
            <a:ext cx="5989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6A0DD45-93B7-492E-B2E2-50DC0FC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474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/>
              <a:t>INTEGRANTES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5FE136D-DB1C-4782-86D4-50D8077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3347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Ashley Aguilar Perez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F562C11-E8FA-4ABF-B709-80890AA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54096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Nicolas Soria Yabeta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B6F0678-642D-4A91-8D3E-EC8D88C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74720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Erick Bravo Borges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0002A20-2B83-47ED-8A56-9E9017CF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95344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Jose Manuel Callecusi Guarachi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8742A2-6937-459A-BC9E-360A87F1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15968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Ruben Churqui Limachi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72AD445-3920-4832-94D3-A49A0B01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23560"/>
            <a:ext cx="5989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34" name="Foto grupal · orientación corregid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a5f17c0474015"/>
          <a:stretch xmlns:a="http://schemas.openxmlformats.org/drawingml/2006/main"/>
        </p:blipFill>
        <p:spPr>
          <a:xfrm xmlns:a="http://schemas.openxmlformats.org/drawingml/2006/main" rot="0">
            <a:off x="609600" y="1943100"/>
            <a:ext cx="34290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01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A75A166-99BB-4536-9F20-24D6FFD235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E51F736-9C7D-4D8B-8EBC-17381262E14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FD03A4-8F1C-4E42-949B-DAE54888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 actor representa un rol externo con un objetivo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312765-004D-4394-84AA-3409CF25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ACTORES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00ECFD-0922-40FF-8D5C-4544B7B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LÍMITE DEL SISTEMA Y METAS OBSERVABLES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DADAF5-1771-4198-96C6-7BD7411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755648"/>
            <a:ext cx="5888736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416CB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8E91AB6-5CF3-471B-BCCD-65004301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1481328"/>
            <a:ext cx="5394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SISTEMA DE BIBLIOTECA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C3838BA-6E7B-4A1D-B838-E98DD51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5840" y="2377440"/>
            <a:ext cx="1755648" cy="21031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5866AED-7A59-474A-953C-19B32D3C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940296" y="2377440"/>
            <a:ext cx="1664208" cy="21031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D795694-78B9-46F7-9E29-0767B35E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55648" cy="1527048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A4ED8E86-E3D1-44C5-8DBB-059922D8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40296" y="2587752"/>
            <a:ext cx="1664208" cy="1527048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290C6F45-4BA6-48CA-80BE-D16FE9F1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057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69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2E07299D-62F8-4F0E-B6F1-5C253BD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13432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7897018-B5BE-4F01-A8EF-8DAA0BC1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523744"/>
            <a:ext cx="65836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DA0B3624-4DFD-44A6-910E-A9FAA6E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04088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6BED8DAC-463F-4AAB-9F18-B9EBD267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850AC11-51DF-4EA6-A679-3135657F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3264408"/>
            <a:ext cx="13258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Usuario lector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05466D91-EE7F-4325-ADB8-E16DF560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057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69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C8774ECD-BEBA-4F16-98D4-5CCE3B86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2313432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C7832925-F13F-4D04-AAA1-727ACC54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23744"/>
            <a:ext cx="65836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3C1211FB-0152-4326-A940-2B9352A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02752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E88A416A-B378-4FDF-9AF1-3E5FCE0F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F59C269-318B-48FD-B3D4-3A47C56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4408"/>
            <a:ext cx="1005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Personal bibliotecario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F2F0DAF-EA34-49B0-B2A1-4D64F6FA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1938528"/>
            <a:ext cx="1874519" cy="8778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A42170F-C39C-4EA6-8483-A687D267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938528"/>
            <a:ext cx="1764791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Consultar catálogo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BC08D62-27CB-499A-83BF-8F49BEB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1938528"/>
            <a:ext cx="1874519" cy="8778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0746A07-917A-4148-A9E5-BDBD7662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938528"/>
            <a:ext cx="1764791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Solicitar reserva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A7D2320-19FA-4646-A4F5-8053797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675887"/>
            <a:ext cx="1874519" cy="8778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5883218-F703-4D8C-A9DA-00CA6E6C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675887"/>
            <a:ext cx="1764791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Registrar préstamo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4C624A23-EFAB-45FE-9617-2C73BFD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3675887"/>
            <a:ext cx="1874519" cy="8778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730F073-C8A8-4FC1-954A-2FF60A8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675887"/>
            <a:ext cx="1764791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Emitir reportes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2C73CF25-527F-4509-8249-7369B54D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5FAFE49-8D74-444C-91A5-6441014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lector consulta o reserva; el personal registra préstamos y emite reportes. Cada actor representa un rol, no una persona concreta.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1BAAF02-AAB8-415E-B3FA-9D1DB8D0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 · Casos de uso de una biblioteca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827690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C44FC17-15C6-498D-A85A-E207913D7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178AEE-0793-466B-A871-95DDDD93AA5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89D2A7-AEBA-4DDD-8D3E-D77787EE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 frontera del sistema separa actores y servicios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5D7CAB-AA22-4FE9-B6F3-936B4B94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ALCANCE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047DD1-3B62-4FBA-B1EA-31065B2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EL MODELO ACLARA QUÉ OFRECE EL SOFTWARE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244767-9306-4F64-AD08-2004F593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536192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ENTORNO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2D2C05C-ED19-4426-80AA-BF7BF0C0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1536192"/>
            <a:ext cx="3337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SISTEMA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7D88EA-A8A6-4366-94F7-55C3AE29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11680"/>
            <a:ext cx="3310128" cy="215798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1773A6D-AC16-4ECD-B9E0-CCE82632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11680"/>
            <a:ext cx="3310128" cy="215798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100D502-A51A-4502-B4E0-2E6011A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51760"/>
            <a:ext cx="2423160" cy="78638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374A56-AB80-45A1-A3CD-328AA44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651760"/>
            <a:ext cx="231343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Actor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rol que inicia o participa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2951E3C-891D-4378-857D-DA9E647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651760"/>
            <a:ext cx="2423160" cy="78638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5BCEA00-AA6E-4DE5-9B36-B8033E6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1" y="2651760"/>
            <a:ext cx="231343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Caso de uso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resultado observable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5B7C9DA5-AAE3-4581-9DFA-88C255A8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1" y="3090672"/>
            <a:ext cx="877825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</a:ln>
        </p:spPr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1CC8C2C-AD88-4339-9694-41F88BF5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3408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INTERACCIÓN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64B318-6762-4D86-BD79-5F51BD17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98848"/>
            <a:ext cx="7360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 frontera delimita lo que realiza el software. Los actores permanecen fuera y se relacionan con sus servicios.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ADD6D8B-86F5-478F-81ED-C043721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Object Management Group, UML 2.5.1, cláusula 18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8962176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00D3A8A6-317D-46A5-ABD7-C19A7E072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9942CE-E985-4703-B11B-1D4E8F993DA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284A8D-E2EA-40FF-A60B-FC1CBF8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Include y extend expresan relaciones con significados distintos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4FCE784-1F34-4E74-9270-47576C3D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UML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C339138-2E5C-4F7C-81C3-12A6710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DIRECCIÓN Y CONDICIÓN CAMBIAN LA LECTURA DEL MODELO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F4971F3-F07E-4798-B4E0-E46EFD14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962656" y="2779776"/>
            <a:ext cx="4937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prstDash val="dash"/>
            <a:tailEnd type="triangle" w="med" len="med"/>
          </a:ln>
        </p:spPr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7A094B3A-447F-404A-81E5-29D915EE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24144" y="2779776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5A9"/>
            </a:solidFill>
            <a:prstDash val="dash"/>
            <a:tailEnd type="triangle" w="med" len="med"/>
          </a:ln>
        </p:spPr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24327D-CCDE-449D-908E-E2FB8226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938528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«include»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4137AA-AA66-4DDD-A9B1-0D16F25D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938528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«extend»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84C0E67-009E-4B67-B83B-111F83B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2194560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8B3EE49-4863-40CF-B7D2-495A28AF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86000"/>
            <a:ext cx="2084831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Validar solicitud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comportamiento requerido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F1A2A43-EE24-413C-9BC3-7B3792C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286000"/>
            <a:ext cx="2194560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3F0DE4-3F71-4D05-BCCD-FF9108EE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286000"/>
            <a:ext cx="2084831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Registrar préstamo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caso base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150CB10-60C1-4B1F-B4CF-1A9C3646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194560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522193D-3FB3-4A05-8F60-52F5275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286000"/>
            <a:ext cx="2084831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Aplicar excepción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amplía bajo condición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466A4BF-A9E9-47DA-8BF2-4722F029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B197D8-A161-49FD-8FF2-9470E8F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42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«include» ejecuta una conducta obligatoria; «extend» agrega una conducta opcional bajo condición.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BFE444C-DFAB-41D0-9C71-990A04D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 · Diagrama esquemático de notación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9198028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9C407C0-11B4-4048-8CEA-B8D6A36163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644589-D1C0-4F60-8229-961FEFE8119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B8B895-36E4-49AF-B949-E2D6C5B2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Casos de uso del catálogo público UPDS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A2092C-85BD-4AA1-80F8-E8C5BB35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UPDS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F1D918A-7BE6-4399-BE57-FC24A6A3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INTERACCIONES VISIBLES EN EL CATÁLOGO PÚBLICO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442D9F-0500-4A74-A838-7710A0E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1773936"/>
            <a:ext cx="6144768" cy="324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416CB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6AB2891-0A72-481C-985D-0192B196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472184"/>
            <a:ext cx="56692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CATÁLOGO PÚBLICO DE BIBLIOTECA UPDS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E31A7F09-399F-4F30-A090-5876E28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7552" y="2542032"/>
            <a:ext cx="1417320" cy="4572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D9FE0A8-DBEF-49C5-9A12-ECD435A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406640" y="2542032"/>
            <a:ext cx="1014984" cy="4572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60161504-3935-4DE6-87CD-2901B8FE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87752"/>
            <a:ext cx="1417320" cy="1673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AE9A9D96-0359-4FA5-98F5-95909A19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87752"/>
            <a:ext cx="768096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ECF2762D-577F-4E40-9C58-05F6E37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587752"/>
            <a:ext cx="0" cy="2295144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4600716-788D-450E-AA57-BE557BC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882896"/>
            <a:ext cx="4572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E072D41B-E314-4AED-BC32-1981CE58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27648" y="4791456"/>
            <a:ext cx="0" cy="9144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4546A"/>
            </a:solidFill>
          </a:ln>
        </p:spPr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A3A0B86B-9DA4-482D-BAA8-A7CA183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57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69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69CA2A07-2872-4ED4-89D3-6593B3D6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13432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24CF4E8E-5822-4AAB-8E09-4C4A2A0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23744"/>
            <a:ext cx="65836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E91FBCD-3E60-4519-864C-5C0268F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5800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3479969-24B9-46A9-96B0-D16D64F3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3C3EB4F-ECA8-4D3E-BA0C-976FAA16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264408"/>
            <a:ext cx="12618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Visitante del catálogo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E46A96CB-A252-4880-9B9A-235DECD6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57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69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BFA27C8B-93A2-465D-BE54-428EAD1C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313432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40F35AC9-B8E6-4CAD-BF15-3BCBF1F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523744"/>
            <a:ext cx="65836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78BC6F76-A09C-4FF2-B5EC-1F07C35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19872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1A06260A-5B33-494E-B521-68887116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2843784"/>
            <a:ext cx="301752" cy="35661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D4696"/>
            </a:solidFill>
          </a:ln>
        </p:spPr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9EFF668-9E7C-466C-AB88-B988E3F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64408"/>
            <a:ext cx="1188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Visitante que reserva*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7C7AE450-32FB-4606-B6C6-05EC5FF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2157984" cy="10607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8B535FC-C51B-426C-A3B5-FF0B5443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011680"/>
            <a:ext cx="2048255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Buscar registros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7694FC5-C95A-4EC8-8323-B9898073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011680"/>
            <a:ext cx="2157984" cy="10607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E41835D-B2A3-459C-845F-E131C89C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11680"/>
            <a:ext cx="2048255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Consultar ficha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1BFB3470-09AD-4877-A8A3-A7A6C2FB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30752"/>
            <a:ext cx="2157984" cy="10607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62E68F6-46A4-4885-9956-1CF8B5E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3730752"/>
            <a:ext cx="2048255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Revisar ejemplares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516CA2C-AF48-4DD1-940C-267C1B6F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730752"/>
            <a:ext cx="2157984" cy="10607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4604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252D378-0A9F-40D1-BFCD-7810262B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730752"/>
            <a:ext cx="2048255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Consultar disponibilidad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71931E9-E9DF-4C02-B420-4F1D608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76955BD-F28F-4335-98CE-7CC9A396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42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modelo representa interacciones públicas del catálogo. Los procesos internos de biblioteca quedan fuera del alcance.</a:t>
            </a:r>
          </a:p>
        </p:txBody>
      </p:sp>
      <p:sp>
        <p:nvSpPr>
          <p:cNvPr id="38" name="TextBox 37">
            <a:hlinkClick xmlns:r="http://schemas.openxmlformats.org/officeDocument/2006/relationships" xmlns:a="http://schemas.openxmlformats.org/drawingml/2006/main" r:id="R28bcdda789804fee"/>
            <a:extLst xmlns:a="http://schemas.openxmlformats.org/drawingml/2006/main">
              <a:ext uri="{FF2B5EF4-FFF2-40B4-BE49-F238E27FC236}">
                <a16:creationId xmlns:a16="http://schemas.microsoft.com/office/drawing/2014/main" id="{3439885B-734A-4A87-95B4-0215369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38928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Abrir catálogo público UPDS ↗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90229FC-DFAD-4923-9D35-8B2F0972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funciones observables en sus registros · modelo propuesto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988563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C5EFCE8A-1C47-4607-AD6C-7D92EFC89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6B6C9C-AD6E-41B0-9CC3-562AED5D48F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8503BFD-FBD5-4DA1-B761-1DC3BFF4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flujo textual desarrolla el comportamiento del caso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92A608-BA66-4376-819A-D2A86E38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FLUJO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99951D5-8504-49C0-940F-6110E1F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UNA SECUENCIA DE INTERACCIÓN COMPLEMENTA EL DIAGRAMA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9FF4EDD-F246-4940-AD95-8B5601F5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17904"/>
            <a:ext cx="2377440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4F518B-D4AC-4524-8F25-F8659BC3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737360"/>
            <a:ext cx="20482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1 · ACTOR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9DA5BC-5552-4D50-9E60-2D55A0D5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084831"/>
            <a:ext cx="20482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plantea el objetivo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del caso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DBF219D-9A8E-489B-9442-19661E1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517904"/>
            <a:ext cx="2377440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37665AF-1EC7-4DA7-810B-69578E83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0482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2 · PRECONDICIÓN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E919D9-A3FF-48F0-8655-ED34CE0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84831"/>
            <a:ext cx="20482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condición necesaria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antes de empezar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3B033F8-9A0A-41D8-8530-C8441B50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517904"/>
            <a:ext cx="2377440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64BB48-DA70-4A05-8B38-1486900E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1737360"/>
            <a:ext cx="20482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3 · FLUJO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6213C2F-8895-41BC-B231-5CA44A2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2084831"/>
            <a:ext cx="20482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acciones y respuestas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del sistema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0D4D8FC-1736-4C5C-8CC5-68D26663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419856"/>
            <a:ext cx="2377440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BA13A08-2D86-490C-B1EC-803CB97E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3639312"/>
            <a:ext cx="20482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4 · ALTERNATIVA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7C9CD5A-61F2-41BC-AD4A-7E092ED2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3986784"/>
            <a:ext cx="20482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excepción o ruta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condicional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762C1DE-FFE9-4FA8-9A02-4CEBE7F6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419856"/>
            <a:ext cx="2377440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B2EB741-9F54-4C24-AD38-A458BADD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639312"/>
            <a:ext cx="204825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5 · RESULTADO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46DBFFF-2271-4996-A804-FFA7F32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986784"/>
            <a:ext cx="20482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estado alcanzado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al finalizar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AFC5887-F9B9-4303-B82A-89951A1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E714A0-FAF2-4350-BED5-89B2F50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caso de uso nombra el resultado de valor; su flujo detalla cómo actor y sistema llegan a ese resultado.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07974C3-08DD-4B36-A8FB-1B6E3AB3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 · Bibliografía digital UCB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8157230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5A507DD-FE9C-4DFD-AE92-9F7E96E4C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9C09CF-1B7C-44F4-8053-1C41892D6D5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1EAE57-F60C-4B21-BA88-15A53536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Cada elemento del diagrama responde una pregunta del análisis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6EC14B-F65A-49D4-8ADA-C0D5B90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LECTURA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1AEF54-07C0-495A-81B0-57B2CC9D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ACTOR · CASO DE USO · FRONTERA · ASOCIACIÓN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E33A88D-F294-4803-885C-1BD928FA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54480"/>
            <a:ext cx="3730752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6A2EF0A-CBBE-46EB-9009-51FC456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73936"/>
            <a:ext cx="33649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ACTOR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4508A7-4FEB-4F70-9BDE-B2E5AAE8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67128"/>
            <a:ext cx="33649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Rol externo que usa o interactúa con el sistema.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CCC5551-3763-4006-9439-8C9F883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554480"/>
            <a:ext cx="3730752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1446C7D-1EC3-4EE9-82FD-B1E308A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1773936"/>
            <a:ext cx="33649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CASO DE USO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7B230A-3C08-4AAE-8847-97499F91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167128"/>
            <a:ext cx="33649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Servicio que entrega un resultado de valor al actor.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BD6B67A-1D5A-465D-A2BE-45834436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10128"/>
            <a:ext cx="3730752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C46A0CB-CBAF-4DEB-B127-97F47A38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29584"/>
            <a:ext cx="33649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FRONTERA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83C7386-5306-4186-9EDD-04DF8EA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22776"/>
            <a:ext cx="33649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Delimita las funciones que pertenecen al software.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B835A80-16F9-4CCE-ABEF-C2EBF63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310128"/>
            <a:ext cx="3730752" cy="12801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269CF8-753D-49C7-9893-A712F5C4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529584"/>
            <a:ext cx="336499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ASOCIACIÓN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A78E83-3CB0-4293-8613-B71F0A06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22776"/>
            <a:ext cx="33649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Vínculo que indica quién participa en una función.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9319CD3-2BA1-43AD-ACFD-AE8FD4AE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 · Integrar UML en los proyectos, UCB Santa Cruz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81511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AF45B79-1945-4866-9EAC-554C842265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E21B97-09F8-4C3A-94B4-C1DEB167508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87F323-F25D-4819-B417-CE9893E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50AD33-536A-46F7-90A9-C74D5BA7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TEMA 02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6268FF-EDEA-43B7-AD27-FDD14DE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Referencias para profundizar · Actores y casos de uso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FC66C0-7A2D-4912-88D5-D594D82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017DA48-1B08-4BB0-9034-23806BC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80160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DIGITAL · BIBLIOTECA UCB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E01CA4-A978-4E76-BD4F-58C936E8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7048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Integrar UML en los proyectos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A8F0B4-1158-4E82-B6C9-396FE7B4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74519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xmlns:r="http://schemas.openxmlformats.org/officeDocument/2006/relationships" xmlns:a="http://schemas.openxmlformats.org/drawingml/2006/main" r:id="Rc0ea4e6bfa3840a1"/>
            <a:extLst xmlns:a="http://schemas.openxmlformats.org/drawingml/2006/main">
              <a:ext uri="{FF2B5EF4-FFF2-40B4-BE49-F238E27FC236}">
                <a16:creationId xmlns:a16="http://schemas.microsoft.com/office/drawing/2014/main" id="{5D63DFBD-EBD8-4A1A-BAF9-F98F7E19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57984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Ver libro digital 1 ↗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E9C2B8E-071D-4AD2-AA35-E8EECF7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8F1BA3-2200-461A-95ED-6332D04E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DIGITAL · BIBLIOTECA UCB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CADEEC-50BC-41FB-AB0E-1D84FCD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16936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proceso unificado de desarrollo de software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19CF23-419B-4DB4-90A7-1CC2A69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64408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xmlns:r="http://schemas.openxmlformats.org/officeDocument/2006/relationships" xmlns:a="http://schemas.openxmlformats.org/drawingml/2006/main" r:id="R12933612b11c4aac"/>
            <a:extLst xmlns:a="http://schemas.openxmlformats.org/drawingml/2006/main">
              <a:ext uri="{FF2B5EF4-FFF2-40B4-BE49-F238E27FC236}">
                <a16:creationId xmlns:a16="http://schemas.microsoft.com/office/drawing/2014/main" id="{8935A348-1B21-4E86-A2D7-61DA647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Ver libro digital 2 ↗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2F057E2-4200-4B6B-8423-774AAA5F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0208"/>
            <a:ext cx="8010144" cy="1645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25848D7-9630-46C6-BCF4-AD6F3275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IMPRESO · EJEMPLAR CONSULTADO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6C7DD9-BC3E-4F05-BDB3-63FF80BC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06824"/>
            <a:ext cx="6355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UML con Rational Rose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8B5440-E23F-4B22-8B29-66582356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6355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Gesvin Romero Moreno · Grupo Editorial Megabyte · 1.ª ed., 2004 · pp. 18–19</a:t>
            </a:r>
          </a:p>
        </p:txBody>
      </p:sp>
      <p:sp>
        <p:nvSpPr>
          <p:cNvPr id="21" name="TextBox 20">
            <a:hlinkClick xmlns:r="http://schemas.openxmlformats.org/officeDocument/2006/relationships" xmlns:a="http://schemas.openxmlformats.org/drawingml/2006/main" r:id="Racc1dfe255dc4ee3"/>
            <a:extLst xmlns:a="http://schemas.openxmlformats.org/drawingml/2006/main">
              <a:ext uri="{FF2B5EF4-FFF2-40B4-BE49-F238E27FC236}">
                <a16:creationId xmlns:a16="http://schemas.microsoft.com/office/drawing/2014/main" id="{508639A4-3F3F-4EA2-BBB1-23B785A9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37760"/>
            <a:ext cx="2286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Consultar ficha bibliográfica ↗</a:t>
            </a:r>
          </a:p>
        </p:txBody>
      </p:sp>
      <p:pic>
        <p:nvPicPr>
          <p:cNvPr id="43" name="Foto del libro impreso · tema 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ef4bb22f04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08" y="4014215"/>
            <a:ext cx="1097280" cy="1463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45661"/>
      </p:ext>
    </p:extLst>
  </p:cSld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2026-10-07T13:54:11.9610000Z</dcterms:created>
  <dcterms:modified xsi:type="dcterms:W3CDTF">2026-10-07T13:54:11.9610000Z</dcterms:modified>
</coreProperties>
</file>