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e79ad65b81451b" /><Relationship Type="http://schemas.openxmlformats.org/officeDocument/2006/relationships/extended-properties" Target="/docProps/app.xml" Id="R6a6ec709244c4324" /><Relationship Type="http://schemas.openxmlformats.org/officeDocument/2006/relationships/officeDocument" Target="/ppt/presentation.xml" Id="Rc8cf016c4aa14afc" /></Relationships>
</file>

<file path=ppt/presentation.xml><?xml version="1.0" encoding="utf-8"?>
<p:presentation xmlns:p="http://schemas.openxmlformats.org/presentationml/2006/main">
  <p:sldMasterIdLst>
    <p:sldMasterId xmlns:r="http://schemas.openxmlformats.org/officeDocument/2006/relationships" id="2147483648" r:id="R35fbf75d31eb4983"/>
  </p:sldMasterIdLst>
  <p:notesMasterIdLst>
    <p:notesMasterId xmlns:r="http://schemas.openxmlformats.org/officeDocument/2006/relationships" r:id="R4cb770aab00a4493"/>
  </p:notesMasterIdLst>
  <p:sldIdLst>
    <p:sldId xmlns:r="http://schemas.openxmlformats.org/officeDocument/2006/relationships" id="256" r:id="R23955ac8371f4bae"/>
    <p:sldId xmlns:r="http://schemas.openxmlformats.org/officeDocument/2006/relationships" id="257" r:id="R878759933c494473"/>
    <p:sldId xmlns:r="http://schemas.openxmlformats.org/officeDocument/2006/relationships" id="258" r:id="R872cb7249bda473d"/>
    <p:sldId xmlns:r="http://schemas.openxmlformats.org/officeDocument/2006/relationships" id="259" r:id="Rb8677e2c76c74d4e"/>
    <p:sldId xmlns:r="http://schemas.openxmlformats.org/officeDocument/2006/relationships" id="260" r:id="Rd7e77b5240f94054"/>
    <p:sldId xmlns:r="http://schemas.openxmlformats.org/officeDocument/2006/relationships" id="261" r:id="Ra606c07317854d7a"/>
    <p:sldId xmlns:r="http://schemas.openxmlformats.org/officeDocument/2006/relationships" id="262" r:id="Ra1746bbf85c34b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5eed80e5ff41db" /><Relationship Type="http://schemas.openxmlformats.org/officeDocument/2006/relationships/slideMaster" Target="/ppt/slideMasters/slideMaster1.xml" Id="R35fbf75d31eb4983" /><Relationship Type="http://schemas.openxmlformats.org/officeDocument/2006/relationships/notesMaster" Target="/ppt/notesMasters/notesMaster1.xml" Id="R4cb770aab00a4493" /><Relationship Type="http://schemas.openxmlformats.org/officeDocument/2006/relationships/presProps" Target="/ppt/presProps.xml" Id="R5c3171708b804ad7" /><Relationship Type="http://schemas.openxmlformats.org/officeDocument/2006/relationships/tableStyles" Target="/ppt/tableStyles.xml" Id="Refd85de93e1f44eb" /><Relationship Type="http://schemas.openxmlformats.org/officeDocument/2006/relationships/slide" Target="/ppt/slides/slide1.xml" Id="R23955ac8371f4bae" /><Relationship Type="http://schemas.openxmlformats.org/officeDocument/2006/relationships/slide" Target="/ppt/slides/slide2.xml" Id="R878759933c494473" /><Relationship Type="http://schemas.openxmlformats.org/officeDocument/2006/relationships/slide" Target="/ppt/slides/slide3.xml" Id="R872cb7249bda473d" /><Relationship Type="http://schemas.openxmlformats.org/officeDocument/2006/relationships/slide" Target="/ppt/slides/slide4.xml" Id="Rb8677e2c76c74d4e" /><Relationship Type="http://schemas.openxmlformats.org/officeDocument/2006/relationships/slide" Target="/ppt/slides/slide5.xml" Id="Rd7e77b5240f94054" /><Relationship Type="http://schemas.openxmlformats.org/officeDocument/2006/relationships/slide" Target="/ppt/slides/slide6.xml" Id="Ra606c07317854d7a" /><Relationship Type="http://schemas.openxmlformats.org/officeDocument/2006/relationships/slide" Target="/ppt/slides/slide7.xml" Id="Ra1746bbf85c34b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e4f889ff8b4d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22d50b20e3476e" /><Relationship Type="http://schemas.openxmlformats.org/officeDocument/2006/relationships/notesMaster" Target="/ppt/notesMasters/notesMaster1.xml" Id="R9343d86faa994a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287af084824194" /><Relationship Type="http://schemas.openxmlformats.org/officeDocument/2006/relationships/notesMaster" Target="/ppt/notesMasters/notesMaster1.xml" Id="Rfa644e3cd1e64c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60226665bc4b2c" /><Relationship Type="http://schemas.openxmlformats.org/officeDocument/2006/relationships/notesMaster" Target="/ppt/notesMasters/notesMaster1.xml" Id="R6d986e4ba3b649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1112c59dca4003" /><Relationship Type="http://schemas.openxmlformats.org/officeDocument/2006/relationships/notesMaster" Target="/ppt/notesMasters/notesMaster1.xml" Id="Rb9c1929c2f2d4a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7e5c3d05b54fcc" /><Relationship Type="http://schemas.openxmlformats.org/officeDocument/2006/relationships/notesMaster" Target="/ppt/notesMasters/notesMaster1.xml" Id="Raeb4d177b8d546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df79fc86cc4145" /><Relationship Type="http://schemas.openxmlformats.org/officeDocument/2006/relationships/notesMaster" Target="/ppt/notesMasters/notesMaster1.xml" Id="R33d99643725342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5c82a783bc4700" /><Relationship Type="http://schemas.openxmlformats.org/officeDocument/2006/relationships/notesMaster" Target="/ppt/notesMasters/notesMaster1.xml" Id="R5cf8a559448740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el tema asignado al grupo, los nombres completos de los cinco integrantes y la pregunta guía. La fotografía del grupo debe agregarse cuando esté disponible. La exposición dura diez minutos, dos minutos por integrante.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objeto muestra un caso concreto: Un objeto es una instancia de una clase con identidad propia y valores para sus propiedades en un momento dado. En UML, una notación como ejemplar01:Ejemplar separa el nombre de la instancia del tipo al que pertenece. Los atributos anotados describen esa instantánea: un código, un estado o una fecha. Las conexiones entre instancias muestran vínculos presentes en el escenario examinado. estudiante03:Estudiante {id = U-38} es una instancia ilustrativa. prestamo42:Prestamo {estado = Activo} enlaza a esa instancia con ejemplar01:Ejemplar. Los identificadores y estados de este ejemplo son ficticios; no son datos de una biblioteca real.</a:t>
            </a:r>
          </a:p>
          <a:p xmlns:a="http://schemas.openxmlformats.org/drawingml/2006/main">
            <a:r>
              <a:t/>
            </a:r>
          </a:p>
          <a:p xmlns:a="http://schemas.openxmlformats.org/drawingml/2006/main">
            <a:r>
              <a:t>La máquina de estados explica cambios: Una máquina de estados describe el comportamiento de una entidad a través del tiempo. Cada estado corresponde a una condición que se mantiene hasta que sucede una transición. La transición puede nombrar un evento, una guarda y una acción: al producirse devolver() y validarse que el préstamo corresponde al ejemplar, este pasa de Prestado a Disponible y queda registrada la devolución. Evento: devolver ejemplar. Estado de origen: Prestado. Estado de destino: Disponible. Evento: vence la reserva. Si no se retiró el ejemplar, la reserva termina y el ejemplar vuelve a estar Disponible. La guarda representa una condición lógica de la transición; no equivale a un actor ni a una etapa arbitraria del proceso.</a:t>
            </a:r>
          </a:p>
          <a:p xmlns:a="http://schemas.openxmlformats.org/drawingml/2006/main">
            <a:r>
              <a:t/>
            </a:r>
          </a:p>
          <a:p xmlns:a="http://schemas.openxmlformats.org/drawingml/2006/main">
            <a:r>
              <a:t>Dos diagramas, dos preguntas: El diagrama de objetos responde qué instancias y enlaces conforman una situación determinada. La máquina de estados responde qué condiciones puede atravesar un objeto y qué sucesos producen cada cambio. El primero permite examinar un escenario; el segundo, comprobar que las respuestas del sistema mantienen reglas coherentes a lo largo del ciclo de vida. Ninguno reemplaza los requisitos que definen el comportamiento esperado. Instantánea: un préstamo activo enlaza a un estudiante con un ejemplar prestado. Secuencia: Disponible → Reservado → Prestado → Disponible. Una política real puede añadir renovaciones, multas, cancelaciones o estados de reparación.</a:t>
            </a:r>
          </a:p>
          <a:p xmlns:a="http://schemas.openxmlformats.org/drawingml/2006/main">
            <a:r>
              <a:t/>
            </a:r>
          </a:p>
          <a:p xmlns:a="http://schemas.openxmlformats.org/drawingml/2006/main">
            <a:r>
              <a:t>Fuentes:</a:t>
            </a:r>
          </a:p>
          <a:p xmlns:a="http://schemas.openxmlformats.org/drawingml/2006/main">
            <a:r>
              <a:t>• Object Management Group. (2017). Unified Modeling Language (UML), Version 2.5.1, Clauses 13 and 14: State Machines.</a:t>
            </a:r>
          </a:p>
          <a:p xmlns:a="http://schemas.openxmlformats.org/drawingml/2006/main">
            <a:r>
              <a:t>  https://www.omg.org/spec/UML/2.5.1/PDF</a:t>
            </a:r>
          </a:p>
          <a:p xmlns:a="http://schemas.openxmlformats.org/drawingml/2006/main">
            <a:r>
              <a:t>• NASA Software Engineering Handbook. (s. f.). SWE-109: Software Requirements Specification, required states and modes.</a:t>
            </a:r>
          </a:p>
          <a:p xmlns:a="http://schemas.openxmlformats.org/drawingml/2006/main">
            <a:r>
              <a:t>  https://swehb.nasa.gov/spaces/7150/pages/16449740/SWE-109%2B-%2BSoftware%2BRequirements%2BSpecification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el diagrama de izquierda a derecha. Señalar que el ejemplo de biblioteca es didáctico y no constituye un requisito del proyecto final. Fuentes:</a:t>
            </a:r>
          </a:p>
          <a:p xmlns:a="http://schemas.openxmlformats.org/drawingml/2006/main">
            <a:r>
              <a:t>• Object Management Group. (2017). Unified Modeling Language (UML), Version 2.5.1, Clauses 13 and 14: State Machines.</a:t>
            </a:r>
          </a:p>
          <a:p xmlns:a="http://schemas.openxmlformats.org/drawingml/2006/main">
            <a:r>
              <a:t>  https://www.omg.org/spec/UML/2.5.1/PDF</a:t>
            </a:r>
          </a:p>
          <a:p xmlns:a="http://schemas.openxmlformats.org/drawingml/2006/main">
            <a:r>
              <a:t>• NASA Software Engineering Handbook. (s. f.). SWE-109: Software Requirements Specification, required states and modes.</a:t>
            </a:r>
          </a:p>
          <a:p xmlns:a="http://schemas.openxmlformats.org/drawingml/2006/main">
            <a:r>
              <a:t>  https://swehb.nasa.gov/spaces/7150/pages/16449740/SWE-109%2B-%2BSoftware%2BRequirements%2BSpecification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diagrama de objetos responde qué instancias y enlaces conforman una situación determinada. La máquina de estados responde qué condiciones puede atravesar un objeto y qué sucesos producen cada cambio. El primero permite examinar un escenario; el segundo, comprobar que las respuestas del sistema mantienen reglas coherentes a lo largo del ciclo de vida. Ninguno reemplaza los requisitos que definen el comportamiento esperado.</a:t>
            </a:r>
          </a:p>
          <a:p xmlns:a="http://schemas.openxmlformats.org/drawingml/2006/main">
            <a:r>
              <a:t/>
            </a:r>
          </a:p>
          <a:p xmlns:a="http://schemas.openxmlformats.org/drawingml/2006/main">
            <a:r>
              <a:t>Instantánea: un préstamo activo enlaza a un estudiante con un ejemplar prestado.</a:t>
            </a:r>
          </a:p>
          <a:p xmlns:a="http://schemas.openxmlformats.org/drawingml/2006/main">
            <a:r>
              <a:t>Secuencia: Disponible → Reservado → Prestado → Disponible.</a:t>
            </a:r>
          </a:p>
          <a:p xmlns:a="http://schemas.openxmlformats.org/drawingml/2006/main">
            <a:r>
              <a:t>Una política real puede añadir renovaciones, multas, cancelaciones o estados de reparación.</a:t>
            </a:r>
          </a:p>
          <a:p xmlns:a="http://schemas.openxmlformats.org/drawingml/2006/main">
            <a:r>
              <a:t/>
            </a:r>
          </a:p>
          <a:p xmlns:a="http://schemas.openxmlformats.org/drawingml/2006/main">
            <a:r>
              <a:t>Fuentes:</a:t>
            </a:r>
          </a:p>
          <a:p xmlns:a="http://schemas.openxmlformats.org/drawingml/2006/main">
            <a:r>
              <a:t>• Object Management Group. (2017). Unified Modeling Language (UML), Version 2.5.1, Clauses 13 and 14: State Machines.</a:t>
            </a:r>
          </a:p>
          <a:p xmlns:a="http://schemas.openxmlformats.org/drawingml/2006/main">
            <a:r>
              <a:t>  https://www.omg.org/spec/UML/2.5.1/PDF</a:t>
            </a:r>
          </a:p>
          <a:p xmlns:a="http://schemas.openxmlformats.org/drawingml/2006/main">
            <a:r>
              <a:t>• NASA Software Engineering Handbook. (s. f.). SWE-109: Software Requirements Specification, required states and modes.</a:t>
            </a:r>
          </a:p>
          <a:p xmlns:a="http://schemas.openxmlformats.org/drawingml/2006/main">
            <a:r>
              <a:t>  https://swehb.nasa.gov/spaces/7150/pages/16449740/SWE-109%2B-%2BSoftware%2BRequirements%2BSpecification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diagrama de objetos responde qué instancias y enlaces conforman una situación determinada. La máquina de estados responde qué condiciones puede atravesar un objeto y qué sucesos producen cada cambio. El primero permite examinar un escenario; el segundo, comprobar que las respuestas del sistema mantienen reglas coherentes a lo largo del ciclo de vida. Ninguno reemplaza los requisitos que definen el comportamiento esperado.</a:t>
            </a:r>
          </a:p>
          <a:p xmlns:a="http://schemas.openxmlformats.org/drawingml/2006/main">
            <a:r>
              <a:t/>
            </a:r>
          </a:p>
          <a:p xmlns:a="http://schemas.openxmlformats.org/drawingml/2006/main">
            <a:r>
              <a:t>Instantánea: un préstamo activo enlaza a un estudiante con un ejemplar prestado.</a:t>
            </a:r>
          </a:p>
          <a:p xmlns:a="http://schemas.openxmlformats.org/drawingml/2006/main">
            <a:r>
              <a:t>Secuencia: Disponible → Reservado → Prestado → Disponible.</a:t>
            </a:r>
          </a:p>
          <a:p xmlns:a="http://schemas.openxmlformats.org/drawingml/2006/main">
            <a:r>
              <a:t>Una política real puede añadir renovaciones, multas, cancelaciones o estados de reparación.</a:t>
            </a:r>
          </a:p>
          <a:p xmlns:a="http://schemas.openxmlformats.org/drawingml/2006/main">
            <a:r>
              <a:t/>
            </a:r>
          </a:p>
          <a:p xmlns:a="http://schemas.openxmlformats.org/drawingml/2006/main">
            <a:r>
              <a:t>Fuentes: • Object Management Group. (2017). Unified Modeling Language (UML), Version 2.5.1, Clauses 13 and 14: State Machines.</a:t>
            </a:r>
          </a:p>
          <a:p xmlns:a="http://schemas.openxmlformats.org/drawingml/2006/main">
            <a:r>
              <a:t>  https://www.omg.org/spec/UML/2.5.1/PDF</a:t>
            </a:r>
          </a:p>
          <a:p xmlns:a="http://schemas.openxmlformats.org/drawingml/2006/main">
            <a:r>
              <a:t>• NASA Software Engineering Handbook. (s. f.). SWE-109: Software Requirements Specification, required states and modes.</a:t>
            </a:r>
          </a:p>
          <a:p xmlns:a="http://schemas.openxmlformats.org/drawingml/2006/main">
            <a:r>
              <a:t>  https://swehb.nasa.gov/spaces/7150/pages/16449740/SWE-109%2B-%2BSoftware%2BRequirements%2BSpecification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 física sugerida: Análisis y diseño orientado a objetos con UML y Rational Rose. Sergio Matsukawa, 2004. https://biblioteca.upds.edu.bo/biblioteca/index.php?id=2516&amp;lvl=categ_see</a:t>
            </a:r>
          </a:p>
          <a:p xmlns:a="http://schemas.openxmlformats.org/drawingml/2006/main">
            <a:r>
              <a:t>El catálogo UPDS lo identifica como impreso y registra un ejemplar disponible en Biblioteca Tarija; confirma estado y préstamo al consultarlo.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técnicas complementarias: • Object Management Group. (2017). Unified Modeling Language (UML), Version 2.5.1, Clauses 13 and 14: State Machines.</a:t>
            </a:r>
          </a:p>
          <a:p xmlns:a="http://schemas.openxmlformats.org/drawingml/2006/main">
            <a:r>
              <a:t>  https://www.omg.org/spec/UML/2.5.1/PDF</a:t>
            </a:r>
          </a:p>
          <a:p xmlns:a="http://schemas.openxmlformats.org/drawingml/2006/main">
            <a:r>
              <a:t>• NASA Software Engineering Handbook. (s. f.). SWE-109: Software Requirements Specification, required states and modes.</a:t>
            </a:r>
          </a:p>
          <a:p xmlns:a="http://schemas.openxmlformats.org/drawingml/2006/main">
            <a:r>
              <a:t>  https://swehb.nasa.gov/spaces/7150/pages/16449740/SWE-109%2B-%2BSoftware%2BRequirements%2BSpecification</a:t>
            </a:r>
          </a:p>
          <a:p xmlns:a="http://schemas.openxmlformats.org/drawingml/2006/main">
            <a:r>
              <a:t>Disponibilidad de los libros digitales mediante UPDS pendiente de verificar con cuenta institucional.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3e4bbef4bd41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375a1069bc4847" /><Relationship Type="http://schemas.openxmlformats.org/officeDocument/2006/relationships/slideLayout" Target="/ppt/slideLayouts/slideLayout1.xml" Id="Rb30e4974740c44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0e4974740c44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e2264124dd4e42" /><Relationship Type="http://schemas.openxmlformats.org/officeDocument/2006/relationships/notesSlide" Target="/ppt/notesSlides/notesSlide1.xml" Id="Rcee8f9482d514f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ab67bec36d4820" /><Relationship Type="http://schemas.openxmlformats.org/officeDocument/2006/relationships/notesSlide" Target="/ppt/notesSlides/notesSlide2.xml" Id="Re507363584a440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18aa7b3b764f5a" /><Relationship Type="http://schemas.openxmlformats.org/officeDocument/2006/relationships/notesSlide" Target="/ppt/notesSlides/notesSlide3.xml" Id="R3c62900e177440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d27f529e214e01" /><Relationship Type="http://schemas.openxmlformats.org/officeDocument/2006/relationships/notesSlide" Target="/ppt/notesSlides/notesSlide4.xml" Id="Rfb83be79b8e14a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7d6f7788d34ce7" /><Relationship Type="http://schemas.openxmlformats.org/officeDocument/2006/relationships/notesSlide" Target="/ppt/notesSlides/notesSlide5.xml" Id="Rab2e66fc456b49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8517bd06264f61" /><Relationship Type="http://schemas.openxmlformats.org/officeDocument/2006/relationships/notesSlide" Target="/ppt/notesSlides/notesSlide6.xml" Id="Rd3d6611e13ed4f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8bcd6516584744" /><Relationship Type="http://schemas.openxmlformats.org/officeDocument/2006/relationships/notesSlide" Target="/ppt/notesSlides/notesSlide7.xml" Id="R2b9103d168a74d10" /></Relationships>
</file>

<file path=ppt/slides/slide1.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9C35842-67E1-436D-A2A9-28B628AE342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4437ED-1B7C-4FCF-8F45-0C7B055A81E6}"/>
              </a:ext>
            </a:extLst>
          </p:cNvPr>
          <p:cNvSpPr>
            <a:spLocks xmlns:a="http://schemas.openxmlformats.org/drawingml/2006/main" noGrp="1"/>
          </p:cNvSpPr>
          <p:nvPr/>
        </p:nvSpPr>
        <p:spPr>
          <a:xfrm xmlns:a="http://schemas.openxmlformats.org/drawingml/2006/main">
            <a:off x="685800" y="5334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B7E3C4"/>
                </a:solidFill>
                <a:latin typeface="Arial"/>
                <a:ea typeface="Arial"/>
                <a:cs typeface="Arial"/>
              </a:defRPr>
            </a:pPr>
            <a:r>
              <a:rPr sz="1125" b="1">
                <a:solidFill>
                  <a:srgbClr val="B7E3C4"/>
                </a:solidFill>
                <a:latin typeface="Arial"/>
                <a:ea typeface="Arial"/>
                <a:cs typeface="Arial"/>
              </a:rPr>
              <a:t>ACTIVIDAD 1  /  INVESTIGACIÓN Y EXPOSICIÓN</a:t>
            </a:r>
          </a:p>
        </p:txBody>
      </p:sp>
      <p:sp>
        <p:nvSpPr>
          <p:cNvPr id="3" name="">
            <a:extLst xmlns:a="http://schemas.openxmlformats.org/drawingml/2006/main">
              <a:ext uri="{FF2B5EF4-FFF2-40B4-BE49-F238E27FC236}">
                <a16:creationId xmlns:a16="http://schemas.microsoft.com/office/drawing/2014/main" id="{F31874B6-66FC-49B1-AC25-1793624BF805}"/>
              </a:ext>
            </a:extLst>
          </p:cNvPr>
          <p:cNvSpPr>
            <a:spLocks xmlns:a="http://schemas.openxmlformats.org/drawingml/2006/main" noGrp="1"/>
          </p:cNvSpPr>
          <p:nvPr/>
        </p:nvSpPr>
        <p:spPr>
          <a:xfrm xmlns:a="http://schemas.openxmlformats.org/drawingml/2006/main">
            <a:off x="685800" y="1238250"/>
            <a:ext cx="7810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Objetos y diagramas de estado</a:t>
            </a:r>
          </a:p>
        </p:txBody>
      </p:sp>
      <p:sp>
        <p:nvSpPr>
          <p:cNvPr id="4" name="">
            <a:extLst xmlns:a="http://schemas.openxmlformats.org/drawingml/2006/main">
              <a:ext uri="{FF2B5EF4-FFF2-40B4-BE49-F238E27FC236}">
                <a16:creationId xmlns:a16="http://schemas.microsoft.com/office/drawing/2014/main" id="{20E84787-E886-4B23-B9F6-AC7CFEAEBCDD}"/>
              </a:ext>
            </a:extLst>
          </p:cNvPr>
          <p:cNvSpPr>
            <a:spLocks xmlns:a="http://schemas.openxmlformats.org/drawingml/2006/main" noGrp="1"/>
          </p:cNvSpPr>
          <p:nvPr/>
        </p:nvSpPr>
        <p:spPr>
          <a:xfrm xmlns:a="http://schemas.openxmlformats.org/drawingml/2006/main">
            <a:off x="723900" y="2886075"/>
            <a:ext cx="7239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D4E4E1"/>
                </a:solidFill>
                <a:latin typeface="Arial"/>
                <a:ea typeface="Arial"/>
                <a:cs typeface="Arial"/>
              </a:defRPr>
            </a:pPr>
            <a:r>
              <a:rPr sz="1725" b="0">
                <a:solidFill>
                  <a:srgbClr val="D4E4E1"/>
                </a:solidFill>
                <a:latin typeface="Arial"/>
                <a:ea typeface="Arial"/>
                <a:cs typeface="Arial"/>
              </a:rPr>
              <a:t>¿Qué objetos existen en una situación y cómo cambia su estado cuando ocurren eventos?</a:t>
            </a:r>
          </a:p>
        </p:txBody>
      </p:sp>
      <p:sp>
        <p:nvSpPr>
          <p:cNvPr id="5" name="">
            <a:extLst xmlns:a="http://schemas.openxmlformats.org/drawingml/2006/main">
              <a:ext uri="{FF2B5EF4-FFF2-40B4-BE49-F238E27FC236}">
                <a16:creationId xmlns:a16="http://schemas.microsoft.com/office/drawing/2014/main" id="{55984F80-6E14-4981-87E5-C105D3E51E51}"/>
              </a:ext>
            </a:extLst>
          </p:cNvPr>
          <p:cNvSpPr>
            <a:spLocks xmlns:a="http://schemas.openxmlformats.org/drawingml/2006/main" noGrp="1"/>
          </p:cNvSpPr>
          <p:nvPr/>
        </p:nvSpPr>
        <p:spPr>
          <a:xfrm xmlns:a="http://schemas.openxmlformats.org/drawingml/2006/main">
            <a:off x="723900" y="3914775"/>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B8C9C8"/>
                </a:solidFill>
                <a:latin typeface="Arial"/>
                <a:ea typeface="Arial"/>
                <a:cs typeface="Arial"/>
              </a:defRPr>
            </a:pPr>
            <a:r>
              <a:rPr sz="1275" b="0">
                <a:solidFill>
                  <a:srgbClr val="B8C9C8"/>
                </a:solidFill>
                <a:latin typeface="Arial"/>
                <a:ea typeface="Arial"/>
                <a:cs typeface="Arial"/>
              </a:rPr>
              <a:t>10 minutos  ·  5 integrantes  ·  Ejemplo didáctico: biblioteca</a:t>
            </a:r>
          </a:p>
        </p:txBody>
      </p:sp>
      <p:sp>
        <p:nvSpPr>
          <p:cNvPr id="6" name="">
            <a:extLst xmlns:a="http://schemas.openxmlformats.org/drawingml/2006/main">
              <a:ext uri="{FF2B5EF4-FFF2-40B4-BE49-F238E27FC236}">
                <a16:creationId xmlns:a16="http://schemas.microsoft.com/office/drawing/2014/main" id="{EE883D20-2831-4115-87AB-16DE05BAC947}"/>
              </a:ext>
            </a:extLst>
          </p:cNvPr>
          <p:cNvSpPr>
            <a:spLocks xmlns:a="http://schemas.openxmlformats.org/drawingml/2006/main" noGrp="1"/>
          </p:cNvSpPr>
          <p:nvPr/>
        </p:nvSpPr>
        <p:spPr>
          <a:xfrm xmlns:a="http://schemas.openxmlformats.org/drawingml/2006/main">
            <a:off x="8572500" y="1485900"/>
            <a:ext cx="2800350" cy="3028950"/>
          </a:xfrm>
          <a:prstGeom xmlns:a="http://schemas.openxmlformats.org/drawingml/2006/main" prst="roundRect">
            <a:avLst>
              <a:gd name="adj" fmla="val 2721"/>
            </a:avLst>
          </a:prstGeom>
          <a:solidFill xmlns:a="http://schemas.openxmlformats.org/drawingml/2006/main">
            <a:srgbClr val="FFFFFF"/>
          </a:solidFill>
          <a:ln xmlns:a="http://schemas.openxmlformats.org/drawingml/2006/main" w="14288">
            <a:solidFill>
              <a:srgbClr val="C7D3D0"/>
            </a:solidFill>
          </a:ln>
        </p:spPr>
      </p:sp>
      <p:sp>
        <p:nvSpPr>
          <p:cNvPr id="7" name="">
            <a:extLst xmlns:a="http://schemas.openxmlformats.org/drawingml/2006/main">
              <a:ext uri="{FF2B5EF4-FFF2-40B4-BE49-F238E27FC236}">
                <a16:creationId xmlns:a16="http://schemas.microsoft.com/office/drawing/2014/main" id="{D3A9DC1C-B72E-4F14-BB44-B43F923885E0}"/>
              </a:ext>
            </a:extLst>
          </p:cNvPr>
          <p:cNvSpPr>
            <a:spLocks xmlns:a="http://schemas.openxmlformats.org/drawingml/2006/main" noGrp="1"/>
          </p:cNvSpPr>
          <p:nvPr/>
        </p:nvSpPr>
        <p:spPr>
          <a:xfrm xmlns:a="http://schemas.openxmlformats.org/drawingml/2006/main">
            <a:off x="8724900" y="1638300"/>
            <a:ext cx="2495550" cy="2419350"/>
          </a:xfrm>
          <a:prstGeom xmlns:a="http://schemas.openxmlformats.org/drawingml/2006/main" prst="roundRect">
            <a:avLst>
              <a:gd name="adj" fmla="val 3150"/>
            </a:avLst>
          </a:prstGeom>
          <a:solidFill xmlns:a="http://schemas.openxmlformats.org/drawingml/2006/main">
            <a:srgbClr val="E9EFEC"/>
          </a:solidFill>
          <a:ln xmlns:a="http://schemas.openxmlformats.org/drawingml/2006/main" w="14288">
            <a:solidFill>
              <a:srgbClr val="C7D3D0"/>
            </a:solidFill>
          </a:ln>
        </p:spPr>
      </p:sp>
      <p:sp>
        <p:nvSpPr>
          <p:cNvPr id="8" name="">
            <a:extLst xmlns:a="http://schemas.openxmlformats.org/drawingml/2006/main">
              <a:ext uri="{FF2B5EF4-FFF2-40B4-BE49-F238E27FC236}">
                <a16:creationId xmlns:a16="http://schemas.microsoft.com/office/drawing/2014/main" id="{728693A4-91D0-416D-80EE-F936A56F009F}"/>
              </a:ext>
            </a:extLst>
          </p:cNvPr>
          <p:cNvSpPr>
            <a:spLocks xmlns:a="http://schemas.openxmlformats.org/drawingml/2006/main" noGrp="1"/>
          </p:cNvSpPr>
          <p:nvPr/>
        </p:nvSpPr>
        <p:spPr>
          <a:xfrm xmlns:a="http://schemas.openxmlformats.org/drawingml/2006/main">
            <a:off x="8839200" y="2952750"/>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ctr">
              <a:defRPr sz="1050" b="1">
                <a:solidFill>
                  <a:srgbClr val="5E6F76"/>
                </a:solidFill>
                <a:latin typeface="Arial"/>
                <a:ea typeface="Arial"/>
                <a:cs typeface="Arial"/>
              </a:defRPr>
            </a:pPr>
            <a:r>
              <a:rPr sz="1050" b="1">
                <a:solidFill>
                  <a:srgbClr val="5E6F76"/>
                </a:solidFill>
                <a:latin typeface="Arial"/>
                <a:ea typeface="Arial"/>
                <a:cs typeface="Arial"/>
              </a:rPr>
              <a:t>FOTO PENDIENTE</a:t>
            </a:r>
          </a:p>
        </p:txBody>
      </p:sp>
      <p:sp>
        <p:nvSpPr>
          <p:cNvPr id="9" name="">
            <a:extLst xmlns:a="http://schemas.openxmlformats.org/drawingml/2006/main">
              <a:ext uri="{FF2B5EF4-FFF2-40B4-BE49-F238E27FC236}">
                <a16:creationId xmlns:a16="http://schemas.microsoft.com/office/drawing/2014/main" id="{E7F865A3-6DFA-4BF4-B242-AAF94081D7A6}"/>
              </a:ext>
            </a:extLst>
          </p:cNvPr>
          <p:cNvSpPr>
            <a:spLocks xmlns:a="http://schemas.openxmlformats.org/drawingml/2006/main" noGrp="1"/>
          </p:cNvSpPr>
          <p:nvPr/>
        </p:nvSpPr>
        <p:spPr>
          <a:xfrm xmlns:a="http://schemas.openxmlformats.org/drawingml/2006/main">
            <a:off x="8743950" y="4105275"/>
            <a:ext cx="2457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102B3A"/>
                </a:solidFill>
                <a:latin typeface="Arial"/>
                <a:ea typeface="Arial"/>
                <a:cs typeface="Arial"/>
              </a:defRPr>
            </a:pPr>
            <a:r>
              <a:rPr sz="975" b="1">
                <a:solidFill>
                  <a:srgbClr val="102B3A"/>
                </a:solidFill>
                <a:latin typeface="Arial"/>
                <a:ea typeface="Arial"/>
                <a:cs typeface="Arial"/>
              </a:rPr>
              <a:t>FOTO DEL GRUPO</a:t>
            </a:r>
          </a:p>
        </p:txBody>
      </p:sp>
      <p:sp>
        <p:nvSpPr>
          <p:cNvPr id="10" name="">
            <a:extLst xmlns:a="http://schemas.openxmlformats.org/drawingml/2006/main">
              <a:ext uri="{FF2B5EF4-FFF2-40B4-BE49-F238E27FC236}">
                <a16:creationId xmlns:a16="http://schemas.microsoft.com/office/drawing/2014/main" id="{5CEC276B-597E-4109-BB69-F5A091209588}"/>
              </a:ext>
            </a:extLst>
          </p:cNvPr>
          <p:cNvSpPr>
            <a:spLocks xmlns:a="http://schemas.openxmlformats.org/drawingml/2006/main" noGrp="1"/>
          </p:cNvSpPr>
          <p:nvPr/>
        </p:nvSpPr>
        <p:spPr>
          <a:xfrm xmlns:a="http://schemas.openxmlformats.org/drawingml/2006/main">
            <a:off x="8743950" y="4295775"/>
            <a:ext cx="24574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6061"/>
          </a:bodyPr>
          <a:lstStyle xmlns:a="http://schemas.openxmlformats.org/drawingml/2006/main"/>
          <a:p xmlns:a="http://schemas.openxmlformats.org/drawingml/2006/main">
            <a:pPr algn="l">
              <a:defRPr sz="825" b="0">
                <a:solidFill>
                  <a:srgbClr val="5E6F76"/>
                </a:solidFill>
                <a:latin typeface="Arial"/>
                <a:ea typeface="Arial"/>
                <a:cs typeface="Arial"/>
              </a:defRPr>
            </a:pPr>
            <a:r>
              <a:rPr sz="825" b="0">
                <a:solidFill>
                  <a:srgbClr val="5E6F76"/>
                </a:solidFill>
                <a:latin typeface="Arial"/>
                <a:ea typeface="Arial"/>
                <a:cs typeface="Arial"/>
              </a:rPr>
              <a:t>Agregar foto real del equipo</a:t>
            </a:r>
          </a:p>
        </p:txBody>
      </p:sp>
      <p:sp>
        <p:nvSpPr>
          <p:cNvPr id="11" name="">
            <a:extLst xmlns:a="http://schemas.openxmlformats.org/drawingml/2006/main">
              <a:ext uri="{FF2B5EF4-FFF2-40B4-BE49-F238E27FC236}">
                <a16:creationId xmlns:a16="http://schemas.microsoft.com/office/drawing/2014/main" id="{8FD49B87-90AF-489B-9DF9-B70D67885092}"/>
              </a:ext>
            </a:extLst>
          </p:cNvPr>
          <p:cNvSpPr>
            <a:spLocks xmlns:a="http://schemas.openxmlformats.org/drawingml/2006/main" noGrp="1"/>
          </p:cNvSpPr>
          <p:nvPr/>
        </p:nvSpPr>
        <p:spPr>
          <a:xfrm xmlns:a="http://schemas.openxmlformats.org/drawingml/2006/main">
            <a:off x="723900" y="5981700"/>
            <a:ext cx="7429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1">
                <a:solidFill>
                  <a:srgbClr val="B7E3C4"/>
                </a:solidFill>
                <a:latin typeface="Arial"/>
                <a:ea typeface="Arial"/>
                <a:cs typeface="Arial"/>
              </a:defRPr>
            </a:pPr>
            <a:r>
              <a:rPr sz="1200" b="1">
                <a:solidFill>
                  <a:srgbClr val="B7E3C4"/>
                </a:solidFill>
                <a:latin typeface="Arial"/>
                <a:ea typeface="Arial"/>
                <a:cs typeface="Arial"/>
              </a:rPr>
              <a:t>Universidad  /  Sistemas de Información I</a:t>
            </a:r>
          </a:p>
        </p:txBody>
      </p:sp>
    </p:spTree>
    <p:extLst>
      <p:ext uri="{BB962C8B-B14F-4D97-AF65-F5344CB8AC3E}">
        <p14:creationId xmlns:p14="http://schemas.microsoft.com/office/powerpoint/2010/main" val="1021342073"/>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BE416E2-FBE8-493D-B47D-134D9145708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B7C16F-7E3E-4285-8A6B-E57520B37143}"/>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B427920B-B833-4480-855B-39C9C25B2212}"/>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IDEAS CLAVE</a:t>
            </a:r>
          </a:p>
        </p:txBody>
      </p:sp>
      <p:sp>
        <p:nvSpPr>
          <p:cNvPr id="4" name="">
            <a:extLst xmlns:a="http://schemas.openxmlformats.org/drawingml/2006/main">
              <a:ext uri="{FF2B5EF4-FFF2-40B4-BE49-F238E27FC236}">
                <a16:creationId xmlns:a16="http://schemas.microsoft.com/office/drawing/2014/main" id="{D19C503F-88F3-456C-B975-6873F2915077}"/>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B5529F21-E6DC-468E-9866-CD46E28860BC}"/>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03</a:t>
            </a:r>
          </a:p>
        </p:txBody>
      </p:sp>
      <p:sp>
        <p:nvSpPr>
          <p:cNvPr id="6" name="">
            <a:extLst xmlns:a="http://schemas.openxmlformats.org/drawingml/2006/main">
              <a:ext uri="{FF2B5EF4-FFF2-40B4-BE49-F238E27FC236}">
                <a16:creationId xmlns:a16="http://schemas.microsoft.com/office/drawing/2014/main" id="{4B0236F8-C510-48A9-B93E-6172BCB5FB7E}"/>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8690E470-7F5C-449C-BD8B-CB9DEFEE7E51}"/>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INVESTIGACIÓN</a:t>
            </a:r>
          </a:p>
        </p:txBody>
      </p:sp>
      <p:sp>
        <p:nvSpPr>
          <p:cNvPr id="8" name="">
            <a:extLst xmlns:a="http://schemas.openxmlformats.org/drawingml/2006/main">
              <a:ext uri="{FF2B5EF4-FFF2-40B4-BE49-F238E27FC236}">
                <a16:creationId xmlns:a16="http://schemas.microsoft.com/office/drawing/2014/main" id="{1B827781-A764-4B1A-A481-064084EC9913}"/>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Conceptos centrales</a:t>
            </a:r>
          </a:p>
        </p:txBody>
      </p:sp>
      <p:sp>
        <p:nvSpPr>
          <p:cNvPr id="9" name="">
            <a:extLst xmlns:a="http://schemas.openxmlformats.org/drawingml/2006/main">
              <a:ext uri="{FF2B5EF4-FFF2-40B4-BE49-F238E27FC236}">
                <a16:creationId xmlns:a16="http://schemas.microsoft.com/office/drawing/2014/main" id="{FC971ED9-A2E9-4E52-903B-8A2DF6472C25}"/>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Una vista instantánea de objetos concretos y una vista temporal de los cambios que experimentan.</a:t>
            </a:r>
          </a:p>
        </p:txBody>
      </p:sp>
      <p:sp>
        <p:nvSpPr>
          <p:cNvPr id="10" name="">
            <a:extLst xmlns:a="http://schemas.openxmlformats.org/drawingml/2006/main">
              <a:ext uri="{FF2B5EF4-FFF2-40B4-BE49-F238E27FC236}">
                <a16:creationId xmlns:a16="http://schemas.microsoft.com/office/drawing/2014/main" id="{9844B394-6A82-4C14-8F32-B8D0B10E5B2F}"/>
              </a:ext>
            </a:extLst>
          </p:cNvPr>
          <p:cNvSpPr>
            <a:spLocks xmlns:a="http://schemas.openxmlformats.org/drawingml/2006/main" noGrp="1"/>
          </p:cNvSpPr>
          <p:nvPr/>
        </p:nvSpPr>
        <p:spPr>
          <a:xfrm xmlns:a="http://schemas.openxmlformats.org/drawingml/2006/main">
            <a:off x="838200" y="2562225"/>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E9E6339-8E6B-4DE1-9F9A-B47549CFB76A}"/>
              </a:ext>
            </a:extLst>
          </p:cNvPr>
          <p:cNvSpPr>
            <a:spLocks xmlns:a="http://schemas.openxmlformats.org/drawingml/2006/main" noGrp="1"/>
          </p:cNvSpPr>
          <p:nvPr/>
        </p:nvSpPr>
        <p:spPr>
          <a:xfrm xmlns:a="http://schemas.openxmlformats.org/drawingml/2006/main">
            <a:off x="1104900" y="2476500"/>
            <a:ext cx="100203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089"/>
          </a:bodyPr>
          <a:lstStyle xmlns:a="http://schemas.openxmlformats.org/drawingml/2006/main"/>
          <a:p xmlns:a="http://schemas.openxmlformats.org/drawingml/2006/main">
            <a:pPr algn="l">
              <a:defRPr sz="1650" b="0">
                <a:solidFill>
                  <a:srgbClr val="152C3A"/>
                </a:solidFill>
                <a:latin typeface="Arial"/>
                <a:ea typeface="Arial"/>
                <a:cs typeface="Arial"/>
              </a:defRPr>
            </a:pPr>
            <a:r>
              <a:rPr sz="1650" b="0">
                <a:solidFill>
                  <a:srgbClr val="152C3A"/>
                </a:solidFill>
                <a:latin typeface="Arial"/>
                <a:ea typeface="Arial"/>
                <a:cs typeface="Arial"/>
              </a:rPr>
              <a:t>El objeto muestra un caso concreto: Un objeto es una instancia de una clase con identidad propia y valores para sus propiedades en un momento dado. En UML, una notación como ejemplar01:Ejemplar separa el nombre de la instancia del tipo al que pertenece. Los atributos anotados describen esa instantánea: un código, un estado o una fecha. Las conexiones entre instancias muestran vínculos presentes en el escenario examinado.</a:t>
            </a:r>
          </a:p>
        </p:txBody>
      </p:sp>
      <p:sp>
        <p:nvSpPr>
          <p:cNvPr id="12" name="">
            <a:extLst xmlns:a="http://schemas.openxmlformats.org/drawingml/2006/main">
              <a:ext uri="{FF2B5EF4-FFF2-40B4-BE49-F238E27FC236}">
                <a16:creationId xmlns:a16="http://schemas.microsoft.com/office/drawing/2014/main" id="{07063336-0FE1-4E5F-8005-52C226CC68B9}"/>
              </a:ext>
            </a:extLst>
          </p:cNvPr>
          <p:cNvSpPr>
            <a:spLocks xmlns:a="http://schemas.openxmlformats.org/drawingml/2006/main" noGrp="1"/>
          </p:cNvSpPr>
          <p:nvPr/>
        </p:nvSpPr>
        <p:spPr>
          <a:xfrm xmlns:a="http://schemas.openxmlformats.org/drawingml/2006/main">
            <a:off x="838200" y="3676650"/>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101C843-7360-4745-9877-7278CBFB2C9C}"/>
              </a:ext>
            </a:extLst>
          </p:cNvPr>
          <p:cNvSpPr>
            <a:spLocks xmlns:a="http://schemas.openxmlformats.org/drawingml/2006/main" noGrp="1"/>
          </p:cNvSpPr>
          <p:nvPr/>
        </p:nvSpPr>
        <p:spPr>
          <a:xfrm xmlns:a="http://schemas.openxmlformats.org/drawingml/2006/main">
            <a:off x="1104900" y="3590925"/>
            <a:ext cx="100203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61"/>
          </a:bodyPr>
          <a:lstStyle xmlns:a="http://schemas.openxmlformats.org/drawingml/2006/main"/>
          <a:p xmlns:a="http://schemas.openxmlformats.org/drawingml/2006/main">
            <a:pPr algn="l">
              <a:defRPr sz="1650" b="0">
                <a:solidFill>
                  <a:srgbClr val="152C3A"/>
                </a:solidFill>
                <a:latin typeface="Arial"/>
                <a:ea typeface="Arial"/>
                <a:cs typeface="Arial"/>
              </a:defRPr>
            </a:pPr>
            <a:r>
              <a:rPr sz="1650" b="0">
                <a:solidFill>
                  <a:srgbClr val="152C3A"/>
                </a:solidFill>
                <a:latin typeface="Arial"/>
                <a:ea typeface="Arial"/>
                <a:cs typeface="Arial"/>
              </a:rPr>
              <a:t>La máquina de estados explica cambios: Una máquina de estados describe el comportamiento de una entidad a través del tiempo. Cada estado corresponde a una condición que se mantiene hasta que sucede una transición. La transición puede nombrar un evento, una guarda y una acción: al producirse devolver() y validarse que el préstamo corresponde al ejemplar, este pasa de Prestado a Disponible y queda registrada la devolución.</a:t>
            </a:r>
          </a:p>
        </p:txBody>
      </p:sp>
      <p:sp>
        <p:nvSpPr>
          <p:cNvPr id="14" name="">
            <a:extLst xmlns:a="http://schemas.openxmlformats.org/drawingml/2006/main">
              <a:ext uri="{FF2B5EF4-FFF2-40B4-BE49-F238E27FC236}">
                <a16:creationId xmlns:a16="http://schemas.microsoft.com/office/drawing/2014/main" id="{34724C0A-E4F9-406F-B3E3-3978A776BDA3}"/>
              </a:ext>
            </a:extLst>
          </p:cNvPr>
          <p:cNvSpPr>
            <a:spLocks xmlns:a="http://schemas.openxmlformats.org/drawingml/2006/main" noGrp="1"/>
          </p:cNvSpPr>
          <p:nvPr/>
        </p:nvSpPr>
        <p:spPr>
          <a:xfrm xmlns:a="http://schemas.openxmlformats.org/drawingml/2006/main">
            <a:off x="838200" y="4791075"/>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1C57F0B-C3DB-41E8-8BE6-FAC774A48DFC}"/>
              </a:ext>
            </a:extLst>
          </p:cNvPr>
          <p:cNvSpPr>
            <a:spLocks xmlns:a="http://schemas.openxmlformats.org/drawingml/2006/main" noGrp="1"/>
          </p:cNvSpPr>
          <p:nvPr/>
        </p:nvSpPr>
        <p:spPr>
          <a:xfrm xmlns:a="http://schemas.openxmlformats.org/drawingml/2006/main">
            <a:off x="1104900" y="4705350"/>
            <a:ext cx="100203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870"/>
          </a:bodyPr>
          <a:lstStyle xmlns:a="http://schemas.openxmlformats.org/drawingml/2006/main"/>
          <a:p xmlns:a="http://schemas.openxmlformats.org/drawingml/2006/main">
            <a:pPr algn="l">
              <a:defRPr sz="1650" b="0">
                <a:solidFill>
                  <a:srgbClr val="152C3A"/>
                </a:solidFill>
                <a:latin typeface="Arial"/>
                <a:ea typeface="Arial"/>
                <a:cs typeface="Arial"/>
              </a:defRPr>
            </a:pPr>
            <a:r>
              <a:rPr sz="1650" b="0">
                <a:solidFill>
                  <a:srgbClr val="152C3A"/>
                </a:solidFill>
                <a:latin typeface="Arial"/>
                <a:ea typeface="Arial"/>
                <a:cs typeface="Arial"/>
              </a:rPr>
              <a:t>Dos diagramas, dos preguntas: El diagrama de objetos responde qué instancias y enlaces conforman una situación determinada. La máquina de estados responde qué condiciones puede atravesar un objeto y qué sucesos producen cada cambio. El primero permite examinar un escenario; el segundo, comprobar que las respuestas del sistema mantienen reglas coherentes a lo largo del ciclo de vida. Ninguno reemplaza los requisitos que definen el comportamiento esperado.</a:t>
            </a:r>
          </a:p>
        </p:txBody>
      </p:sp>
    </p:spTree>
    <p:extLst>
      <p:ext uri="{BB962C8B-B14F-4D97-AF65-F5344CB8AC3E}">
        <p14:creationId xmlns:p14="http://schemas.microsoft.com/office/powerpoint/2010/main" val="1950771178"/>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08FF6C2A-56DB-45B7-9AC4-CD79D118781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EDAC2B-649E-45A0-9221-724506A06E5E}"/>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C2C60FE0-0A37-40F9-9DD0-5EF456BAC050}"/>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DIAGRAMA</a:t>
            </a:r>
          </a:p>
        </p:txBody>
      </p:sp>
      <p:sp>
        <p:nvSpPr>
          <p:cNvPr id="4" name="">
            <a:extLst xmlns:a="http://schemas.openxmlformats.org/drawingml/2006/main">
              <a:ext uri="{FF2B5EF4-FFF2-40B4-BE49-F238E27FC236}">
                <a16:creationId xmlns:a16="http://schemas.microsoft.com/office/drawing/2014/main" id="{21588A87-C129-4A45-B0AA-3143742F2D33}"/>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8073241B-D10D-4900-A041-273B87724973}"/>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03</a:t>
            </a:r>
          </a:p>
        </p:txBody>
      </p:sp>
      <p:sp>
        <p:nvSpPr>
          <p:cNvPr id="6" name="">
            <a:extLst xmlns:a="http://schemas.openxmlformats.org/drawingml/2006/main">
              <a:ext uri="{FF2B5EF4-FFF2-40B4-BE49-F238E27FC236}">
                <a16:creationId xmlns:a16="http://schemas.microsoft.com/office/drawing/2014/main" id="{BD411E9F-D9D3-4028-BFB9-9B3AE4880F6A}"/>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48579C29-E321-4420-BFF1-1D744A89DFD6}"/>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DIAGRAMA DE COMPORTAMIENTO</a:t>
            </a:r>
          </a:p>
        </p:txBody>
      </p:sp>
      <p:sp>
        <p:nvSpPr>
          <p:cNvPr id="8" name="">
            <a:extLst xmlns:a="http://schemas.openxmlformats.org/drawingml/2006/main">
              <a:ext uri="{FF2B5EF4-FFF2-40B4-BE49-F238E27FC236}">
                <a16:creationId xmlns:a16="http://schemas.microsoft.com/office/drawing/2014/main" id="{0DC1F94E-3CE7-452A-AC47-99331CB9CB5D}"/>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El ejemplar cambia ante eventos</a:t>
            </a:r>
          </a:p>
        </p:txBody>
      </p:sp>
      <p:sp>
        <p:nvSpPr>
          <p:cNvPr id="9" name="">
            <a:extLst xmlns:a="http://schemas.openxmlformats.org/drawingml/2006/main">
              <a:ext uri="{FF2B5EF4-FFF2-40B4-BE49-F238E27FC236}">
                <a16:creationId xmlns:a16="http://schemas.microsoft.com/office/drawing/2014/main" id="{0349F394-EE17-478E-B913-061782C587B2}"/>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Modelo didáctico; las políticas reales se confirman con la organización.</a:t>
            </a:r>
          </a:p>
        </p:txBody>
      </p:sp>
      <p:sp>
        <p:nvSpPr>
          <p:cNvPr id="10" name="">
            <a:extLst xmlns:a="http://schemas.openxmlformats.org/drawingml/2006/main">
              <a:ext uri="{FF2B5EF4-FFF2-40B4-BE49-F238E27FC236}">
                <a16:creationId xmlns:a16="http://schemas.microsoft.com/office/drawing/2014/main" id="{07FEB7F5-F9C4-4AB6-B396-E77B4AF850E0}"/>
              </a:ext>
            </a:extLst>
          </p:cNvPr>
          <p:cNvSpPr>
            <a:spLocks xmlns:a="http://schemas.openxmlformats.org/drawingml/2006/main" noGrp="1"/>
          </p:cNvSpPr>
          <p:nvPr/>
        </p:nvSpPr>
        <p:spPr>
          <a:xfrm xmlns:a="http://schemas.openxmlformats.org/drawingml/2006/main">
            <a:off x="685800" y="2724150"/>
            <a:ext cx="1352550" cy="933450"/>
          </a:xfrm>
          <a:prstGeom xmlns:a="http://schemas.openxmlformats.org/drawingml/2006/main" prst="roundRect">
            <a:avLst>
              <a:gd name="adj" fmla="val 8163"/>
            </a:avLst>
          </a:prstGeom>
          <a:solidFill xmlns:a="http://schemas.openxmlformats.org/drawingml/2006/main">
            <a:srgbClr val="E2EFEC"/>
          </a:solidFill>
          <a:ln xmlns:a="http://schemas.openxmlformats.org/drawingml/2006/main" w="14288">
            <a:solidFill>
              <a:srgbClr val="007C78"/>
            </a:solidFill>
          </a:ln>
        </p:spPr>
      </p:sp>
      <p:sp>
        <p:nvSpPr>
          <p:cNvPr id="11" name="">
            <a:extLst xmlns:a="http://schemas.openxmlformats.org/drawingml/2006/main">
              <a:ext uri="{FF2B5EF4-FFF2-40B4-BE49-F238E27FC236}">
                <a16:creationId xmlns:a16="http://schemas.microsoft.com/office/drawing/2014/main" id="{2B4FB70A-16EE-4FF0-AD31-205106B2E917}"/>
              </a:ext>
            </a:extLst>
          </p:cNvPr>
          <p:cNvSpPr>
            <a:spLocks xmlns:a="http://schemas.openxmlformats.org/drawingml/2006/main" noGrp="1"/>
          </p:cNvSpPr>
          <p:nvPr/>
        </p:nvSpPr>
        <p:spPr>
          <a:xfrm xmlns:a="http://schemas.openxmlformats.org/drawingml/2006/main">
            <a:off x="762000" y="2867025"/>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02B3A"/>
                </a:solidFill>
                <a:latin typeface="Arial"/>
                <a:ea typeface="Arial"/>
                <a:cs typeface="Arial"/>
              </a:defRPr>
            </a:pPr>
            <a:r>
              <a:rPr sz="1275" b="1">
                <a:solidFill>
                  <a:srgbClr val="102B3A"/>
                </a:solidFill>
                <a:latin typeface="Arial"/>
                <a:ea typeface="Arial"/>
                <a:cs typeface="Arial"/>
              </a:rPr>
              <a:t>DISPONIBLE</a:t>
            </a:r>
          </a:p>
        </p:txBody>
      </p:sp>
      <p:sp>
        <p:nvSpPr>
          <p:cNvPr id="12" name="">
            <a:extLst xmlns:a="http://schemas.openxmlformats.org/drawingml/2006/main">
              <a:ext uri="{FF2B5EF4-FFF2-40B4-BE49-F238E27FC236}">
                <a16:creationId xmlns:a16="http://schemas.microsoft.com/office/drawing/2014/main" id="{2322F386-840C-4CEF-9339-B16A694085F4}"/>
              </a:ext>
            </a:extLst>
          </p:cNvPr>
          <p:cNvSpPr>
            <a:spLocks xmlns:a="http://schemas.openxmlformats.org/drawingml/2006/main" noGrp="1"/>
          </p:cNvSpPr>
          <p:nvPr/>
        </p:nvSpPr>
        <p:spPr>
          <a:xfrm xmlns:a="http://schemas.openxmlformats.org/drawingml/2006/main">
            <a:off x="762000" y="3228975"/>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5E6F76"/>
                </a:solidFill>
                <a:latin typeface="Arial"/>
                <a:ea typeface="Arial"/>
                <a:cs typeface="Arial"/>
              </a:defRPr>
            </a:pPr>
            <a:r>
              <a:rPr sz="900" b="0">
                <a:solidFill>
                  <a:srgbClr val="5E6F76"/>
                </a:solidFill>
                <a:latin typeface="Arial"/>
                <a:ea typeface="Arial"/>
                <a:cs typeface="Arial"/>
              </a:rPr>
              <a:t>estado inicial</a:t>
            </a:r>
          </a:p>
        </p:txBody>
      </p:sp>
      <p:sp>
        <p:nvSpPr>
          <p:cNvPr id="13" name="">
            <a:extLst xmlns:a="http://schemas.openxmlformats.org/drawingml/2006/main">
              <a:ext uri="{FF2B5EF4-FFF2-40B4-BE49-F238E27FC236}">
                <a16:creationId xmlns:a16="http://schemas.microsoft.com/office/drawing/2014/main" id="{B56A40DE-D2A5-4AF9-8E40-CA9286C53957}"/>
              </a:ext>
            </a:extLst>
          </p:cNvPr>
          <p:cNvSpPr>
            <a:spLocks xmlns:a="http://schemas.openxmlformats.org/drawingml/2006/main" noGrp="1"/>
          </p:cNvSpPr>
          <p:nvPr/>
        </p:nvSpPr>
        <p:spPr>
          <a:xfrm xmlns:a="http://schemas.openxmlformats.org/drawingml/2006/main">
            <a:off x="2038350" y="3190875"/>
            <a:ext cx="133350" cy="0"/>
          </a:xfrm>
          <a:prstGeom xmlns:a="http://schemas.openxmlformats.org/drawingml/2006/main" prst="line">
            <a:avLst/>
          </a:prstGeom>
          <a:noFill xmlns:a="http://schemas.openxmlformats.org/drawingml/2006/main"/>
          <a:ln xmlns:a="http://schemas.openxmlformats.org/drawingml/2006/main" w="19050">
            <a:solidFill>
              <a:srgbClr val="007C78"/>
            </a:solidFill>
          </a:ln>
        </p:spPr>
      </p:sp>
      <p:sp>
        <p:nvSpPr>
          <p:cNvPr id="14" name="">
            <a:extLst xmlns:a="http://schemas.openxmlformats.org/drawingml/2006/main">
              <a:ext uri="{FF2B5EF4-FFF2-40B4-BE49-F238E27FC236}">
                <a16:creationId xmlns:a16="http://schemas.microsoft.com/office/drawing/2014/main" id="{7EE0C68E-0B91-48FF-A97C-4EC11FD20420}"/>
              </a:ext>
            </a:extLst>
          </p:cNvPr>
          <p:cNvSpPr>
            <a:spLocks xmlns:a="http://schemas.openxmlformats.org/drawingml/2006/main" noGrp="1"/>
          </p:cNvSpPr>
          <p:nvPr/>
        </p:nvSpPr>
        <p:spPr>
          <a:xfrm xmlns:a="http://schemas.openxmlformats.org/drawingml/2006/main">
            <a:off x="2038350" y="3019425"/>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50"/>
          </a:bodyPr>
          <a:lstStyle xmlns:a="http://schemas.openxmlformats.org/drawingml/2006/main"/>
          <a:p xmlns:a="http://schemas.openxmlformats.org/drawingml/2006/main">
            <a:pPr algn="ctr">
              <a:defRPr sz="1725" b="1">
                <a:solidFill>
                  <a:srgbClr val="007C78"/>
                </a:solidFill>
                <a:latin typeface="Arial"/>
                <a:ea typeface="Arial"/>
                <a:cs typeface="Arial"/>
              </a:defRPr>
            </a:pPr>
            <a:r>
              <a:rPr sz="1725" b="1">
                <a:solidFill>
                  <a:srgbClr val="007C78"/>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D4CEB63C-B423-4C8D-9D8D-A1A56816E04F}"/>
              </a:ext>
            </a:extLst>
          </p:cNvPr>
          <p:cNvSpPr>
            <a:spLocks xmlns:a="http://schemas.openxmlformats.org/drawingml/2006/main" noGrp="1"/>
          </p:cNvSpPr>
          <p:nvPr/>
        </p:nvSpPr>
        <p:spPr>
          <a:xfrm xmlns:a="http://schemas.openxmlformats.org/drawingml/2006/main">
            <a:off x="2209800" y="2724150"/>
            <a:ext cx="135255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4288">
            <a:solidFill>
              <a:srgbClr val="007C78"/>
            </a:solidFill>
          </a:ln>
        </p:spPr>
      </p:sp>
      <p:sp>
        <p:nvSpPr>
          <p:cNvPr id="16" name="">
            <a:extLst xmlns:a="http://schemas.openxmlformats.org/drawingml/2006/main">
              <a:ext uri="{FF2B5EF4-FFF2-40B4-BE49-F238E27FC236}">
                <a16:creationId xmlns:a16="http://schemas.microsoft.com/office/drawing/2014/main" id="{B73782A0-A276-4C38-B9B1-821758715FC5}"/>
              </a:ext>
            </a:extLst>
          </p:cNvPr>
          <p:cNvSpPr>
            <a:spLocks xmlns:a="http://schemas.openxmlformats.org/drawingml/2006/main" noGrp="1"/>
          </p:cNvSpPr>
          <p:nvPr/>
        </p:nvSpPr>
        <p:spPr>
          <a:xfrm xmlns:a="http://schemas.openxmlformats.org/drawingml/2006/main">
            <a:off x="2286000" y="2867025"/>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02B3A"/>
                </a:solidFill>
                <a:latin typeface="Arial"/>
                <a:ea typeface="Arial"/>
                <a:cs typeface="Arial"/>
              </a:defRPr>
            </a:pPr>
            <a:r>
              <a:rPr sz="1275" b="1">
                <a:solidFill>
                  <a:srgbClr val="102B3A"/>
                </a:solidFill>
                <a:latin typeface="Arial"/>
                <a:ea typeface="Arial"/>
                <a:cs typeface="Arial"/>
              </a:rPr>
              <a:t>Reservar</a:t>
            </a:r>
          </a:p>
        </p:txBody>
      </p:sp>
      <p:sp>
        <p:nvSpPr>
          <p:cNvPr id="17" name="">
            <a:extLst xmlns:a="http://schemas.openxmlformats.org/drawingml/2006/main">
              <a:ext uri="{FF2B5EF4-FFF2-40B4-BE49-F238E27FC236}">
                <a16:creationId xmlns:a16="http://schemas.microsoft.com/office/drawing/2014/main" id="{0EDC0666-762A-4234-9F4C-223469C61F83}"/>
              </a:ext>
            </a:extLst>
          </p:cNvPr>
          <p:cNvSpPr>
            <a:spLocks xmlns:a="http://schemas.openxmlformats.org/drawingml/2006/main" noGrp="1"/>
          </p:cNvSpPr>
          <p:nvPr/>
        </p:nvSpPr>
        <p:spPr>
          <a:xfrm xmlns:a="http://schemas.openxmlformats.org/drawingml/2006/main">
            <a:off x="2286000" y="3228975"/>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5E6F76"/>
                </a:solidFill>
                <a:latin typeface="Arial"/>
                <a:ea typeface="Arial"/>
                <a:cs typeface="Arial"/>
              </a:defRPr>
            </a:pPr>
            <a:r>
              <a:rPr sz="900" b="0">
                <a:solidFill>
                  <a:srgbClr val="5E6F76"/>
                </a:solidFill>
                <a:latin typeface="Arial"/>
                <a:ea typeface="Arial"/>
                <a:cs typeface="Arial"/>
              </a:rPr>
              <a:t>evento</a:t>
            </a:r>
          </a:p>
        </p:txBody>
      </p:sp>
      <p:sp>
        <p:nvSpPr>
          <p:cNvPr id="18" name="">
            <a:extLst xmlns:a="http://schemas.openxmlformats.org/drawingml/2006/main">
              <a:ext uri="{FF2B5EF4-FFF2-40B4-BE49-F238E27FC236}">
                <a16:creationId xmlns:a16="http://schemas.microsoft.com/office/drawing/2014/main" id="{F082FE62-E623-4250-8AD2-0310F50EEF75}"/>
              </a:ext>
            </a:extLst>
          </p:cNvPr>
          <p:cNvSpPr>
            <a:spLocks xmlns:a="http://schemas.openxmlformats.org/drawingml/2006/main" noGrp="1"/>
          </p:cNvSpPr>
          <p:nvPr/>
        </p:nvSpPr>
        <p:spPr>
          <a:xfrm xmlns:a="http://schemas.openxmlformats.org/drawingml/2006/main">
            <a:off x="3562350" y="3190875"/>
            <a:ext cx="133350" cy="0"/>
          </a:xfrm>
          <a:prstGeom xmlns:a="http://schemas.openxmlformats.org/drawingml/2006/main" prst="line">
            <a:avLst/>
          </a:prstGeom>
          <a:noFill xmlns:a="http://schemas.openxmlformats.org/drawingml/2006/main"/>
          <a:ln xmlns:a="http://schemas.openxmlformats.org/drawingml/2006/main" w="19050">
            <a:solidFill>
              <a:srgbClr val="007C78"/>
            </a:solidFill>
          </a:ln>
        </p:spPr>
      </p:sp>
      <p:sp>
        <p:nvSpPr>
          <p:cNvPr id="19" name="">
            <a:extLst xmlns:a="http://schemas.openxmlformats.org/drawingml/2006/main">
              <a:ext uri="{FF2B5EF4-FFF2-40B4-BE49-F238E27FC236}">
                <a16:creationId xmlns:a16="http://schemas.microsoft.com/office/drawing/2014/main" id="{6D6FC8C2-91AD-40CB-9FCB-E568C2567B96}"/>
              </a:ext>
            </a:extLst>
          </p:cNvPr>
          <p:cNvSpPr>
            <a:spLocks xmlns:a="http://schemas.openxmlformats.org/drawingml/2006/main" noGrp="1"/>
          </p:cNvSpPr>
          <p:nvPr/>
        </p:nvSpPr>
        <p:spPr>
          <a:xfrm xmlns:a="http://schemas.openxmlformats.org/drawingml/2006/main">
            <a:off x="3562350" y="3019425"/>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50"/>
          </a:bodyPr>
          <a:lstStyle xmlns:a="http://schemas.openxmlformats.org/drawingml/2006/main"/>
          <a:p xmlns:a="http://schemas.openxmlformats.org/drawingml/2006/main">
            <a:pPr algn="ctr">
              <a:defRPr sz="1725" b="1">
                <a:solidFill>
                  <a:srgbClr val="007C78"/>
                </a:solidFill>
                <a:latin typeface="Arial"/>
                <a:ea typeface="Arial"/>
                <a:cs typeface="Arial"/>
              </a:defRPr>
            </a:pPr>
            <a:r>
              <a:rPr sz="1725" b="1">
                <a:solidFill>
                  <a:srgbClr val="007C78"/>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89410A8B-134E-4E84-ABEE-8A283292D381}"/>
              </a:ext>
            </a:extLst>
          </p:cNvPr>
          <p:cNvSpPr>
            <a:spLocks xmlns:a="http://schemas.openxmlformats.org/drawingml/2006/main" noGrp="1"/>
          </p:cNvSpPr>
          <p:nvPr/>
        </p:nvSpPr>
        <p:spPr>
          <a:xfrm xmlns:a="http://schemas.openxmlformats.org/drawingml/2006/main">
            <a:off x="3733800" y="2724150"/>
            <a:ext cx="1352550" cy="933450"/>
          </a:xfrm>
          <a:prstGeom xmlns:a="http://schemas.openxmlformats.org/drawingml/2006/main" prst="roundRect">
            <a:avLst>
              <a:gd name="adj" fmla="val 8163"/>
            </a:avLst>
          </a:prstGeom>
          <a:solidFill xmlns:a="http://schemas.openxmlformats.org/drawingml/2006/main">
            <a:srgbClr val="E2EFEC"/>
          </a:solidFill>
          <a:ln xmlns:a="http://schemas.openxmlformats.org/drawingml/2006/main" w="14288">
            <a:solidFill>
              <a:srgbClr val="007C78"/>
            </a:solidFill>
          </a:ln>
        </p:spPr>
      </p:sp>
      <p:sp>
        <p:nvSpPr>
          <p:cNvPr id="21" name="">
            <a:extLst xmlns:a="http://schemas.openxmlformats.org/drawingml/2006/main">
              <a:ext uri="{FF2B5EF4-FFF2-40B4-BE49-F238E27FC236}">
                <a16:creationId xmlns:a16="http://schemas.microsoft.com/office/drawing/2014/main" id="{70DD3091-F57B-4D16-9E04-FEDC9B0B2149}"/>
              </a:ext>
            </a:extLst>
          </p:cNvPr>
          <p:cNvSpPr>
            <a:spLocks xmlns:a="http://schemas.openxmlformats.org/drawingml/2006/main" noGrp="1"/>
          </p:cNvSpPr>
          <p:nvPr/>
        </p:nvSpPr>
        <p:spPr>
          <a:xfrm xmlns:a="http://schemas.openxmlformats.org/drawingml/2006/main">
            <a:off x="3810000" y="2867025"/>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02B3A"/>
                </a:solidFill>
                <a:latin typeface="Arial"/>
                <a:ea typeface="Arial"/>
                <a:cs typeface="Arial"/>
              </a:defRPr>
            </a:pPr>
            <a:r>
              <a:rPr sz="1275" b="1">
                <a:solidFill>
                  <a:srgbClr val="102B3A"/>
                </a:solidFill>
                <a:latin typeface="Arial"/>
                <a:ea typeface="Arial"/>
                <a:cs typeface="Arial"/>
              </a:rPr>
              <a:t>RESERVADO</a:t>
            </a:r>
          </a:p>
        </p:txBody>
      </p:sp>
      <p:sp>
        <p:nvSpPr>
          <p:cNvPr id="22" name="">
            <a:extLst xmlns:a="http://schemas.openxmlformats.org/drawingml/2006/main">
              <a:ext uri="{FF2B5EF4-FFF2-40B4-BE49-F238E27FC236}">
                <a16:creationId xmlns:a16="http://schemas.microsoft.com/office/drawing/2014/main" id="{D82DEAE2-8F4C-462A-A83A-103C14237CDA}"/>
              </a:ext>
            </a:extLst>
          </p:cNvPr>
          <p:cNvSpPr>
            <a:spLocks xmlns:a="http://schemas.openxmlformats.org/drawingml/2006/main" noGrp="1"/>
          </p:cNvSpPr>
          <p:nvPr/>
        </p:nvSpPr>
        <p:spPr>
          <a:xfrm xmlns:a="http://schemas.openxmlformats.org/drawingml/2006/main">
            <a:off x="3810000" y="3228975"/>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5E6F76"/>
                </a:solidFill>
                <a:latin typeface="Arial"/>
                <a:ea typeface="Arial"/>
                <a:cs typeface="Arial"/>
              </a:defRPr>
            </a:pPr>
            <a:r>
              <a:rPr sz="900" b="0">
                <a:solidFill>
                  <a:srgbClr val="5E6F76"/>
                </a:solidFill>
                <a:latin typeface="Arial"/>
                <a:ea typeface="Arial"/>
                <a:cs typeface="Arial"/>
              </a:rPr>
              <a:t>espera de retiro</a:t>
            </a:r>
          </a:p>
        </p:txBody>
      </p:sp>
      <p:sp>
        <p:nvSpPr>
          <p:cNvPr id="23" name="">
            <a:extLst xmlns:a="http://schemas.openxmlformats.org/drawingml/2006/main">
              <a:ext uri="{FF2B5EF4-FFF2-40B4-BE49-F238E27FC236}">
                <a16:creationId xmlns:a16="http://schemas.microsoft.com/office/drawing/2014/main" id="{7262DDA0-6820-46A9-8863-F43EF215EB4D}"/>
              </a:ext>
            </a:extLst>
          </p:cNvPr>
          <p:cNvSpPr>
            <a:spLocks xmlns:a="http://schemas.openxmlformats.org/drawingml/2006/main" noGrp="1"/>
          </p:cNvSpPr>
          <p:nvPr/>
        </p:nvSpPr>
        <p:spPr>
          <a:xfrm xmlns:a="http://schemas.openxmlformats.org/drawingml/2006/main">
            <a:off x="5086350" y="3190875"/>
            <a:ext cx="133350" cy="0"/>
          </a:xfrm>
          <a:prstGeom xmlns:a="http://schemas.openxmlformats.org/drawingml/2006/main" prst="line">
            <a:avLst/>
          </a:prstGeom>
          <a:noFill xmlns:a="http://schemas.openxmlformats.org/drawingml/2006/main"/>
          <a:ln xmlns:a="http://schemas.openxmlformats.org/drawingml/2006/main" w="19050">
            <a:solidFill>
              <a:srgbClr val="007C78"/>
            </a:solidFill>
          </a:ln>
        </p:spPr>
      </p:sp>
      <p:sp>
        <p:nvSpPr>
          <p:cNvPr id="24" name="">
            <a:extLst xmlns:a="http://schemas.openxmlformats.org/drawingml/2006/main">
              <a:ext uri="{FF2B5EF4-FFF2-40B4-BE49-F238E27FC236}">
                <a16:creationId xmlns:a16="http://schemas.microsoft.com/office/drawing/2014/main" id="{34968380-B9BD-411F-9665-583EE693C0EF}"/>
              </a:ext>
            </a:extLst>
          </p:cNvPr>
          <p:cNvSpPr>
            <a:spLocks xmlns:a="http://schemas.openxmlformats.org/drawingml/2006/main" noGrp="1"/>
          </p:cNvSpPr>
          <p:nvPr/>
        </p:nvSpPr>
        <p:spPr>
          <a:xfrm xmlns:a="http://schemas.openxmlformats.org/drawingml/2006/main">
            <a:off x="5086350" y="3019425"/>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50"/>
          </a:bodyPr>
          <a:lstStyle xmlns:a="http://schemas.openxmlformats.org/drawingml/2006/main"/>
          <a:p xmlns:a="http://schemas.openxmlformats.org/drawingml/2006/main">
            <a:pPr algn="ctr">
              <a:defRPr sz="1725" b="1">
                <a:solidFill>
                  <a:srgbClr val="007C78"/>
                </a:solidFill>
                <a:latin typeface="Arial"/>
                <a:ea typeface="Arial"/>
                <a:cs typeface="Arial"/>
              </a:defRPr>
            </a:pPr>
            <a:r>
              <a:rPr sz="1725" b="1">
                <a:solidFill>
                  <a:srgbClr val="007C78"/>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555621A0-809E-4ED6-BE4B-ABD61A108578}"/>
              </a:ext>
            </a:extLst>
          </p:cNvPr>
          <p:cNvSpPr>
            <a:spLocks xmlns:a="http://schemas.openxmlformats.org/drawingml/2006/main" noGrp="1"/>
          </p:cNvSpPr>
          <p:nvPr/>
        </p:nvSpPr>
        <p:spPr>
          <a:xfrm xmlns:a="http://schemas.openxmlformats.org/drawingml/2006/main">
            <a:off x="5257800" y="2724150"/>
            <a:ext cx="135255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4288">
            <a:solidFill>
              <a:srgbClr val="007C78"/>
            </a:solidFill>
          </a:ln>
        </p:spPr>
      </p:sp>
      <p:sp>
        <p:nvSpPr>
          <p:cNvPr id="26" name="">
            <a:extLst xmlns:a="http://schemas.openxmlformats.org/drawingml/2006/main">
              <a:ext uri="{FF2B5EF4-FFF2-40B4-BE49-F238E27FC236}">
                <a16:creationId xmlns:a16="http://schemas.microsoft.com/office/drawing/2014/main" id="{8189708B-1E09-41E6-87AF-6D56D91667D9}"/>
              </a:ext>
            </a:extLst>
          </p:cNvPr>
          <p:cNvSpPr>
            <a:spLocks xmlns:a="http://schemas.openxmlformats.org/drawingml/2006/main" noGrp="1"/>
          </p:cNvSpPr>
          <p:nvPr/>
        </p:nvSpPr>
        <p:spPr>
          <a:xfrm xmlns:a="http://schemas.openxmlformats.org/drawingml/2006/main">
            <a:off x="5334000" y="2867025"/>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02B3A"/>
                </a:solidFill>
                <a:latin typeface="Arial"/>
                <a:ea typeface="Arial"/>
                <a:cs typeface="Arial"/>
              </a:defRPr>
            </a:pPr>
            <a:r>
              <a:rPr sz="1275" b="1">
                <a:solidFill>
                  <a:srgbClr val="102B3A"/>
                </a:solidFill>
                <a:latin typeface="Arial"/>
                <a:ea typeface="Arial"/>
                <a:cs typeface="Arial"/>
              </a:rPr>
              <a:t>Prestar</a:t>
            </a:r>
          </a:p>
        </p:txBody>
      </p:sp>
      <p:sp>
        <p:nvSpPr>
          <p:cNvPr id="27" name="">
            <a:extLst xmlns:a="http://schemas.openxmlformats.org/drawingml/2006/main">
              <a:ext uri="{FF2B5EF4-FFF2-40B4-BE49-F238E27FC236}">
                <a16:creationId xmlns:a16="http://schemas.microsoft.com/office/drawing/2014/main" id="{8100F0A1-EAB4-479B-9A60-6408A20C209C}"/>
              </a:ext>
            </a:extLst>
          </p:cNvPr>
          <p:cNvSpPr>
            <a:spLocks xmlns:a="http://schemas.openxmlformats.org/drawingml/2006/main" noGrp="1"/>
          </p:cNvSpPr>
          <p:nvPr/>
        </p:nvSpPr>
        <p:spPr>
          <a:xfrm xmlns:a="http://schemas.openxmlformats.org/drawingml/2006/main">
            <a:off x="5334000" y="3228975"/>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5E6F76"/>
                </a:solidFill>
                <a:latin typeface="Arial"/>
                <a:ea typeface="Arial"/>
                <a:cs typeface="Arial"/>
              </a:defRPr>
            </a:pPr>
            <a:r>
              <a:rPr sz="900" b="0">
                <a:solidFill>
                  <a:srgbClr val="5E6F76"/>
                </a:solidFill>
                <a:latin typeface="Arial"/>
                <a:ea typeface="Arial"/>
                <a:cs typeface="Arial"/>
              </a:rPr>
              <a:t>evento</a:t>
            </a:r>
          </a:p>
        </p:txBody>
      </p:sp>
      <p:sp>
        <p:nvSpPr>
          <p:cNvPr id="28" name="">
            <a:extLst xmlns:a="http://schemas.openxmlformats.org/drawingml/2006/main">
              <a:ext uri="{FF2B5EF4-FFF2-40B4-BE49-F238E27FC236}">
                <a16:creationId xmlns:a16="http://schemas.microsoft.com/office/drawing/2014/main" id="{31B613F5-57B5-4526-A959-4109F6B99874}"/>
              </a:ext>
            </a:extLst>
          </p:cNvPr>
          <p:cNvSpPr>
            <a:spLocks xmlns:a="http://schemas.openxmlformats.org/drawingml/2006/main" noGrp="1"/>
          </p:cNvSpPr>
          <p:nvPr/>
        </p:nvSpPr>
        <p:spPr>
          <a:xfrm xmlns:a="http://schemas.openxmlformats.org/drawingml/2006/main">
            <a:off x="6610350" y="3190875"/>
            <a:ext cx="133350" cy="0"/>
          </a:xfrm>
          <a:prstGeom xmlns:a="http://schemas.openxmlformats.org/drawingml/2006/main" prst="line">
            <a:avLst/>
          </a:prstGeom>
          <a:noFill xmlns:a="http://schemas.openxmlformats.org/drawingml/2006/main"/>
          <a:ln xmlns:a="http://schemas.openxmlformats.org/drawingml/2006/main" w="19050">
            <a:solidFill>
              <a:srgbClr val="007C78"/>
            </a:solidFill>
          </a:ln>
        </p:spPr>
      </p:sp>
      <p:sp>
        <p:nvSpPr>
          <p:cNvPr id="29" name="">
            <a:extLst xmlns:a="http://schemas.openxmlformats.org/drawingml/2006/main">
              <a:ext uri="{FF2B5EF4-FFF2-40B4-BE49-F238E27FC236}">
                <a16:creationId xmlns:a16="http://schemas.microsoft.com/office/drawing/2014/main" id="{09B1B307-6C33-4693-9CD2-1D39D110011C}"/>
              </a:ext>
            </a:extLst>
          </p:cNvPr>
          <p:cNvSpPr>
            <a:spLocks xmlns:a="http://schemas.openxmlformats.org/drawingml/2006/main" noGrp="1"/>
          </p:cNvSpPr>
          <p:nvPr/>
        </p:nvSpPr>
        <p:spPr>
          <a:xfrm xmlns:a="http://schemas.openxmlformats.org/drawingml/2006/main">
            <a:off x="6610350" y="3019425"/>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50"/>
          </a:bodyPr>
          <a:lstStyle xmlns:a="http://schemas.openxmlformats.org/drawingml/2006/main"/>
          <a:p xmlns:a="http://schemas.openxmlformats.org/drawingml/2006/main">
            <a:pPr algn="ctr">
              <a:defRPr sz="1725" b="1">
                <a:solidFill>
                  <a:srgbClr val="007C78"/>
                </a:solidFill>
                <a:latin typeface="Arial"/>
                <a:ea typeface="Arial"/>
                <a:cs typeface="Arial"/>
              </a:defRPr>
            </a:pPr>
            <a:r>
              <a:rPr sz="1725" b="1">
                <a:solidFill>
                  <a:srgbClr val="007C78"/>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9D1EBFD7-5237-4D73-AA43-7C2FC375BEC8}"/>
              </a:ext>
            </a:extLst>
          </p:cNvPr>
          <p:cNvSpPr>
            <a:spLocks xmlns:a="http://schemas.openxmlformats.org/drawingml/2006/main" noGrp="1"/>
          </p:cNvSpPr>
          <p:nvPr/>
        </p:nvSpPr>
        <p:spPr>
          <a:xfrm xmlns:a="http://schemas.openxmlformats.org/drawingml/2006/main">
            <a:off x="6781800" y="2724150"/>
            <a:ext cx="1352550" cy="933450"/>
          </a:xfrm>
          <a:prstGeom xmlns:a="http://schemas.openxmlformats.org/drawingml/2006/main" prst="roundRect">
            <a:avLst>
              <a:gd name="adj" fmla="val 8163"/>
            </a:avLst>
          </a:prstGeom>
          <a:solidFill xmlns:a="http://schemas.openxmlformats.org/drawingml/2006/main">
            <a:srgbClr val="E2EFEC"/>
          </a:solidFill>
          <a:ln xmlns:a="http://schemas.openxmlformats.org/drawingml/2006/main" w="14288">
            <a:solidFill>
              <a:srgbClr val="007C78"/>
            </a:solidFill>
          </a:ln>
        </p:spPr>
      </p:sp>
      <p:sp>
        <p:nvSpPr>
          <p:cNvPr id="31" name="">
            <a:extLst xmlns:a="http://schemas.openxmlformats.org/drawingml/2006/main">
              <a:ext uri="{FF2B5EF4-FFF2-40B4-BE49-F238E27FC236}">
                <a16:creationId xmlns:a16="http://schemas.microsoft.com/office/drawing/2014/main" id="{11F1BC3C-F5AA-4EE7-8213-EB71C58A62D9}"/>
              </a:ext>
            </a:extLst>
          </p:cNvPr>
          <p:cNvSpPr>
            <a:spLocks xmlns:a="http://schemas.openxmlformats.org/drawingml/2006/main" noGrp="1"/>
          </p:cNvSpPr>
          <p:nvPr/>
        </p:nvSpPr>
        <p:spPr>
          <a:xfrm xmlns:a="http://schemas.openxmlformats.org/drawingml/2006/main">
            <a:off x="6858000" y="2867025"/>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02B3A"/>
                </a:solidFill>
                <a:latin typeface="Arial"/>
                <a:ea typeface="Arial"/>
                <a:cs typeface="Arial"/>
              </a:defRPr>
            </a:pPr>
            <a:r>
              <a:rPr sz="1275" b="1">
                <a:solidFill>
                  <a:srgbClr val="102B3A"/>
                </a:solidFill>
                <a:latin typeface="Arial"/>
                <a:ea typeface="Arial"/>
                <a:cs typeface="Arial"/>
              </a:rPr>
              <a:t>PRESTADO</a:t>
            </a:r>
          </a:p>
        </p:txBody>
      </p:sp>
      <p:sp>
        <p:nvSpPr>
          <p:cNvPr id="32" name="">
            <a:extLst xmlns:a="http://schemas.openxmlformats.org/drawingml/2006/main">
              <a:ext uri="{FF2B5EF4-FFF2-40B4-BE49-F238E27FC236}">
                <a16:creationId xmlns:a16="http://schemas.microsoft.com/office/drawing/2014/main" id="{55FAC33F-57D5-467F-AB8E-3A52E84C389F}"/>
              </a:ext>
            </a:extLst>
          </p:cNvPr>
          <p:cNvSpPr>
            <a:spLocks xmlns:a="http://schemas.openxmlformats.org/drawingml/2006/main" noGrp="1"/>
          </p:cNvSpPr>
          <p:nvPr/>
        </p:nvSpPr>
        <p:spPr>
          <a:xfrm xmlns:a="http://schemas.openxmlformats.org/drawingml/2006/main">
            <a:off x="6858000" y="3228975"/>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5E6F76"/>
                </a:solidFill>
                <a:latin typeface="Arial"/>
                <a:ea typeface="Arial"/>
                <a:cs typeface="Arial"/>
              </a:defRPr>
            </a:pPr>
            <a:r>
              <a:rPr sz="900" b="0">
                <a:solidFill>
                  <a:srgbClr val="5E6F76"/>
                </a:solidFill>
                <a:latin typeface="Arial"/>
                <a:ea typeface="Arial"/>
                <a:cs typeface="Arial"/>
              </a:rPr>
              <a:t>ejemplar en uso</a:t>
            </a:r>
          </a:p>
        </p:txBody>
      </p:sp>
      <p:sp>
        <p:nvSpPr>
          <p:cNvPr id="33" name="">
            <a:extLst xmlns:a="http://schemas.openxmlformats.org/drawingml/2006/main">
              <a:ext uri="{FF2B5EF4-FFF2-40B4-BE49-F238E27FC236}">
                <a16:creationId xmlns:a16="http://schemas.microsoft.com/office/drawing/2014/main" id="{DA840B1D-3AA5-43BC-91F2-6285A07D5660}"/>
              </a:ext>
            </a:extLst>
          </p:cNvPr>
          <p:cNvSpPr>
            <a:spLocks xmlns:a="http://schemas.openxmlformats.org/drawingml/2006/main" noGrp="1"/>
          </p:cNvSpPr>
          <p:nvPr/>
        </p:nvSpPr>
        <p:spPr>
          <a:xfrm xmlns:a="http://schemas.openxmlformats.org/drawingml/2006/main">
            <a:off x="8134350" y="3190875"/>
            <a:ext cx="133350" cy="0"/>
          </a:xfrm>
          <a:prstGeom xmlns:a="http://schemas.openxmlformats.org/drawingml/2006/main" prst="line">
            <a:avLst/>
          </a:prstGeom>
          <a:noFill xmlns:a="http://schemas.openxmlformats.org/drawingml/2006/main"/>
          <a:ln xmlns:a="http://schemas.openxmlformats.org/drawingml/2006/main" w="19050">
            <a:solidFill>
              <a:srgbClr val="007C78"/>
            </a:solidFill>
          </a:ln>
        </p:spPr>
      </p:sp>
      <p:sp>
        <p:nvSpPr>
          <p:cNvPr id="34" name="">
            <a:extLst xmlns:a="http://schemas.openxmlformats.org/drawingml/2006/main">
              <a:ext uri="{FF2B5EF4-FFF2-40B4-BE49-F238E27FC236}">
                <a16:creationId xmlns:a16="http://schemas.microsoft.com/office/drawing/2014/main" id="{7DEB8233-AD44-468D-81B1-F5725634CBA7}"/>
              </a:ext>
            </a:extLst>
          </p:cNvPr>
          <p:cNvSpPr>
            <a:spLocks xmlns:a="http://schemas.openxmlformats.org/drawingml/2006/main" noGrp="1"/>
          </p:cNvSpPr>
          <p:nvPr/>
        </p:nvSpPr>
        <p:spPr>
          <a:xfrm xmlns:a="http://schemas.openxmlformats.org/drawingml/2006/main">
            <a:off x="8134350" y="3019425"/>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50"/>
          </a:bodyPr>
          <a:lstStyle xmlns:a="http://schemas.openxmlformats.org/drawingml/2006/main"/>
          <a:p xmlns:a="http://schemas.openxmlformats.org/drawingml/2006/main">
            <a:pPr algn="ctr">
              <a:defRPr sz="1725" b="1">
                <a:solidFill>
                  <a:srgbClr val="007C78"/>
                </a:solidFill>
                <a:latin typeface="Arial"/>
                <a:ea typeface="Arial"/>
                <a:cs typeface="Arial"/>
              </a:defRPr>
            </a:pPr>
            <a:r>
              <a:rPr sz="1725" b="1">
                <a:solidFill>
                  <a:srgbClr val="007C78"/>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C9609F8D-DC97-471E-8DCB-63A3E2DBB33B}"/>
              </a:ext>
            </a:extLst>
          </p:cNvPr>
          <p:cNvSpPr>
            <a:spLocks xmlns:a="http://schemas.openxmlformats.org/drawingml/2006/main" noGrp="1"/>
          </p:cNvSpPr>
          <p:nvPr/>
        </p:nvSpPr>
        <p:spPr>
          <a:xfrm xmlns:a="http://schemas.openxmlformats.org/drawingml/2006/main">
            <a:off x="8305800" y="2724150"/>
            <a:ext cx="135255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4288">
            <a:solidFill>
              <a:srgbClr val="007C78"/>
            </a:solidFill>
          </a:ln>
        </p:spPr>
      </p:sp>
      <p:sp>
        <p:nvSpPr>
          <p:cNvPr id="36" name="">
            <a:extLst xmlns:a="http://schemas.openxmlformats.org/drawingml/2006/main">
              <a:ext uri="{FF2B5EF4-FFF2-40B4-BE49-F238E27FC236}">
                <a16:creationId xmlns:a16="http://schemas.microsoft.com/office/drawing/2014/main" id="{B9D2D332-455D-4337-BFFD-567D1381ED91}"/>
              </a:ext>
            </a:extLst>
          </p:cNvPr>
          <p:cNvSpPr>
            <a:spLocks xmlns:a="http://schemas.openxmlformats.org/drawingml/2006/main" noGrp="1"/>
          </p:cNvSpPr>
          <p:nvPr/>
        </p:nvSpPr>
        <p:spPr>
          <a:xfrm xmlns:a="http://schemas.openxmlformats.org/drawingml/2006/main">
            <a:off x="8382000" y="2867025"/>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02B3A"/>
                </a:solidFill>
                <a:latin typeface="Arial"/>
                <a:ea typeface="Arial"/>
                <a:cs typeface="Arial"/>
              </a:defRPr>
            </a:pPr>
            <a:r>
              <a:rPr sz="1275" b="1">
                <a:solidFill>
                  <a:srgbClr val="102B3A"/>
                </a:solidFill>
                <a:latin typeface="Arial"/>
                <a:ea typeface="Arial"/>
                <a:cs typeface="Arial"/>
              </a:rPr>
              <a:t>Devolver</a:t>
            </a:r>
          </a:p>
        </p:txBody>
      </p:sp>
      <p:sp>
        <p:nvSpPr>
          <p:cNvPr id="37" name="">
            <a:extLst xmlns:a="http://schemas.openxmlformats.org/drawingml/2006/main">
              <a:ext uri="{FF2B5EF4-FFF2-40B4-BE49-F238E27FC236}">
                <a16:creationId xmlns:a16="http://schemas.microsoft.com/office/drawing/2014/main" id="{D704CA6A-9798-4722-9473-987EE7898642}"/>
              </a:ext>
            </a:extLst>
          </p:cNvPr>
          <p:cNvSpPr>
            <a:spLocks xmlns:a="http://schemas.openxmlformats.org/drawingml/2006/main" noGrp="1"/>
          </p:cNvSpPr>
          <p:nvPr/>
        </p:nvSpPr>
        <p:spPr>
          <a:xfrm xmlns:a="http://schemas.openxmlformats.org/drawingml/2006/main">
            <a:off x="8382000" y="3228975"/>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5E6F76"/>
                </a:solidFill>
                <a:latin typeface="Arial"/>
                <a:ea typeface="Arial"/>
                <a:cs typeface="Arial"/>
              </a:defRPr>
            </a:pPr>
            <a:r>
              <a:rPr sz="900" b="0">
                <a:solidFill>
                  <a:srgbClr val="5E6F76"/>
                </a:solidFill>
                <a:latin typeface="Arial"/>
                <a:ea typeface="Arial"/>
                <a:cs typeface="Arial"/>
              </a:rPr>
              <a:t>evento</a:t>
            </a:r>
          </a:p>
        </p:txBody>
      </p:sp>
      <p:sp>
        <p:nvSpPr>
          <p:cNvPr id="38" name="">
            <a:extLst xmlns:a="http://schemas.openxmlformats.org/drawingml/2006/main">
              <a:ext uri="{FF2B5EF4-FFF2-40B4-BE49-F238E27FC236}">
                <a16:creationId xmlns:a16="http://schemas.microsoft.com/office/drawing/2014/main" id="{400C54DD-643D-4761-81B0-D0C35ECF12AC}"/>
              </a:ext>
            </a:extLst>
          </p:cNvPr>
          <p:cNvSpPr>
            <a:spLocks xmlns:a="http://schemas.openxmlformats.org/drawingml/2006/main" noGrp="1"/>
          </p:cNvSpPr>
          <p:nvPr/>
        </p:nvSpPr>
        <p:spPr>
          <a:xfrm xmlns:a="http://schemas.openxmlformats.org/drawingml/2006/main">
            <a:off x="9658350" y="3190875"/>
            <a:ext cx="133350" cy="0"/>
          </a:xfrm>
          <a:prstGeom xmlns:a="http://schemas.openxmlformats.org/drawingml/2006/main" prst="line">
            <a:avLst/>
          </a:prstGeom>
          <a:noFill xmlns:a="http://schemas.openxmlformats.org/drawingml/2006/main"/>
          <a:ln xmlns:a="http://schemas.openxmlformats.org/drawingml/2006/main" w="19050">
            <a:solidFill>
              <a:srgbClr val="007C78"/>
            </a:solidFill>
          </a:ln>
        </p:spPr>
      </p:sp>
      <p:sp>
        <p:nvSpPr>
          <p:cNvPr id="39" name="">
            <a:extLst xmlns:a="http://schemas.openxmlformats.org/drawingml/2006/main">
              <a:ext uri="{FF2B5EF4-FFF2-40B4-BE49-F238E27FC236}">
                <a16:creationId xmlns:a16="http://schemas.microsoft.com/office/drawing/2014/main" id="{D9196B67-BCFA-44FE-A6C9-A9C9EEA9ECC2}"/>
              </a:ext>
            </a:extLst>
          </p:cNvPr>
          <p:cNvSpPr>
            <a:spLocks xmlns:a="http://schemas.openxmlformats.org/drawingml/2006/main" noGrp="1"/>
          </p:cNvSpPr>
          <p:nvPr/>
        </p:nvSpPr>
        <p:spPr>
          <a:xfrm xmlns:a="http://schemas.openxmlformats.org/drawingml/2006/main">
            <a:off x="9658350" y="3019425"/>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50"/>
          </a:bodyPr>
          <a:lstStyle xmlns:a="http://schemas.openxmlformats.org/drawingml/2006/main"/>
          <a:p xmlns:a="http://schemas.openxmlformats.org/drawingml/2006/main">
            <a:pPr algn="ctr">
              <a:defRPr sz="1725" b="1">
                <a:solidFill>
                  <a:srgbClr val="007C78"/>
                </a:solidFill>
                <a:latin typeface="Arial"/>
                <a:ea typeface="Arial"/>
                <a:cs typeface="Arial"/>
              </a:defRPr>
            </a:pPr>
            <a:r>
              <a:rPr sz="1725" b="1">
                <a:solidFill>
                  <a:srgbClr val="007C78"/>
                </a:solidFill>
                <a:latin typeface="Arial"/>
                <a:ea typeface="Arial"/>
                <a:cs typeface="Arial"/>
              </a:rPr>
              <a:t>›</a:t>
            </a:r>
          </a:p>
        </p:txBody>
      </p:sp>
      <p:sp>
        <p:nvSpPr>
          <p:cNvPr id="40" name="">
            <a:extLst xmlns:a="http://schemas.openxmlformats.org/drawingml/2006/main">
              <a:ext uri="{FF2B5EF4-FFF2-40B4-BE49-F238E27FC236}">
                <a16:creationId xmlns:a16="http://schemas.microsoft.com/office/drawing/2014/main" id="{759B01C8-0CB5-4040-88B7-12D296A4741C}"/>
              </a:ext>
            </a:extLst>
          </p:cNvPr>
          <p:cNvSpPr>
            <a:spLocks xmlns:a="http://schemas.openxmlformats.org/drawingml/2006/main" noGrp="1"/>
          </p:cNvSpPr>
          <p:nvPr/>
        </p:nvSpPr>
        <p:spPr>
          <a:xfrm xmlns:a="http://schemas.openxmlformats.org/drawingml/2006/main">
            <a:off x="9829800" y="2724150"/>
            <a:ext cx="1352550" cy="933450"/>
          </a:xfrm>
          <a:prstGeom xmlns:a="http://schemas.openxmlformats.org/drawingml/2006/main" prst="roundRect">
            <a:avLst>
              <a:gd name="adj" fmla="val 8163"/>
            </a:avLst>
          </a:prstGeom>
          <a:solidFill xmlns:a="http://schemas.openxmlformats.org/drawingml/2006/main">
            <a:srgbClr val="E2EFEC"/>
          </a:solidFill>
          <a:ln xmlns:a="http://schemas.openxmlformats.org/drawingml/2006/main" w="14288">
            <a:solidFill>
              <a:srgbClr val="007C78"/>
            </a:solidFill>
          </a:ln>
        </p:spPr>
      </p:sp>
      <p:sp>
        <p:nvSpPr>
          <p:cNvPr id="41" name="">
            <a:extLst xmlns:a="http://schemas.openxmlformats.org/drawingml/2006/main">
              <a:ext uri="{FF2B5EF4-FFF2-40B4-BE49-F238E27FC236}">
                <a16:creationId xmlns:a16="http://schemas.microsoft.com/office/drawing/2014/main" id="{F67E6371-9E93-4123-93BD-FEF6B695B939}"/>
              </a:ext>
            </a:extLst>
          </p:cNvPr>
          <p:cNvSpPr>
            <a:spLocks xmlns:a="http://schemas.openxmlformats.org/drawingml/2006/main" noGrp="1"/>
          </p:cNvSpPr>
          <p:nvPr/>
        </p:nvSpPr>
        <p:spPr>
          <a:xfrm xmlns:a="http://schemas.openxmlformats.org/drawingml/2006/main">
            <a:off x="9906000" y="2867025"/>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02B3A"/>
                </a:solidFill>
                <a:latin typeface="Arial"/>
                <a:ea typeface="Arial"/>
                <a:cs typeface="Arial"/>
              </a:defRPr>
            </a:pPr>
            <a:r>
              <a:rPr sz="1275" b="1">
                <a:solidFill>
                  <a:srgbClr val="102B3A"/>
                </a:solidFill>
                <a:latin typeface="Arial"/>
                <a:ea typeface="Arial"/>
                <a:cs typeface="Arial"/>
              </a:rPr>
              <a:t>DISPONIBLE</a:t>
            </a:r>
          </a:p>
        </p:txBody>
      </p:sp>
      <p:sp>
        <p:nvSpPr>
          <p:cNvPr id="42" name="">
            <a:extLst xmlns:a="http://schemas.openxmlformats.org/drawingml/2006/main">
              <a:ext uri="{FF2B5EF4-FFF2-40B4-BE49-F238E27FC236}">
                <a16:creationId xmlns:a16="http://schemas.microsoft.com/office/drawing/2014/main" id="{AF5D6423-8369-4DA0-A299-0A082369BBC9}"/>
              </a:ext>
            </a:extLst>
          </p:cNvPr>
          <p:cNvSpPr>
            <a:spLocks xmlns:a="http://schemas.openxmlformats.org/drawingml/2006/main" noGrp="1"/>
          </p:cNvSpPr>
          <p:nvPr/>
        </p:nvSpPr>
        <p:spPr>
          <a:xfrm xmlns:a="http://schemas.openxmlformats.org/drawingml/2006/main">
            <a:off x="9906000" y="3228975"/>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5E6F76"/>
                </a:solidFill>
                <a:latin typeface="Arial"/>
                <a:ea typeface="Arial"/>
                <a:cs typeface="Arial"/>
              </a:defRPr>
            </a:pPr>
            <a:r>
              <a:rPr sz="900" b="0">
                <a:solidFill>
                  <a:srgbClr val="5E6F76"/>
                </a:solidFill>
                <a:latin typeface="Arial"/>
                <a:ea typeface="Arial"/>
                <a:cs typeface="Arial"/>
              </a:rPr>
              <a:t>estado final</a:t>
            </a:r>
          </a:p>
        </p:txBody>
      </p:sp>
      <p:sp>
        <p:nvSpPr>
          <p:cNvPr id="43" name="">
            <a:extLst xmlns:a="http://schemas.openxmlformats.org/drawingml/2006/main">
              <a:ext uri="{FF2B5EF4-FFF2-40B4-BE49-F238E27FC236}">
                <a16:creationId xmlns:a16="http://schemas.microsoft.com/office/drawing/2014/main" id="{4CB73F9E-C499-48C5-872A-AD9CF29A6EE7}"/>
              </a:ext>
            </a:extLst>
          </p:cNvPr>
          <p:cNvSpPr>
            <a:spLocks xmlns:a="http://schemas.openxmlformats.org/drawingml/2006/main" noGrp="1"/>
          </p:cNvSpPr>
          <p:nvPr/>
        </p:nvSpPr>
        <p:spPr>
          <a:xfrm xmlns:a="http://schemas.openxmlformats.org/drawingml/2006/main">
            <a:off x="1809750" y="4238625"/>
            <a:ext cx="85725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4288">
            <a:solidFill>
              <a:srgbClr val="C7D3D0"/>
            </a:solidFill>
          </a:ln>
        </p:spPr>
      </p:sp>
      <p:sp>
        <p:nvSpPr>
          <p:cNvPr id="44" name="">
            <a:extLst xmlns:a="http://schemas.openxmlformats.org/drawingml/2006/main">
              <a:ext uri="{FF2B5EF4-FFF2-40B4-BE49-F238E27FC236}">
                <a16:creationId xmlns:a16="http://schemas.microsoft.com/office/drawing/2014/main" id="{FE3A8580-D0FF-466C-8F9E-4AEE701C3D83}"/>
              </a:ext>
            </a:extLst>
          </p:cNvPr>
          <p:cNvSpPr>
            <a:spLocks xmlns:a="http://schemas.openxmlformats.org/drawingml/2006/main" noGrp="1"/>
          </p:cNvSpPr>
          <p:nvPr/>
        </p:nvSpPr>
        <p:spPr>
          <a:xfrm xmlns:a="http://schemas.openxmlformats.org/drawingml/2006/main">
            <a:off x="2057400" y="43624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007C78"/>
                </a:solidFill>
                <a:latin typeface="Arial"/>
                <a:ea typeface="Arial"/>
                <a:cs typeface="Arial"/>
              </a:defRPr>
            </a:pPr>
            <a:r>
              <a:rPr sz="1275" b="1">
                <a:solidFill>
                  <a:srgbClr val="007C78"/>
                </a:solidFill>
                <a:latin typeface="Arial"/>
                <a:ea typeface="Arial"/>
                <a:cs typeface="Arial"/>
              </a:rPr>
              <a:t>Instantánea de objeto</a:t>
            </a:r>
          </a:p>
        </p:txBody>
      </p:sp>
      <p:sp>
        <p:nvSpPr>
          <p:cNvPr id="45" name="">
            <a:extLst xmlns:a="http://schemas.openxmlformats.org/drawingml/2006/main">
              <a:ext uri="{FF2B5EF4-FFF2-40B4-BE49-F238E27FC236}">
                <a16:creationId xmlns:a16="http://schemas.microsoft.com/office/drawing/2014/main" id="{AD54B4A5-6DD6-4389-B3FB-93AF450EDDC2}"/>
              </a:ext>
            </a:extLst>
          </p:cNvPr>
          <p:cNvSpPr>
            <a:spLocks xmlns:a="http://schemas.openxmlformats.org/drawingml/2006/main" noGrp="1"/>
          </p:cNvSpPr>
          <p:nvPr/>
        </p:nvSpPr>
        <p:spPr>
          <a:xfrm xmlns:a="http://schemas.openxmlformats.org/drawingml/2006/main">
            <a:off x="2057400" y="4657725"/>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02B3A"/>
                </a:solidFill>
                <a:latin typeface="Arial"/>
                <a:ea typeface="Arial"/>
                <a:cs typeface="Arial"/>
              </a:defRPr>
            </a:pPr>
            <a:r>
              <a:rPr sz="1575" b="1">
                <a:solidFill>
                  <a:srgbClr val="102B3A"/>
                </a:solidFill>
                <a:latin typeface="Arial"/>
                <a:ea typeface="Arial"/>
                <a:cs typeface="Arial"/>
              </a:rPr>
              <a:t>ejemplar01 : Ejemplar     código = E-104     estado = Prestado</a:t>
            </a:r>
          </a:p>
        </p:txBody>
      </p:sp>
      <p:sp>
        <p:nvSpPr>
          <p:cNvPr id="46" name="">
            <a:extLst xmlns:a="http://schemas.openxmlformats.org/drawingml/2006/main">
              <a:ext uri="{FF2B5EF4-FFF2-40B4-BE49-F238E27FC236}">
                <a16:creationId xmlns:a16="http://schemas.microsoft.com/office/drawing/2014/main" id="{0280F191-E5B8-4F8F-A95B-B8689118EA53}"/>
              </a:ext>
            </a:extLst>
          </p:cNvPr>
          <p:cNvSpPr>
            <a:spLocks xmlns:a="http://schemas.openxmlformats.org/drawingml/2006/main" noGrp="1"/>
          </p:cNvSpPr>
          <p:nvPr/>
        </p:nvSpPr>
        <p:spPr>
          <a:xfrm xmlns:a="http://schemas.openxmlformats.org/drawingml/2006/main">
            <a:off x="1809750" y="55149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5E6F76"/>
                </a:solidFill>
                <a:latin typeface="Arial"/>
                <a:ea typeface="Arial"/>
                <a:cs typeface="Arial"/>
              </a:defRPr>
            </a:pPr>
            <a:r>
              <a:rPr sz="1275" b="0">
                <a:solidFill>
                  <a:srgbClr val="5E6F76"/>
                </a:solidFill>
                <a:latin typeface="Arial"/>
                <a:ea typeface="Arial"/>
                <a:cs typeface="Arial"/>
              </a:rPr>
              <a:t>Diagrama de objetos = valores en un momento. Máquina de estados = cambios a través del tiempo.</a:t>
            </a:r>
          </a:p>
        </p:txBody>
      </p:sp>
    </p:spTree>
    <p:extLst>
      <p:ext uri="{BB962C8B-B14F-4D97-AF65-F5344CB8AC3E}">
        <p14:creationId xmlns:p14="http://schemas.microsoft.com/office/powerpoint/2010/main" val="1410384984"/>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7920BC-FEF6-4AC7-BD81-3BA2ABFDC16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B2CB65-2DFF-410F-BB33-00A03C18292A}"/>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8A503BD7-C506-4863-8B19-39A87E1E6EE1}"/>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EJEMPLO</a:t>
            </a:r>
          </a:p>
        </p:txBody>
      </p:sp>
      <p:sp>
        <p:nvSpPr>
          <p:cNvPr id="4" name="">
            <a:extLst xmlns:a="http://schemas.openxmlformats.org/drawingml/2006/main">
              <a:ext uri="{FF2B5EF4-FFF2-40B4-BE49-F238E27FC236}">
                <a16:creationId xmlns:a16="http://schemas.microsoft.com/office/drawing/2014/main" id="{6D7EFAAD-2CCE-4691-B4B7-57BFDCE8A47A}"/>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3A8EAAA2-C301-4EAE-93E2-0B206507E853}"/>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03</a:t>
            </a:r>
          </a:p>
        </p:txBody>
      </p:sp>
      <p:sp>
        <p:nvSpPr>
          <p:cNvPr id="6" name="">
            <a:extLst xmlns:a="http://schemas.openxmlformats.org/drawingml/2006/main">
              <a:ext uri="{FF2B5EF4-FFF2-40B4-BE49-F238E27FC236}">
                <a16:creationId xmlns:a16="http://schemas.microsoft.com/office/drawing/2014/main" id="{8912AE08-7B4E-46FD-B2A7-671F24837439}"/>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11A3BC99-743F-45BD-B7E0-76C8EF4ABCFB}"/>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APLICACIÓN</a:t>
            </a:r>
          </a:p>
        </p:txBody>
      </p:sp>
      <p:sp>
        <p:nvSpPr>
          <p:cNvPr id="8" name="">
            <a:extLst xmlns:a="http://schemas.openxmlformats.org/drawingml/2006/main">
              <a:ext uri="{FF2B5EF4-FFF2-40B4-BE49-F238E27FC236}">
                <a16:creationId xmlns:a16="http://schemas.microsoft.com/office/drawing/2014/main" id="{B1CFBDBF-1647-4D91-8A64-140CDC8C451C}"/>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Un ejemplo paso a paso</a:t>
            </a:r>
          </a:p>
        </p:txBody>
      </p:sp>
      <p:sp>
        <p:nvSpPr>
          <p:cNvPr id="9" name="">
            <a:extLst xmlns:a="http://schemas.openxmlformats.org/drawingml/2006/main">
              <a:ext uri="{FF2B5EF4-FFF2-40B4-BE49-F238E27FC236}">
                <a16:creationId xmlns:a16="http://schemas.microsoft.com/office/drawing/2014/main" id="{A472FAD2-04AC-458E-AA0D-95FEB6BF7D88}"/>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Caso ilustrativo de una biblioteca; validar las reglas antes de aplicarlas a un sistema real.</a:t>
            </a:r>
          </a:p>
        </p:txBody>
      </p:sp>
      <p:sp>
        <p:nvSpPr>
          <p:cNvPr id="10" name="">
            <a:extLst xmlns:a="http://schemas.openxmlformats.org/drawingml/2006/main">
              <a:ext uri="{FF2B5EF4-FFF2-40B4-BE49-F238E27FC236}">
                <a16:creationId xmlns:a16="http://schemas.microsoft.com/office/drawing/2014/main" id="{9F01B758-FBD9-4CAE-BA93-11908E9347E3}"/>
              </a:ext>
            </a:extLst>
          </p:cNvPr>
          <p:cNvSpPr>
            <a:spLocks xmlns:a="http://schemas.openxmlformats.org/drawingml/2006/main" noGrp="1"/>
          </p:cNvSpPr>
          <p:nvPr/>
        </p:nvSpPr>
        <p:spPr>
          <a:xfrm xmlns:a="http://schemas.openxmlformats.org/drawingml/2006/main">
            <a:off x="876300" y="2543175"/>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94956D2-27F7-4B7B-A3B1-78CB96FF2E8F}"/>
              </a:ext>
            </a:extLst>
          </p:cNvPr>
          <p:cNvSpPr>
            <a:spLocks xmlns:a="http://schemas.openxmlformats.org/drawingml/2006/main" noGrp="1"/>
          </p:cNvSpPr>
          <p:nvPr/>
        </p:nvSpPr>
        <p:spPr>
          <a:xfrm xmlns:a="http://schemas.openxmlformats.org/drawingml/2006/main">
            <a:off x="1143000" y="2457450"/>
            <a:ext cx="992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52C3A"/>
                </a:solidFill>
                <a:latin typeface="Arial"/>
                <a:ea typeface="Arial"/>
                <a:cs typeface="Arial"/>
              </a:defRPr>
            </a:pPr>
            <a:r>
              <a:rPr sz="1575" b="0">
                <a:solidFill>
                  <a:srgbClr val="152C3A"/>
                </a:solidFill>
                <a:latin typeface="Arial"/>
                <a:ea typeface="Arial"/>
                <a:cs typeface="Arial"/>
              </a:rPr>
              <a:t>Instantánea: un préstamo activo enlaza a un estudiante con un ejemplar prestado.</a:t>
            </a:r>
          </a:p>
        </p:txBody>
      </p:sp>
      <p:sp>
        <p:nvSpPr>
          <p:cNvPr id="12" name="">
            <a:extLst xmlns:a="http://schemas.openxmlformats.org/drawingml/2006/main">
              <a:ext uri="{FF2B5EF4-FFF2-40B4-BE49-F238E27FC236}">
                <a16:creationId xmlns:a16="http://schemas.microsoft.com/office/drawing/2014/main" id="{0292C340-9E98-4065-9FBC-78EA8DE2E6ED}"/>
              </a:ext>
            </a:extLst>
          </p:cNvPr>
          <p:cNvSpPr>
            <a:spLocks xmlns:a="http://schemas.openxmlformats.org/drawingml/2006/main" noGrp="1"/>
          </p:cNvSpPr>
          <p:nvPr/>
        </p:nvSpPr>
        <p:spPr>
          <a:xfrm xmlns:a="http://schemas.openxmlformats.org/drawingml/2006/main">
            <a:off x="876300" y="3381375"/>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8E74E46-E76F-4FBE-B5C7-0DC138318838}"/>
              </a:ext>
            </a:extLst>
          </p:cNvPr>
          <p:cNvSpPr>
            <a:spLocks xmlns:a="http://schemas.openxmlformats.org/drawingml/2006/main" noGrp="1"/>
          </p:cNvSpPr>
          <p:nvPr/>
        </p:nvSpPr>
        <p:spPr>
          <a:xfrm xmlns:a="http://schemas.openxmlformats.org/drawingml/2006/main">
            <a:off x="1143000" y="3295650"/>
            <a:ext cx="992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52C3A"/>
                </a:solidFill>
                <a:latin typeface="Arial"/>
                <a:ea typeface="Arial"/>
                <a:cs typeface="Arial"/>
              </a:defRPr>
            </a:pPr>
            <a:r>
              <a:rPr sz="1575" b="0">
                <a:solidFill>
                  <a:srgbClr val="152C3A"/>
                </a:solidFill>
                <a:latin typeface="Arial"/>
                <a:ea typeface="Arial"/>
                <a:cs typeface="Arial"/>
              </a:rPr>
              <a:t>Secuencia: Disponible → Reservado → Prestado → Disponible.</a:t>
            </a:r>
          </a:p>
        </p:txBody>
      </p:sp>
      <p:sp>
        <p:nvSpPr>
          <p:cNvPr id="14" name="">
            <a:extLst xmlns:a="http://schemas.openxmlformats.org/drawingml/2006/main">
              <a:ext uri="{FF2B5EF4-FFF2-40B4-BE49-F238E27FC236}">
                <a16:creationId xmlns:a16="http://schemas.microsoft.com/office/drawing/2014/main" id="{92ED5801-CF95-48DA-B5E0-0E1D7FF7AEDE}"/>
              </a:ext>
            </a:extLst>
          </p:cNvPr>
          <p:cNvSpPr>
            <a:spLocks xmlns:a="http://schemas.openxmlformats.org/drawingml/2006/main" noGrp="1"/>
          </p:cNvSpPr>
          <p:nvPr/>
        </p:nvSpPr>
        <p:spPr>
          <a:xfrm xmlns:a="http://schemas.openxmlformats.org/drawingml/2006/main">
            <a:off x="876300" y="4219575"/>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C74A115-F79A-455C-9AE3-8D564640A461}"/>
              </a:ext>
            </a:extLst>
          </p:cNvPr>
          <p:cNvSpPr>
            <a:spLocks xmlns:a="http://schemas.openxmlformats.org/drawingml/2006/main" noGrp="1"/>
          </p:cNvSpPr>
          <p:nvPr/>
        </p:nvSpPr>
        <p:spPr>
          <a:xfrm xmlns:a="http://schemas.openxmlformats.org/drawingml/2006/main">
            <a:off x="1143000" y="4133850"/>
            <a:ext cx="992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52C3A"/>
                </a:solidFill>
                <a:latin typeface="Arial"/>
                <a:ea typeface="Arial"/>
                <a:cs typeface="Arial"/>
              </a:defRPr>
            </a:pPr>
            <a:r>
              <a:rPr sz="1575" b="0">
                <a:solidFill>
                  <a:srgbClr val="152C3A"/>
                </a:solidFill>
                <a:latin typeface="Arial"/>
                <a:ea typeface="Arial"/>
                <a:cs typeface="Arial"/>
              </a:rPr>
              <a:t>Una política real puede añadir renovaciones, multas, cancelaciones o estados de reparación.</a:t>
            </a:r>
          </a:p>
        </p:txBody>
      </p:sp>
      <p:sp>
        <p:nvSpPr>
          <p:cNvPr id="16" name="">
            <a:extLst xmlns:a="http://schemas.openxmlformats.org/drawingml/2006/main">
              <a:ext uri="{FF2B5EF4-FFF2-40B4-BE49-F238E27FC236}">
                <a16:creationId xmlns:a16="http://schemas.microsoft.com/office/drawing/2014/main" id="{E77CD3DB-77F0-4A01-812A-E078A304C555}"/>
              </a:ext>
            </a:extLst>
          </p:cNvPr>
          <p:cNvSpPr>
            <a:spLocks xmlns:a="http://schemas.openxmlformats.org/drawingml/2006/main" noGrp="1"/>
          </p:cNvSpPr>
          <p:nvPr/>
        </p:nvSpPr>
        <p:spPr>
          <a:xfrm xmlns:a="http://schemas.openxmlformats.org/drawingml/2006/main">
            <a:off x="876300" y="5114925"/>
            <a:ext cx="10191750" cy="704850"/>
          </a:xfrm>
          <a:prstGeom xmlns:a="http://schemas.openxmlformats.org/drawingml/2006/main" prst="roundRect">
            <a:avLst>
              <a:gd name="adj" fmla="val 10811"/>
            </a:avLst>
          </a:prstGeom>
          <a:solidFill xmlns:a="http://schemas.openxmlformats.org/drawingml/2006/main">
            <a:srgbClr val="E2EFEC"/>
          </a:solidFill>
          <a:ln xmlns:a="http://schemas.openxmlformats.org/drawingml/2006/main" w="14288">
            <a:solidFill>
              <a:srgbClr val="C7D3D0"/>
            </a:solidFill>
          </a:ln>
        </p:spPr>
      </p:sp>
      <p:sp>
        <p:nvSpPr>
          <p:cNvPr id="17" name="">
            <a:extLst xmlns:a="http://schemas.openxmlformats.org/drawingml/2006/main">
              <a:ext uri="{FF2B5EF4-FFF2-40B4-BE49-F238E27FC236}">
                <a16:creationId xmlns:a16="http://schemas.microsoft.com/office/drawing/2014/main" id="{A8999A50-A8BF-4CCF-A50F-EF7B4711A816}"/>
              </a:ext>
            </a:extLst>
          </p:cNvPr>
          <p:cNvSpPr>
            <a:spLocks xmlns:a="http://schemas.openxmlformats.org/drawingml/2006/main" noGrp="1"/>
          </p:cNvSpPr>
          <p:nvPr/>
        </p:nvSpPr>
        <p:spPr>
          <a:xfrm xmlns:a="http://schemas.openxmlformats.org/drawingml/2006/main">
            <a:off x="1104900" y="52006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Pregunta para el curso</a:t>
            </a:r>
          </a:p>
        </p:txBody>
      </p:sp>
      <p:sp>
        <p:nvSpPr>
          <p:cNvPr id="18" name="">
            <a:extLst xmlns:a="http://schemas.openxmlformats.org/drawingml/2006/main">
              <a:ext uri="{FF2B5EF4-FFF2-40B4-BE49-F238E27FC236}">
                <a16:creationId xmlns:a16="http://schemas.microsoft.com/office/drawing/2014/main" id="{A070C9EE-156F-409F-9CAF-F4E715C38D72}"/>
              </a:ext>
            </a:extLst>
          </p:cNvPr>
          <p:cNvSpPr>
            <a:spLocks xmlns:a="http://schemas.openxmlformats.org/drawingml/2006/main" noGrp="1"/>
          </p:cNvSpPr>
          <p:nvPr/>
        </p:nvSpPr>
        <p:spPr>
          <a:xfrm xmlns:a="http://schemas.openxmlformats.org/drawingml/2006/main">
            <a:off x="1104900" y="5438775"/>
            <a:ext cx="9601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102B3A"/>
                </a:solidFill>
                <a:latin typeface="Arial"/>
                <a:ea typeface="Arial"/>
                <a:cs typeface="Arial"/>
              </a:defRPr>
            </a:pPr>
            <a:r>
              <a:rPr sz="1425" b="1">
                <a:solidFill>
                  <a:srgbClr val="102B3A"/>
                </a:solidFill>
                <a:latin typeface="Arial"/>
                <a:ea typeface="Arial"/>
                <a:cs typeface="Arial"/>
              </a:rPr>
              <a:t>¿Qué dato, regla o evidencia faltaría para validar este modelo?</a:t>
            </a:r>
          </a:p>
        </p:txBody>
      </p:sp>
    </p:spTree>
    <p:extLst>
      <p:ext uri="{BB962C8B-B14F-4D97-AF65-F5344CB8AC3E}">
        <p14:creationId xmlns:p14="http://schemas.microsoft.com/office/powerpoint/2010/main" val="461108086"/>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2986EE2-FFE2-482C-9DD3-35E7FD1AA7B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9424E9-E11A-4FC2-B1F0-8A8B9B520C82}"/>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FCA67E95-B142-4EB1-B3DE-0172E7469AA1}"/>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LECTURA DEL MODELO</a:t>
            </a:r>
          </a:p>
        </p:txBody>
      </p:sp>
      <p:sp>
        <p:nvSpPr>
          <p:cNvPr id="4" name="">
            <a:extLst xmlns:a="http://schemas.openxmlformats.org/drawingml/2006/main">
              <a:ext uri="{FF2B5EF4-FFF2-40B4-BE49-F238E27FC236}">
                <a16:creationId xmlns:a16="http://schemas.microsoft.com/office/drawing/2014/main" id="{1E3DE482-5C6B-44F1-8C97-4FD275FB3718}"/>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781DA654-6504-4C12-A2A2-98168AE6C430}"/>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03</a:t>
            </a:r>
          </a:p>
        </p:txBody>
      </p:sp>
      <p:sp>
        <p:nvSpPr>
          <p:cNvPr id="6" name="">
            <a:extLst xmlns:a="http://schemas.openxmlformats.org/drawingml/2006/main">
              <a:ext uri="{FF2B5EF4-FFF2-40B4-BE49-F238E27FC236}">
                <a16:creationId xmlns:a16="http://schemas.microsoft.com/office/drawing/2014/main" id="{65A79155-B447-4D9A-9340-2DBB6BF23D1F}"/>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655ED946-C6CE-4666-90D8-EBA9C8BD88A8}"/>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IDEA CENTRAL</a:t>
            </a:r>
          </a:p>
        </p:txBody>
      </p:sp>
      <p:sp>
        <p:nvSpPr>
          <p:cNvPr id="8" name="">
            <a:extLst xmlns:a="http://schemas.openxmlformats.org/drawingml/2006/main">
              <a:ext uri="{FF2B5EF4-FFF2-40B4-BE49-F238E27FC236}">
                <a16:creationId xmlns:a16="http://schemas.microsoft.com/office/drawing/2014/main" id="{1F407068-6581-4E4A-B1B8-0ABB85D34511}"/>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Interpretación del ejemplo</a:t>
            </a:r>
          </a:p>
        </p:txBody>
      </p:sp>
      <p:sp>
        <p:nvSpPr>
          <p:cNvPr id="9" name="">
            <a:extLst xmlns:a="http://schemas.openxmlformats.org/drawingml/2006/main">
              <a:ext uri="{FF2B5EF4-FFF2-40B4-BE49-F238E27FC236}">
                <a16:creationId xmlns:a16="http://schemas.microsoft.com/office/drawing/2014/main" id="{557DC07F-F0F2-413F-BFBE-278E2D296352}"/>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Objetos y diagramas de estado</a:t>
            </a:r>
          </a:p>
        </p:txBody>
      </p:sp>
      <p:sp>
        <p:nvSpPr>
          <p:cNvPr id="10" name="">
            <a:extLst xmlns:a="http://schemas.openxmlformats.org/drawingml/2006/main">
              <a:ext uri="{FF2B5EF4-FFF2-40B4-BE49-F238E27FC236}">
                <a16:creationId xmlns:a16="http://schemas.microsoft.com/office/drawing/2014/main" id="{6949ADBB-7175-41E1-A508-C14B82EA5BCE}"/>
              </a:ext>
            </a:extLst>
          </p:cNvPr>
          <p:cNvSpPr>
            <a:spLocks xmlns:a="http://schemas.openxmlformats.org/drawingml/2006/main" noGrp="1"/>
          </p:cNvSpPr>
          <p:nvPr/>
        </p:nvSpPr>
        <p:spPr>
          <a:xfrm xmlns:a="http://schemas.openxmlformats.org/drawingml/2006/main">
            <a:off x="876300" y="2333625"/>
            <a:ext cx="10439400" cy="1762125"/>
          </a:xfrm>
          <a:prstGeom xmlns:a="http://schemas.openxmlformats.org/drawingml/2006/main" prst="roundRect">
            <a:avLst>
              <a:gd name="adj" fmla="val 4324"/>
            </a:avLst>
          </a:prstGeom>
          <a:solidFill xmlns:a="http://schemas.openxmlformats.org/drawingml/2006/main">
            <a:srgbClr val="FFFFFF"/>
          </a:solidFill>
          <a:ln xmlns:a="http://schemas.openxmlformats.org/drawingml/2006/main" w="14288">
            <a:solidFill>
              <a:srgbClr val="C7D3D0"/>
            </a:solidFill>
          </a:ln>
        </p:spPr>
      </p:sp>
      <p:sp>
        <p:nvSpPr>
          <p:cNvPr id="11" name="">
            <a:extLst xmlns:a="http://schemas.openxmlformats.org/drawingml/2006/main">
              <a:ext uri="{FF2B5EF4-FFF2-40B4-BE49-F238E27FC236}">
                <a16:creationId xmlns:a16="http://schemas.microsoft.com/office/drawing/2014/main" id="{347CFA02-0B3B-488F-8670-30DE3803952B}"/>
              </a:ext>
            </a:extLst>
          </p:cNvPr>
          <p:cNvSpPr>
            <a:spLocks xmlns:a="http://schemas.openxmlformats.org/drawingml/2006/main" noGrp="1"/>
          </p:cNvSpPr>
          <p:nvPr/>
        </p:nvSpPr>
        <p:spPr>
          <a:xfrm xmlns:a="http://schemas.openxmlformats.org/drawingml/2006/main">
            <a:off x="1143000" y="2552700"/>
            <a:ext cx="9906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02B3A"/>
                </a:solidFill>
                <a:latin typeface="Arial"/>
                <a:ea typeface="Arial"/>
                <a:cs typeface="Arial"/>
              </a:defRPr>
            </a:pPr>
            <a:r>
              <a:rPr sz="1500" b="0">
                <a:solidFill>
                  <a:srgbClr val="102B3A"/>
                </a:solidFill>
                <a:latin typeface="Arial"/>
                <a:ea typeface="Arial"/>
                <a:cs typeface="Arial"/>
              </a:rPr>
              <a:t>Un estado se interpreta como una condición durante la vida de un objeto, no como un valor aislado de la base de datos. Una transición une un estado de origen con uno de destino y puede activarse por un evento; la guarda determina si se cumple una condición necesaria. Los estados y las reglas del ejemplo son supuestos didácticos hasta contrastarlos con las políticas reales de la biblioteca.</a:t>
            </a:r>
          </a:p>
        </p:txBody>
      </p:sp>
      <p:sp>
        <p:nvSpPr>
          <p:cNvPr id="12" name="">
            <a:extLst xmlns:a="http://schemas.openxmlformats.org/drawingml/2006/main">
              <a:ext uri="{FF2B5EF4-FFF2-40B4-BE49-F238E27FC236}">
                <a16:creationId xmlns:a16="http://schemas.microsoft.com/office/drawing/2014/main" id="{6BCDCE0D-3C5D-4C26-A461-F4DD58CBB2CE}"/>
              </a:ext>
            </a:extLst>
          </p:cNvPr>
          <p:cNvSpPr>
            <a:spLocks xmlns:a="http://schemas.openxmlformats.org/drawingml/2006/main" noGrp="1"/>
          </p:cNvSpPr>
          <p:nvPr/>
        </p:nvSpPr>
        <p:spPr>
          <a:xfrm xmlns:a="http://schemas.openxmlformats.org/drawingml/2006/main">
            <a:off x="876300" y="4381500"/>
            <a:ext cx="10439400" cy="1143000"/>
          </a:xfrm>
          <a:prstGeom xmlns:a="http://schemas.openxmlformats.org/drawingml/2006/main" prst="roundRect">
            <a:avLst>
              <a:gd name="adj" fmla="val 6667"/>
            </a:avLst>
          </a:prstGeom>
          <a:solidFill xmlns:a="http://schemas.openxmlformats.org/drawingml/2006/main">
            <a:srgbClr val="F4EED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A4BCC5D-70CB-4ED3-828F-B6CBB17720F8}"/>
              </a:ext>
            </a:extLst>
          </p:cNvPr>
          <p:cNvSpPr>
            <a:spLocks xmlns:a="http://schemas.openxmlformats.org/drawingml/2006/main" noGrp="1"/>
          </p:cNvSpPr>
          <p:nvPr/>
        </p:nvSpPr>
        <p:spPr>
          <a:xfrm xmlns:a="http://schemas.openxmlformats.org/drawingml/2006/main">
            <a:off x="1104900" y="4514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07C78"/>
                </a:solidFill>
                <a:latin typeface="Arial"/>
                <a:ea typeface="Arial"/>
                <a:cs typeface="Arial"/>
              </a:defRPr>
            </a:pPr>
            <a:r>
              <a:rPr sz="1125" b="1">
                <a:solidFill>
                  <a:srgbClr val="007C78"/>
                </a:solidFill>
                <a:latin typeface="Arial"/>
                <a:ea typeface="Arial"/>
                <a:cs typeface="Arial"/>
              </a:rPr>
              <a:t>Relación con el ejemplo</a:t>
            </a:r>
          </a:p>
        </p:txBody>
      </p:sp>
      <p:sp>
        <p:nvSpPr>
          <p:cNvPr id="14" name="">
            <a:extLst xmlns:a="http://schemas.openxmlformats.org/drawingml/2006/main">
              <a:ext uri="{FF2B5EF4-FFF2-40B4-BE49-F238E27FC236}">
                <a16:creationId xmlns:a16="http://schemas.microsoft.com/office/drawing/2014/main" id="{3A2A45EA-3D6C-441D-969B-A2A3DA942E0F}"/>
              </a:ext>
            </a:extLst>
          </p:cNvPr>
          <p:cNvSpPr>
            <a:spLocks xmlns:a="http://schemas.openxmlformats.org/drawingml/2006/main" noGrp="1"/>
          </p:cNvSpPr>
          <p:nvPr/>
        </p:nvSpPr>
        <p:spPr>
          <a:xfrm xmlns:a="http://schemas.openxmlformats.org/drawingml/2006/main">
            <a:off x="1104900" y="4819650"/>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52C3A"/>
                </a:solidFill>
                <a:latin typeface="Arial"/>
                <a:ea typeface="Arial"/>
                <a:cs typeface="Arial"/>
              </a:defRPr>
            </a:pPr>
            <a:r>
              <a:rPr sz="1275" b="0">
                <a:solidFill>
                  <a:srgbClr val="152C3A"/>
                </a:solidFill>
                <a:latin typeface="Arial"/>
                <a:ea typeface="Arial"/>
                <a:cs typeface="Arial"/>
              </a:rPr>
              <a:t>Instantánea: un préstamo activo enlaza a un estudiante con un ejemplar prestado.</a:t>
            </a:r>
          </a:p>
        </p:txBody>
      </p:sp>
    </p:spTree>
    <p:extLst>
      <p:ext uri="{BB962C8B-B14F-4D97-AF65-F5344CB8AC3E}">
        <p14:creationId xmlns:p14="http://schemas.microsoft.com/office/powerpoint/2010/main" val="1359988028"/>
      </p:ext>
    </p:extLst>
  </p:cSld>
</p:sld>
</file>

<file path=ppt/slides/slide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CF06619-336A-46E4-BFF5-DC02927E12E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C542B3-5708-4BF4-8D8E-07C44F062D27}"/>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8DA63633-1FFB-4159-9CE9-7FC914B089F9}"/>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FUENTE FÍSICA</a:t>
            </a:r>
          </a:p>
        </p:txBody>
      </p:sp>
      <p:sp>
        <p:nvSpPr>
          <p:cNvPr id="4" name="">
            <a:extLst xmlns:a="http://schemas.openxmlformats.org/drawingml/2006/main">
              <a:ext uri="{FF2B5EF4-FFF2-40B4-BE49-F238E27FC236}">
                <a16:creationId xmlns:a16="http://schemas.microsoft.com/office/drawing/2014/main" id="{CE9F3500-07A2-4500-A6E6-CE9B08BD10DD}"/>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56702E3B-9040-4402-8F3D-6197D9E620FE}"/>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03</a:t>
            </a:r>
          </a:p>
        </p:txBody>
      </p:sp>
      <p:sp>
        <p:nvSpPr>
          <p:cNvPr id="6" name="">
            <a:extLst xmlns:a="http://schemas.openxmlformats.org/drawingml/2006/main">
              <a:ext uri="{FF2B5EF4-FFF2-40B4-BE49-F238E27FC236}">
                <a16:creationId xmlns:a16="http://schemas.microsoft.com/office/drawing/2014/main" id="{9A27E80D-BC01-44D7-BECA-DEA624DE2060}"/>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15940ADB-0925-46B8-9ACC-298354F05348}"/>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LIBRO FÍSICO SUGERIDO</a:t>
            </a:r>
          </a:p>
        </p:txBody>
      </p:sp>
      <p:sp>
        <p:nvSpPr>
          <p:cNvPr id="8" name="">
            <a:extLst xmlns:a="http://schemas.openxmlformats.org/drawingml/2006/main">
              <a:ext uri="{FF2B5EF4-FFF2-40B4-BE49-F238E27FC236}">
                <a16:creationId xmlns:a16="http://schemas.microsoft.com/office/drawing/2014/main" id="{56AD0253-1D82-4B67-A2D6-B6FF385B3CDF}"/>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Evidencia bibliográfica del tema</a:t>
            </a:r>
          </a:p>
        </p:txBody>
      </p:sp>
      <p:sp>
        <p:nvSpPr>
          <p:cNvPr id="9" name="">
            <a:extLst xmlns:a="http://schemas.openxmlformats.org/drawingml/2006/main">
              <a:ext uri="{FF2B5EF4-FFF2-40B4-BE49-F238E27FC236}">
                <a16:creationId xmlns:a16="http://schemas.microsoft.com/office/drawing/2014/main" id="{8F3FA397-3A77-45D1-846D-340159B583B0}"/>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El catálogo UPDS lo registra como impreso; confirme disponibilidad al consultarlo.</a:t>
            </a:r>
          </a:p>
        </p:txBody>
      </p:sp>
      <p:sp>
        <p:nvSpPr>
          <p:cNvPr id="10" name="">
            <a:extLst xmlns:a="http://schemas.openxmlformats.org/drawingml/2006/main">
              <a:ext uri="{FF2B5EF4-FFF2-40B4-BE49-F238E27FC236}">
                <a16:creationId xmlns:a16="http://schemas.microsoft.com/office/drawing/2014/main" id="{0B9AC18B-20D4-456D-B05D-26A1FB4FF2B1}"/>
              </a:ext>
            </a:extLst>
          </p:cNvPr>
          <p:cNvSpPr>
            <a:spLocks xmlns:a="http://schemas.openxmlformats.org/drawingml/2006/main" noGrp="1"/>
          </p:cNvSpPr>
          <p:nvPr/>
        </p:nvSpPr>
        <p:spPr>
          <a:xfrm xmlns:a="http://schemas.openxmlformats.org/drawingml/2006/main">
            <a:off x="876300" y="2286000"/>
            <a:ext cx="10439400" cy="742950"/>
          </a:xfrm>
          <a:prstGeom xmlns:a="http://schemas.openxmlformats.org/drawingml/2006/main" prst="roundRect">
            <a:avLst>
              <a:gd name="adj" fmla="val 10256"/>
            </a:avLst>
          </a:prstGeom>
          <a:solidFill xmlns:a="http://schemas.openxmlformats.org/drawingml/2006/main">
            <a:srgbClr val="E2EFEC"/>
          </a:solidFill>
          <a:ln xmlns:a="http://schemas.openxmlformats.org/drawingml/2006/main" w="14288">
            <a:solidFill>
              <a:srgbClr val="C7D3D0"/>
            </a:solidFill>
          </a:ln>
        </p:spPr>
      </p:sp>
      <p:sp>
        <p:nvSpPr>
          <p:cNvPr id="11" name="">
            <a:extLst xmlns:a="http://schemas.openxmlformats.org/drawingml/2006/main">
              <a:ext uri="{FF2B5EF4-FFF2-40B4-BE49-F238E27FC236}">
                <a16:creationId xmlns:a16="http://schemas.microsoft.com/office/drawing/2014/main" id="{BBDA7253-9C7B-4EC1-AFE4-0F9645226F3F}"/>
              </a:ext>
            </a:extLst>
          </p:cNvPr>
          <p:cNvSpPr>
            <a:spLocks xmlns:a="http://schemas.openxmlformats.org/drawingml/2006/main" noGrp="1"/>
          </p:cNvSpPr>
          <p:nvPr/>
        </p:nvSpPr>
        <p:spPr>
          <a:xfrm xmlns:a="http://schemas.openxmlformats.org/drawingml/2006/main">
            <a:off x="1066800" y="2352675"/>
            <a:ext cx="10058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74"/>
          </a:bodyPr>
          <a:lstStyle xmlns:a="http://schemas.openxmlformats.org/drawingml/2006/main"/>
          <a:p xmlns:a="http://schemas.openxmlformats.org/drawingml/2006/main">
            <a:pPr algn="l">
              <a:defRPr sz="1350" b="1">
                <a:solidFill>
                  <a:srgbClr val="102B3A"/>
                </a:solidFill>
                <a:latin typeface="Arial"/>
                <a:ea typeface="Arial"/>
                <a:cs typeface="Arial"/>
              </a:defRPr>
            </a:pPr>
            <a:r>
              <a:rPr sz="1350" b="1">
                <a:solidFill>
                  <a:srgbClr val="102B3A"/>
                </a:solidFill>
                <a:latin typeface="Arial"/>
                <a:ea typeface="Arial"/>
                <a:cs typeface="Arial"/>
              </a:rPr>
              <a:t>Análisis y diseño orientado a objetos con UML y Rational Rose</a:t>
            </a:r>
          </a:p>
        </p:txBody>
      </p:sp>
      <p:sp>
        <p:nvSpPr>
          <p:cNvPr id="12" name="">
            <a:extLst xmlns:a="http://schemas.openxmlformats.org/drawingml/2006/main">
              <a:ext uri="{FF2B5EF4-FFF2-40B4-BE49-F238E27FC236}">
                <a16:creationId xmlns:a16="http://schemas.microsoft.com/office/drawing/2014/main" id="{689F6BCB-0FBF-4B47-91B7-381AE75CCFE9}"/>
              </a:ext>
            </a:extLst>
          </p:cNvPr>
          <p:cNvSpPr>
            <a:spLocks xmlns:a="http://schemas.openxmlformats.org/drawingml/2006/main" noGrp="1"/>
          </p:cNvSpPr>
          <p:nvPr/>
        </p:nvSpPr>
        <p:spPr>
          <a:xfrm xmlns:a="http://schemas.openxmlformats.org/drawingml/2006/main">
            <a:off x="1066800" y="2667000"/>
            <a:ext cx="1005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0">
                <a:solidFill>
                  <a:srgbClr val="152C3A"/>
                </a:solidFill>
                <a:latin typeface="Arial"/>
                <a:ea typeface="Arial"/>
                <a:cs typeface="Arial"/>
              </a:defRPr>
            </a:pPr>
            <a:r>
              <a:rPr sz="1050" b="0">
                <a:solidFill>
                  <a:srgbClr val="152C3A"/>
                </a:solidFill>
                <a:latin typeface="Arial"/>
                <a:ea typeface="Arial"/>
                <a:cs typeface="Arial"/>
              </a:rPr>
              <a:t>Sergio Matsukawa · Empresa Editora Macro · 2004 · 520 páginas</a:t>
            </a:r>
          </a:p>
        </p:txBody>
      </p:sp>
      <p:sp>
        <p:nvSpPr>
          <p:cNvPr id="13" name="">
            <a:extLst xmlns:a="http://schemas.openxmlformats.org/drawingml/2006/main">
              <a:ext uri="{FF2B5EF4-FFF2-40B4-BE49-F238E27FC236}">
                <a16:creationId xmlns:a16="http://schemas.microsoft.com/office/drawing/2014/main" id="{93F2CBD7-D7A7-4F56-B682-E251715B3126}"/>
              </a:ext>
            </a:extLst>
          </p:cNvPr>
          <p:cNvSpPr>
            <a:spLocks xmlns:a="http://schemas.openxmlformats.org/drawingml/2006/main" noGrp="1"/>
          </p:cNvSpPr>
          <p:nvPr/>
        </p:nvSpPr>
        <p:spPr>
          <a:xfrm xmlns:a="http://schemas.openxmlformats.org/drawingml/2006/main">
            <a:off x="876300" y="3257550"/>
            <a:ext cx="485775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4288">
            <a:solidFill>
              <a:srgbClr val="C7D3D0"/>
            </a:solidFill>
          </a:ln>
        </p:spPr>
      </p:sp>
      <p:sp>
        <p:nvSpPr>
          <p:cNvPr id="14" name="">
            <a:extLst xmlns:a="http://schemas.openxmlformats.org/drawingml/2006/main">
              <a:ext uri="{FF2B5EF4-FFF2-40B4-BE49-F238E27FC236}">
                <a16:creationId xmlns:a16="http://schemas.microsoft.com/office/drawing/2014/main" id="{53B98EF2-FFAF-449D-AE14-A3D9D4EDEC49}"/>
              </a:ext>
            </a:extLst>
          </p:cNvPr>
          <p:cNvSpPr>
            <a:spLocks xmlns:a="http://schemas.openxmlformats.org/drawingml/2006/main" noGrp="1"/>
          </p:cNvSpPr>
          <p:nvPr/>
        </p:nvSpPr>
        <p:spPr>
          <a:xfrm xmlns:a="http://schemas.openxmlformats.org/drawingml/2006/main">
            <a:off x="1028700" y="3409950"/>
            <a:ext cx="4552950" cy="1485900"/>
          </a:xfrm>
          <a:prstGeom xmlns:a="http://schemas.openxmlformats.org/drawingml/2006/main" prst="roundRect">
            <a:avLst>
              <a:gd name="adj" fmla="val 5128"/>
            </a:avLst>
          </a:prstGeom>
          <a:solidFill xmlns:a="http://schemas.openxmlformats.org/drawingml/2006/main">
            <a:srgbClr val="E9EFEC"/>
          </a:solidFill>
          <a:ln xmlns:a="http://schemas.openxmlformats.org/drawingml/2006/main" w="14288">
            <a:solidFill>
              <a:srgbClr val="C7D3D0"/>
            </a:solidFill>
          </a:ln>
        </p:spPr>
      </p:sp>
      <p:sp>
        <p:nvSpPr>
          <p:cNvPr id="15" name="">
            <a:extLst xmlns:a="http://schemas.openxmlformats.org/drawingml/2006/main">
              <a:ext uri="{FF2B5EF4-FFF2-40B4-BE49-F238E27FC236}">
                <a16:creationId xmlns:a16="http://schemas.microsoft.com/office/drawing/2014/main" id="{01B9676A-5A47-427F-8711-9246BB5CC27F}"/>
              </a:ext>
            </a:extLst>
          </p:cNvPr>
          <p:cNvSpPr>
            <a:spLocks xmlns:a="http://schemas.openxmlformats.org/drawingml/2006/main" noGrp="1"/>
          </p:cNvSpPr>
          <p:nvPr/>
        </p:nvSpPr>
        <p:spPr>
          <a:xfrm xmlns:a="http://schemas.openxmlformats.org/drawingml/2006/main">
            <a:off x="1143000" y="4257675"/>
            <a:ext cx="432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ctr">
              <a:defRPr sz="1050" b="1">
                <a:solidFill>
                  <a:srgbClr val="5E6F76"/>
                </a:solidFill>
                <a:latin typeface="Arial"/>
                <a:ea typeface="Arial"/>
                <a:cs typeface="Arial"/>
              </a:defRPr>
            </a:pPr>
            <a:r>
              <a:rPr sz="1050" b="1">
                <a:solidFill>
                  <a:srgbClr val="5E6F76"/>
                </a:solidFill>
                <a:latin typeface="Arial"/>
                <a:ea typeface="Arial"/>
                <a:cs typeface="Arial"/>
              </a:rPr>
              <a:t>FOTO PENDIENTE</a:t>
            </a:r>
          </a:p>
        </p:txBody>
      </p:sp>
      <p:sp>
        <p:nvSpPr>
          <p:cNvPr id="16" name="">
            <a:extLst xmlns:a="http://schemas.openxmlformats.org/drawingml/2006/main">
              <a:ext uri="{FF2B5EF4-FFF2-40B4-BE49-F238E27FC236}">
                <a16:creationId xmlns:a16="http://schemas.microsoft.com/office/drawing/2014/main" id="{E606CDB8-323E-4863-A5AD-2F8303376156}"/>
              </a:ext>
            </a:extLst>
          </p:cNvPr>
          <p:cNvSpPr>
            <a:spLocks xmlns:a="http://schemas.openxmlformats.org/drawingml/2006/main" noGrp="1"/>
          </p:cNvSpPr>
          <p:nvPr/>
        </p:nvSpPr>
        <p:spPr>
          <a:xfrm xmlns:a="http://schemas.openxmlformats.org/drawingml/2006/main">
            <a:off x="1047750" y="4943475"/>
            <a:ext cx="4514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102B3A"/>
                </a:solidFill>
                <a:latin typeface="Arial"/>
                <a:ea typeface="Arial"/>
                <a:cs typeface="Arial"/>
              </a:defRPr>
            </a:pPr>
            <a:r>
              <a:rPr sz="975" b="1">
                <a:solidFill>
                  <a:srgbClr val="102B3A"/>
                </a:solidFill>
                <a:latin typeface="Arial"/>
                <a:ea typeface="Arial"/>
                <a:cs typeface="Arial"/>
              </a:rPr>
              <a:t>PORTADA O PÁGINA LEGAL</a:t>
            </a:r>
          </a:p>
        </p:txBody>
      </p:sp>
      <p:sp>
        <p:nvSpPr>
          <p:cNvPr id="17" name="">
            <a:extLst xmlns:a="http://schemas.openxmlformats.org/drawingml/2006/main">
              <a:ext uri="{FF2B5EF4-FFF2-40B4-BE49-F238E27FC236}">
                <a16:creationId xmlns:a16="http://schemas.microsoft.com/office/drawing/2014/main" id="{81BFC58D-A82D-4A22-B3B9-9C47E74786FE}"/>
              </a:ext>
            </a:extLst>
          </p:cNvPr>
          <p:cNvSpPr>
            <a:spLocks xmlns:a="http://schemas.openxmlformats.org/drawingml/2006/main" noGrp="1"/>
          </p:cNvSpPr>
          <p:nvPr/>
        </p:nvSpPr>
        <p:spPr>
          <a:xfrm xmlns:a="http://schemas.openxmlformats.org/drawingml/2006/main">
            <a:off x="1047750" y="5133975"/>
            <a:ext cx="4514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6061"/>
          </a:bodyPr>
          <a:lstStyle xmlns:a="http://schemas.openxmlformats.org/drawingml/2006/main"/>
          <a:p xmlns:a="http://schemas.openxmlformats.org/drawingml/2006/main">
            <a:pPr algn="l">
              <a:defRPr sz="825" b="0">
                <a:solidFill>
                  <a:srgbClr val="5E6F76"/>
                </a:solidFill>
                <a:latin typeface="Arial"/>
                <a:ea typeface="Arial"/>
                <a:cs typeface="Arial"/>
              </a:defRPr>
            </a:pPr>
            <a:r>
              <a:rPr sz="825" b="0">
                <a:solidFill>
                  <a:srgbClr val="5E6F76"/>
                </a:solidFill>
                <a:latin typeface="Arial"/>
                <a:ea typeface="Arial"/>
                <a:cs typeface="Arial"/>
              </a:rPr>
              <a:t>Título · autor · edición</a:t>
            </a:r>
          </a:p>
        </p:txBody>
      </p:sp>
      <p:sp>
        <p:nvSpPr>
          <p:cNvPr id="18" name="">
            <a:extLst xmlns:a="http://schemas.openxmlformats.org/drawingml/2006/main">
              <a:ext uri="{FF2B5EF4-FFF2-40B4-BE49-F238E27FC236}">
                <a16:creationId xmlns:a16="http://schemas.microsoft.com/office/drawing/2014/main" id="{FDDE835D-0EAA-40F1-B73E-32BC3C7B3865}"/>
              </a:ext>
            </a:extLst>
          </p:cNvPr>
          <p:cNvSpPr>
            <a:spLocks xmlns:a="http://schemas.openxmlformats.org/drawingml/2006/main" noGrp="1"/>
          </p:cNvSpPr>
          <p:nvPr/>
        </p:nvSpPr>
        <p:spPr>
          <a:xfrm xmlns:a="http://schemas.openxmlformats.org/drawingml/2006/main">
            <a:off x="6457950" y="3257550"/>
            <a:ext cx="485775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4288">
            <a:solidFill>
              <a:srgbClr val="C7D3D0"/>
            </a:solidFill>
          </a:ln>
        </p:spPr>
      </p:sp>
      <p:sp>
        <p:nvSpPr>
          <p:cNvPr id="19" name="">
            <a:extLst xmlns:a="http://schemas.openxmlformats.org/drawingml/2006/main">
              <a:ext uri="{FF2B5EF4-FFF2-40B4-BE49-F238E27FC236}">
                <a16:creationId xmlns:a16="http://schemas.microsoft.com/office/drawing/2014/main" id="{66B5A02F-2142-43AD-91D9-A1D48FB8163E}"/>
              </a:ext>
            </a:extLst>
          </p:cNvPr>
          <p:cNvSpPr>
            <a:spLocks xmlns:a="http://schemas.openxmlformats.org/drawingml/2006/main" noGrp="1"/>
          </p:cNvSpPr>
          <p:nvPr/>
        </p:nvSpPr>
        <p:spPr>
          <a:xfrm xmlns:a="http://schemas.openxmlformats.org/drawingml/2006/main">
            <a:off x="6610350" y="3409950"/>
            <a:ext cx="4552950" cy="1485900"/>
          </a:xfrm>
          <a:prstGeom xmlns:a="http://schemas.openxmlformats.org/drawingml/2006/main" prst="roundRect">
            <a:avLst>
              <a:gd name="adj" fmla="val 5128"/>
            </a:avLst>
          </a:prstGeom>
          <a:solidFill xmlns:a="http://schemas.openxmlformats.org/drawingml/2006/main">
            <a:srgbClr val="E9EFEC"/>
          </a:solidFill>
          <a:ln xmlns:a="http://schemas.openxmlformats.org/drawingml/2006/main" w="14288">
            <a:solidFill>
              <a:srgbClr val="C7D3D0"/>
            </a:solidFill>
          </a:ln>
        </p:spPr>
      </p:sp>
      <p:sp>
        <p:nvSpPr>
          <p:cNvPr id="20" name="">
            <a:extLst xmlns:a="http://schemas.openxmlformats.org/drawingml/2006/main">
              <a:ext uri="{FF2B5EF4-FFF2-40B4-BE49-F238E27FC236}">
                <a16:creationId xmlns:a16="http://schemas.microsoft.com/office/drawing/2014/main" id="{7FD75FD1-AC24-439E-BB97-2D18289FF6C8}"/>
              </a:ext>
            </a:extLst>
          </p:cNvPr>
          <p:cNvSpPr>
            <a:spLocks xmlns:a="http://schemas.openxmlformats.org/drawingml/2006/main" noGrp="1"/>
          </p:cNvSpPr>
          <p:nvPr/>
        </p:nvSpPr>
        <p:spPr>
          <a:xfrm xmlns:a="http://schemas.openxmlformats.org/drawingml/2006/main">
            <a:off x="6724650" y="4257675"/>
            <a:ext cx="432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ctr">
              <a:defRPr sz="1050" b="1">
                <a:solidFill>
                  <a:srgbClr val="5E6F76"/>
                </a:solidFill>
                <a:latin typeface="Arial"/>
                <a:ea typeface="Arial"/>
                <a:cs typeface="Arial"/>
              </a:defRPr>
            </a:pPr>
            <a:r>
              <a:rPr sz="1050" b="1">
                <a:solidFill>
                  <a:srgbClr val="5E6F76"/>
                </a:solidFill>
                <a:latin typeface="Arial"/>
                <a:ea typeface="Arial"/>
                <a:cs typeface="Arial"/>
              </a:rPr>
              <a:t>FOTO PENDIENTE</a:t>
            </a:r>
          </a:p>
        </p:txBody>
      </p:sp>
      <p:sp>
        <p:nvSpPr>
          <p:cNvPr id="21" name="">
            <a:extLst xmlns:a="http://schemas.openxmlformats.org/drawingml/2006/main">
              <a:ext uri="{FF2B5EF4-FFF2-40B4-BE49-F238E27FC236}">
                <a16:creationId xmlns:a16="http://schemas.microsoft.com/office/drawing/2014/main" id="{8F3C54F3-5008-488A-A293-18E5AC1DB39F}"/>
              </a:ext>
            </a:extLst>
          </p:cNvPr>
          <p:cNvSpPr>
            <a:spLocks xmlns:a="http://schemas.openxmlformats.org/drawingml/2006/main" noGrp="1"/>
          </p:cNvSpPr>
          <p:nvPr/>
        </p:nvSpPr>
        <p:spPr>
          <a:xfrm xmlns:a="http://schemas.openxmlformats.org/drawingml/2006/main">
            <a:off x="6629400" y="4943475"/>
            <a:ext cx="4514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102B3A"/>
                </a:solidFill>
                <a:latin typeface="Arial"/>
                <a:ea typeface="Arial"/>
                <a:cs typeface="Arial"/>
              </a:defRPr>
            </a:pPr>
            <a:r>
              <a:rPr sz="975" b="1">
                <a:solidFill>
                  <a:srgbClr val="102B3A"/>
                </a:solidFill>
                <a:latin typeface="Arial"/>
                <a:ea typeface="Arial"/>
                <a:cs typeface="Arial"/>
              </a:rPr>
              <a:t>PÁGINA CONSULTADA</a:t>
            </a:r>
          </a:p>
        </p:txBody>
      </p:sp>
      <p:sp>
        <p:nvSpPr>
          <p:cNvPr id="22" name="">
            <a:extLst xmlns:a="http://schemas.openxmlformats.org/drawingml/2006/main">
              <a:ext uri="{FF2B5EF4-FFF2-40B4-BE49-F238E27FC236}">
                <a16:creationId xmlns:a16="http://schemas.microsoft.com/office/drawing/2014/main" id="{FF85D35B-31D3-4899-93C0-C35296D3DC51}"/>
              </a:ext>
            </a:extLst>
          </p:cNvPr>
          <p:cNvSpPr>
            <a:spLocks xmlns:a="http://schemas.openxmlformats.org/drawingml/2006/main" noGrp="1"/>
          </p:cNvSpPr>
          <p:nvPr/>
        </p:nvSpPr>
        <p:spPr>
          <a:xfrm xmlns:a="http://schemas.openxmlformats.org/drawingml/2006/main">
            <a:off x="6629400" y="5133975"/>
            <a:ext cx="4514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6061"/>
          </a:bodyPr>
          <a:lstStyle xmlns:a="http://schemas.openxmlformats.org/drawingml/2006/main"/>
          <a:p xmlns:a="http://schemas.openxmlformats.org/drawingml/2006/main">
            <a:pPr algn="l">
              <a:defRPr sz="825" b="0">
                <a:solidFill>
                  <a:srgbClr val="5E6F76"/>
                </a:solidFill>
                <a:latin typeface="Arial"/>
                <a:ea typeface="Arial"/>
                <a:cs typeface="Arial"/>
              </a:defRPr>
            </a:pPr>
            <a:r>
              <a:rPr sz="825" b="0">
                <a:solidFill>
                  <a:srgbClr val="5E6F76"/>
                </a:solidFill>
                <a:latin typeface="Arial"/>
                <a:ea typeface="Arial"/>
                <a:cs typeface="Arial"/>
              </a:rPr>
              <a:t>Página relacionada con el tema</a:t>
            </a:r>
          </a:p>
        </p:txBody>
      </p:sp>
      <p:sp>
        <p:nvSpPr>
          <p:cNvPr id="23" name="">
            <a:extLst xmlns:a="http://schemas.openxmlformats.org/drawingml/2006/main">
              <a:ext uri="{FF2B5EF4-FFF2-40B4-BE49-F238E27FC236}">
                <a16:creationId xmlns:a16="http://schemas.microsoft.com/office/drawing/2014/main" id="{8DD41025-0B90-4780-ADB5-B008C81F50AB}"/>
              </a:ext>
            </a:extLst>
          </p:cNvPr>
          <p:cNvSpPr>
            <a:spLocks xmlns:a="http://schemas.openxmlformats.org/drawingml/2006/main" noGrp="1"/>
          </p:cNvSpPr>
          <p:nvPr/>
        </p:nvSpPr>
        <p:spPr>
          <a:xfrm xmlns:a="http://schemas.openxmlformats.org/drawingml/2006/main">
            <a:off x="876300" y="5534025"/>
            <a:ext cx="10439400" cy="400050"/>
          </a:xfrm>
          <a:prstGeom xmlns:a="http://schemas.openxmlformats.org/drawingml/2006/main" prst="roundRect">
            <a:avLst>
              <a:gd name="adj" fmla="val 19048"/>
            </a:avLst>
          </a:prstGeom>
          <a:solidFill xmlns:a="http://schemas.openxmlformats.org/drawingml/2006/main">
            <a:srgbClr val="FFF3DF"/>
          </a:solidFill>
          <a:ln xmlns:a="http://schemas.openxmlformats.org/drawingml/2006/main" w="14288">
            <a:solidFill>
              <a:srgbClr val="E8AA57"/>
            </a:solidFill>
          </a:ln>
        </p:spPr>
      </p:sp>
      <p:sp>
        <p:nvSpPr>
          <p:cNvPr id="24" name="">
            <a:extLst xmlns:a="http://schemas.openxmlformats.org/drawingml/2006/main">
              <a:ext uri="{FF2B5EF4-FFF2-40B4-BE49-F238E27FC236}">
                <a16:creationId xmlns:a16="http://schemas.microsoft.com/office/drawing/2014/main" id="{6BA66E56-1194-41C4-9CE7-2E618F06DD98}"/>
              </a:ext>
            </a:extLst>
          </p:cNvPr>
          <p:cNvSpPr>
            <a:spLocks xmlns:a="http://schemas.openxmlformats.org/drawingml/2006/main" noGrp="1"/>
          </p:cNvSpPr>
          <p:nvPr/>
        </p:nvSpPr>
        <p:spPr>
          <a:xfrm xmlns:a="http://schemas.openxmlformats.org/drawingml/2006/main">
            <a:off x="1066800" y="5600700"/>
            <a:ext cx="10058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02B3A"/>
                </a:solidFill>
                <a:latin typeface="Arial"/>
                <a:ea typeface="Arial"/>
                <a:cs typeface="Arial"/>
              </a:defRPr>
            </a:pPr>
            <a:r>
              <a:rPr sz="1050" b="1">
                <a:solidFill>
                  <a:srgbClr val="102B3A"/>
                </a:solidFill>
                <a:latin typeface="Arial"/>
                <a:ea typeface="Arial"/>
                <a:cs typeface="Arial"/>
              </a:rPr>
              <a:t>Dos fotografías documentan el mismo libro: su identificación y la página utilizada.</a:t>
            </a:r>
          </a:p>
        </p:txBody>
      </p:sp>
    </p:spTree>
    <p:extLst>
      <p:ext uri="{BB962C8B-B14F-4D97-AF65-F5344CB8AC3E}">
        <p14:creationId xmlns:p14="http://schemas.microsoft.com/office/powerpoint/2010/main" val="498894767"/>
      </p:ext>
    </p:extLst>
  </p:cSld>
</p:sld>
</file>

<file path=ppt/slides/slide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CC2DBA2-6C45-48F9-BD62-193D81E5D47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171E59-EADF-4F92-82A3-3CE2069A5AA7}"/>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38EE9B98-4991-4746-8675-C42E1700A3AE}"/>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BIBLIOGRAFÍA</a:t>
            </a:r>
          </a:p>
        </p:txBody>
      </p:sp>
      <p:sp>
        <p:nvSpPr>
          <p:cNvPr id="4" name="">
            <a:extLst xmlns:a="http://schemas.openxmlformats.org/drawingml/2006/main">
              <a:ext uri="{FF2B5EF4-FFF2-40B4-BE49-F238E27FC236}">
                <a16:creationId xmlns:a16="http://schemas.microsoft.com/office/drawing/2014/main" id="{5AB16AC3-DAA6-4D14-8AB3-EB30BDFC75A0}"/>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4CCCCAB2-5319-4ED0-B913-D6E99215E81F}"/>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03</a:t>
            </a:r>
          </a:p>
        </p:txBody>
      </p:sp>
      <p:sp>
        <p:nvSpPr>
          <p:cNvPr id="6" name="">
            <a:extLst xmlns:a="http://schemas.openxmlformats.org/drawingml/2006/main">
              <a:ext uri="{FF2B5EF4-FFF2-40B4-BE49-F238E27FC236}">
                <a16:creationId xmlns:a16="http://schemas.microsoft.com/office/drawing/2014/main" id="{E3E6785A-85A9-4333-98C3-E8D78E7A363A}"/>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26704B34-6419-475A-9616-0629F16FBCCF}"/>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FUENTES</a:t>
            </a:r>
          </a:p>
        </p:txBody>
      </p:sp>
      <p:sp>
        <p:nvSpPr>
          <p:cNvPr id="8" name="">
            <a:extLst xmlns:a="http://schemas.openxmlformats.org/drawingml/2006/main">
              <a:ext uri="{FF2B5EF4-FFF2-40B4-BE49-F238E27FC236}">
                <a16:creationId xmlns:a16="http://schemas.microsoft.com/office/drawing/2014/main" id="{D6237A61-7A44-4FAB-8E1E-DC63C7F82977}"/>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Dos libros digitales y uno físico</a:t>
            </a:r>
          </a:p>
        </p:txBody>
      </p:sp>
      <p:sp>
        <p:nvSpPr>
          <p:cNvPr id="9" name="">
            <a:extLst xmlns:a="http://schemas.openxmlformats.org/drawingml/2006/main">
              <a:ext uri="{FF2B5EF4-FFF2-40B4-BE49-F238E27FC236}">
                <a16:creationId xmlns:a16="http://schemas.microsoft.com/office/drawing/2014/main" id="{02B3F2AB-C79F-420C-BA04-95F9467AD874}"/>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Referencias para ampliar este tema.</a:t>
            </a:r>
          </a:p>
        </p:txBody>
      </p:sp>
      <p:sp>
        <p:nvSpPr>
          <p:cNvPr id="10" name="">
            <a:extLst xmlns:a="http://schemas.openxmlformats.org/drawingml/2006/main">
              <a:ext uri="{FF2B5EF4-FFF2-40B4-BE49-F238E27FC236}">
                <a16:creationId xmlns:a16="http://schemas.microsoft.com/office/drawing/2014/main" id="{CC47295A-7BF5-4F72-ADFF-142B51BB982D}"/>
              </a:ext>
            </a:extLst>
          </p:cNvPr>
          <p:cNvSpPr>
            <a:spLocks xmlns:a="http://schemas.openxmlformats.org/drawingml/2006/main" noGrp="1"/>
          </p:cNvSpPr>
          <p:nvPr/>
        </p:nvSpPr>
        <p:spPr>
          <a:xfrm xmlns:a="http://schemas.openxmlformats.org/drawingml/2006/main">
            <a:off x="876300" y="2343150"/>
            <a:ext cx="104394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C7D3D0"/>
            </a:solidFill>
          </a:ln>
        </p:spPr>
      </p:sp>
      <p:sp>
        <p:nvSpPr>
          <p:cNvPr id="11" name="">
            <a:extLst xmlns:a="http://schemas.openxmlformats.org/drawingml/2006/main">
              <a:ext uri="{FF2B5EF4-FFF2-40B4-BE49-F238E27FC236}">
                <a16:creationId xmlns:a16="http://schemas.microsoft.com/office/drawing/2014/main" id="{7332CAC3-949A-425D-83E8-93B6B5CEAF99}"/>
              </a:ext>
            </a:extLst>
          </p:cNvPr>
          <p:cNvSpPr>
            <a:spLocks xmlns:a="http://schemas.openxmlformats.org/drawingml/2006/main" noGrp="1"/>
          </p:cNvSpPr>
          <p:nvPr/>
        </p:nvSpPr>
        <p:spPr>
          <a:xfrm xmlns:a="http://schemas.openxmlformats.org/drawingml/2006/main">
            <a:off x="1047750" y="239077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007C78"/>
                </a:solidFill>
                <a:latin typeface="Arial"/>
                <a:ea typeface="Arial"/>
                <a:cs typeface="Arial"/>
              </a:defRPr>
            </a:pPr>
            <a:r>
              <a:rPr sz="900" b="1">
                <a:solidFill>
                  <a:srgbClr val="007C78"/>
                </a:solidFill>
                <a:latin typeface="Arial"/>
                <a:ea typeface="Arial"/>
                <a:cs typeface="Arial"/>
              </a:rPr>
              <a:t>LIBRO DIGITAL 01</a:t>
            </a:r>
          </a:p>
        </p:txBody>
      </p:sp>
      <p:sp>
        <p:nvSpPr>
          <p:cNvPr id="12" name="">
            <a:extLst xmlns:a="http://schemas.openxmlformats.org/drawingml/2006/main">
              <a:ext uri="{FF2B5EF4-FFF2-40B4-BE49-F238E27FC236}">
                <a16:creationId xmlns:a16="http://schemas.microsoft.com/office/drawing/2014/main" id="{B49ED791-B30A-4BB1-87D0-494547E6444F}"/>
              </a:ext>
            </a:extLst>
          </p:cNvPr>
          <p:cNvSpPr>
            <a:spLocks xmlns:a="http://schemas.openxmlformats.org/drawingml/2006/main" noGrp="1"/>
          </p:cNvSpPr>
          <p:nvPr/>
        </p:nvSpPr>
        <p:spPr>
          <a:xfrm xmlns:a="http://schemas.openxmlformats.org/drawingml/2006/main">
            <a:off x="1047750" y="26003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22"/>
          </a:bodyPr>
          <a:lstStyle xmlns:a="http://schemas.openxmlformats.org/drawingml/2006/main"/>
          <a:p xmlns:a="http://schemas.openxmlformats.org/drawingml/2006/main">
            <a:pPr algn="l">
              <a:defRPr sz="1200" b="1">
                <a:solidFill>
                  <a:srgbClr val="102B3A"/>
                </a:solidFill>
                <a:latin typeface="Arial"/>
                <a:ea typeface="Arial"/>
                <a:cs typeface="Arial"/>
              </a:defRPr>
            </a:pPr>
            <a:r>
              <a:rPr sz="1200" b="1">
                <a:solidFill>
                  <a:srgbClr val="102B3A"/>
                </a:solidFill>
                <a:latin typeface="Arial"/>
                <a:ea typeface="Arial"/>
                <a:cs typeface="Arial"/>
              </a:rPr>
              <a:t>UML @ Classroom: An Introduction to Object-Oriented Modeling · Martina Seidl, Marion Scholz, Christian Huemer y Gerti Kappel · 1.ª ed. · 2015</a:t>
            </a:r>
          </a:p>
        </p:txBody>
      </p:sp>
      <p:sp>
        <p:nvSpPr>
          <p:cNvPr id="13" name="">
            <a:extLst xmlns:a="http://schemas.openxmlformats.org/drawingml/2006/main">
              <a:ext uri="{FF2B5EF4-FFF2-40B4-BE49-F238E27FC236}">
                <a16:creationId xmlns:a16="http://schemas.microsoft.com/office/drawing/2014/main" id="{C6CF4687-A116-40BD-BDCB-FB7000EC6DE6}"/>
              </a:ext>
            </a:extLst>
          </p:cNvPr>
          <p:cNvSpPr>
            <a:spLocks xmlns:a="http://schemas.openxmlformats.org/drawingml/2006/main" noGrp="1"/>
          </p:cNvSpPr>
          <p:nvPr/>
        </p:nvSpPr>
        <p:spPr>
          <a:xfrm xmlns:a="http://schemas.openxmlformats.org/drawingml/2006/main">
            <a:off x="1047750" y="29337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007C78"/>
                </a:solidFill>
                <a:latin typeface="Arial"/>
                <a:ea typeface="Arial"/>
                <a:cs typeface="Arial"/>
              </a:defRPr>
            </a:pPr>
            <a:r>
              <a:rPr sz="750" b="0">
                <a:solidFill>
                  <a:srgbClr val="007C78"/>
                </a:solidFill>
                <a:latin typeface="Arial"/>
                <a:ea typeface="Arial"/>
                <a:cs typeface="Arial"/>
              </a:rPr>
              <a:t>https://link.springer.com/book/10.1007/978-3-319-12742-2</a:t>
            </a:r>
          </a:p>
        </p:txBody>
      </p:sp>
      <p:sp>
        <p:nvSpPr>
          <p:cNvPr id="14" name="">
            <a:extLst xmlns:a="http://schemas.openxmlformats.org/drawingml/2006/main">
              <a:ext uri="{FF2B5EF4-FFF2-40B4-BE49-F238E27FC236}">
                <a16:creationId xmlns:a16="http://schemas.microsoft.com/office/drawing/2014/main" id="{89800E9F-E048-419E-A03F-E3B929DEE1A4}"/>
              </a:ext>
            </a:extLst>
          </p:cNvPr>
          <p:cNvSpPr>
            <a:spLocks xmlns:a="http://schemas.openxmlformats.org/drawingml/2006/main" noGrp="1"/>
          </p:cNvSpPr>
          <p:nvPr/>
        </p:nvSpPr>
        <p:spPr>
          <a:xfrm xmlns:a="http://schemas.openxmlformats.org/drawingml/2006/main">
            <a:off x="876300" y="3409950"/>
            <a:ext cx="104394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C7D3D0"/>
            </a:solidFill>
          </a:ln>
        </p:spPr>
      </p:sp>
      <p:sp>
        <p:nvSpPr>
          <p:cNvPr id="15" name="">
            <a:extLst xmlns:a="http://schemas.openxmlformats.org/drawingml/2006/main">
              <a:ext uri="{FF2B5EF4-FFF2-40B4-BE49-F238E27FC236}">
                <a16:creationId xmlns:a16="http://schemas.microsoft.com/office/drawing/2014/main" id="{4030E8E8-9B74-4230-ACF1-7403E6AE1570}"/>
              </a:ext>
            </a:extLst>
          </p:cNvPr>
          <p:cNvSpPr>
            <a:spLocks xmlns:a="http://schemas.openxmlformats.org/drawingml/2006/main" noGrp="1"/>
          </p:cNvSpPr>
          <p:nvPr/>
        </p:nvSpPr>
        <p:spPr>
          <a:xfrm xmlns:a="http://schemas.openxmlformats.org/drawingml/2006/main">
            <a:off x="1047750" y="345757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007C78"/>
                </a:solidFill>
                <a:latin typeface="Arial"/>
                <a:ea typeface="Arial"/>
                <a:cs typeface="Arial"/>
              </a:defRPr>
            </a:pPr>
            <a:r>
              <a:rPr sz="900" b="1">
                <a:solidFill>
                  <a:srgbClr val="007C78"/>
                </a:solidFill>
                <a:latin typeface="Arial"/>
                <a:ea typeface="Arial"/>
                <a:cs typeface="Arial"/>
              </a:rPr>
              <a:t>LIBRO DIGITAL 02</a:t>
            </a:r>
          </a:p>
        </p:txBody>
      </p:sp>
      <p:sp>
        <p:nvSpPr>
          <p:cNvPr id="16" name="">
            <a:extLst xmlns:a="http://schemas.openxmlformats.org/drawingml/2006/main">
              <a:ext uri="{FF2B5EF4-FFF2-40B4-BE49-F238E27FC236}">
                <a16:creationId xmlns:a16="http://schemas.microsoft.com/office/drawing/2014/main" id="{8190A7F1-F608-490D-8BAC-AF46E1022796}"/>
              </a:ext>
            </a:extLst>
          </p:cNvPr>
          <p:cNvSpPr>
            <a:spLocks xmlns:a="http://schemas.openxmlformats.org/drawingml/2006/main" noGrp="1"/>
          </p:cNvSpPr>
          <p:nvPr/>
        </p:nvSpPr>
        <p:spPr>
          <a:xfrm xmlns:a="http://schemas.openxmlformats.org/drawingml/2006/main">
            <a:off x="1047750" y="36671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B3A"/>
                </a:solidFill>
                <a:latin typeface="Arial"/>
                <a:ea typeface="Arial"/>
                <a:cs typeface="Arial"/>
              </a:defRPr>
            </a:pPr>
            <a:r>
              <a:rPr sz="1200" b="1">
                <a:solidFill>
                  <a:srgbClr val="102B3A"/>
                </a:solidFill>
                <a:latin typeface="Arial"/>
                <a:ea typeface="Arial"/>
                <a:cs typeface="Arial"/>
              </a:rPr>
              <a:t>UML Distilled: A Brief Guide to the Standard Object Modeling Language · Martin Fowler · 3.ª ed. · 2018</a:t>
            </a:r>
          </a:p>
        </p:txBody>
      </p:sp>
      <p:sp>
        <p:nvSpPr>
          <p:cNvPr id="17" name="">
            <a:extLst xmlns:a="http://schemas.openxmlformats.org/drawingml/2006/main">
              <a:ext uri="{FF2B5EF4-FFF2-40B4-BE49-F238E27FC236}">
                <a16:creationId xmlns:a16="http://schemas.microsoft.com/office/drawing/2014/main" id="{598111A1-F6E9-44F4-80AC-81CC7553EBE3}"/>
              </a:ext>
            </a:extLst>
          </p:cNvPr>
          <p:cNvSpPr>
            <a:spLocks xmlns:a="http://schemas.openxmlformats.org/drawingml/2006/main" noGrp="1"/>
          </p:cNvSpPr>
          <p:nvPr/>
        </p:nvSpPr>
        <p:spPr>
          <a:xfrm xmlns:a="http://schemas.openxmlformats.org/drawingml/2006/main">
            <a:off x="1047750" y="40005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007C78"/>
                </a:solidFill>
                <a:latin typeface="Arial"/>
                <a:ea typeface="Arial"/>
                <a:cs typeface="Arial"/>
              </a:defRPr>
            </a:pPr>
            <a:r>
              <a:rPr sz="750" b="0">
                <a:solidFill>
                  <a:srgbClr val="007C78"/>
                </a:solidFill>
                <a:latin typeface="Arial"/>
                <a:ea typeface="Arial"/>
                <a:cs typeface="Arial"/>
              </a:rPr>
              <a:t>https://www.pearson.com/en-nz/subject-catalog/p/uml-distilled-a-brief-guide-to-the-standard-object-modeling-language/P200000000255/9780134865126</a:t>
            </a:r>
          </a:p>
        </p:txBody>
      </p:sp>
      <p:sp>
        <p:nvSpPr>
          <p:cNvPr id="18" name="">
            <a:extLst xmlns:a="http://schemas.openxmlformats.org/drawingml/2006/main">
              <a:ext uri="{FF2B5EF4-FFF2-40B4-BE49-F238E27FC236}">
                <a16:creationId xmlns:a16="http://schemas.microsoft.com/office/drawing/2014/main" id="{2AF71307-DC21-4E76-B1A7-BC48042DD427}"/>
              </a:ext>
            </a:extLst>
          </p:cNvPr>
          <p:cNvSpPr>
            <a:spLocks xmlns:a="http://schemas.openxmlformats.org/drawingml/2006/main" noGrp="1"/>
          </p:cNvSpPr>
          <p:nvPr/>
        </p:nvSpPr>
        <p:spPr>
          <a:xfrm xmlns:a="http://schemas.openxmlformats.org/drawingml/2006/main">
            <a:off x="876300" y="4476750"/>
            <a:ext cx="104394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C7D3D0"/>
            </a:solidFill>
          </a:ln>
        </p:spPr>
      </p:sp>
      <p:sp>
        <p:nvSpPr>
          <p:cNvPr id="19" name="">
            <a:extLst xmlns:a="http://schemas.openxmlformats.org/drawingml/2006/main">
              <a:ext uri="{FF2B5EF4-FFF2-40B4-BE49-F238E27FC236}">
                <a16:creationId xmlns:a16="http://schemas.microsoft.com/office/drawing/2014/main" id="{9C7B898E-4CEB-4E6C-BE9F-65F7E2DF0FCD}"/>
              </a:ext>
            </a:extLst>
          </p:cNvPr>
          <p:cNvSpPr>
            <a:spLocks xmlns:a="http://schemas.openxmlformats.org/drawingml/2006/main" noGrp="1"/>
          </p:cNvSpPr>
          <p:nvPr/>
        </p:nvSpPr>
        <p:spPr>
          <a:xfrm xmlns:a="http://schemas.openxmlformats.org/drawingml/2006/main">
            <a:off x="1047750" y="452437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007C78"/>
                </a:solidFill>
                <a:latin typeface="Arial"/>
                <a:ea typeface="Arial"/>
                <a:cs typeface="Arial"/>
              </a:defRPr>
            </a:pPr>
            <a:r>
              <a:rPr sz="900" b="1">
                <a:solidFill>
                  <a:srgbClr val="007C78"/>
                </a:solidFill>
                <a:latin typeface="Arial"/>
                <a:ea typeface="Arial"/>
                <a:cs typeface="Arial"/>
              </a:rPr>
              <a:t>LIBRO FÍSICO · UPDS</a:t>
            </a:r>
          </a:p>
        </p:txBody>
      </p:sp>
      <p:sp>
        <p:nvSpPr>
          <p:cNvPr id="20" name="">
            <a:extLst xmlns:a="http://schemas.openxmlformats.org/drawingml/2006/main">
              <a:ext uri="{FF2B5EF4-FFF2-40B4-BE49-F238E27FC236}">
                <a16:creationId xmlns:a16="http://schemas.microsoft.com/office/drawing/2014/main" id="{733BF59D-ADFF-454D-9802-9258195AE3BE}"/>
              </a:ext>
            </a:extLst>
          </p:cNvPr>
          <p:cNvSpPr>
            <a:spLocks xmlns:a="http://schemas.openxmlformats.org/drawingml/2006/main" noGrp="1"/>
          </p:cNvSpPr>
          <p:nvPr/>
        </p:nvSpPr>
        <p:spPr>
          <a:xfrm xmlns:a="http://schemas.openxmlformats.org/drawingml/2006/main">
            <a:off x="1047750" y="47339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B3A"/>
                </a:solidFill>
                <a:latin typeface="Arial"/>
                <a:ea typeface="Arial"/>
                <a:cs typeface="Arial"/>
              </a:defRPr>
            </a:pPr>
            <a:r>
              <a:rPr sz="1200" b="1">
                <a:solidFill>
                  <a:srgbClr val="102B3A"/>
                </a:solidFill>
                <a:latin typeface="Arial"/>
                <a:ea typeface="Arial"/>
                <a:cs typeface="Arial"/>
              </a:rPr>
              <a:t>Análisis y diseño orientado a objetos con UML y Rational Rose · Sergio Matsukawa · Empresa Editora Macro · 2004</a:t>
            </a:r>
          </a:p>
        </p:txBody>
      </p:sp>
      <p:sp>
        <p:nvSpPr>
          <p:cNvPr id="21" name="">
            <a:extLst xmlns:a="http://schemas.openxmlformats.org/drawingml/2006/main">
              <a:ext uri="{FF2B5EF4-FFF2-40B4-BE49-F238E27FC236}">
                <a16:creationId xmlns:a16="http://schemas.microsoft.com/office/drawing/2014/main" id="{BA8ED3F2-DBC5-4240-8898-1E5D4CEBB104}"/>
              </a:ext>
            </a:extLst>
          </p:cNvPr>
          <p:cNvSpPr>
            <a:spLocks xmlns:a="http://schemas.openxmlformats.org/drawingml/2006/main" noGrp="1"/>
          </p:cNvSpPr>
          <p:nvPr/>
        </p:nvSpPr>
        <p:spPr>
          <a:xfrm xmlns:a="http://schemas.openxmlformats.org/drawingml/2006/main">
            <a:off x="1047750" y="50673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007C78"/>
                </a:solidFill>
                <a:latin typeface="Arial"/>
                <a:ea typeface="Arial"/>
                <a:cs typeface="Arial"/>
              </a:defRPr>
            </a:pPr>
            <a:r>
              <a:rPr sz="750" b="0">
                <a:solidFill>
                  <a:srgbClr val="007C78"/>
                </a:solidFill>
                <a:latin typeface="Arial"/>
                <a:ea typeface="Arial"/>
                <a:cs typeface="Arial"/>
              </a:rPr>
              <a:t>https://biblioteca.upds.edu.bo/biblioteca/index.php?id=2516&amp;lvl=categ_see</a:t>
            </a:r>
          </a:p>
        </p:txBody>
      </p:sp>
      <p:sp>
        <p:nvSpPr>
          <p:cNvPr id="22" name="">
            <a:extLst xmlns:a="http://schemas.openxmlformats.org/drawingml/2006/main">
              <a:ext uri="{FF2B5EF4-FFF2-40B4-BE49-F238E27FC236}">
                <a16:creationId xmlns:a16="http://schemas.microsoft.com/office/drawing/2014/main" id="{13DE6C8C-4505-4FC6-AEE7-9A34073C7B48}"/>
              </a:ext>
            </a:extLst>
          </p:cNvPr>
          <p:cNvSpPr>
            <a:spLocks xmlns:a="http://schemas.openxmlformats.org/drawingml/2006/main" noGrp="1"/>
          </p:cNvSpPr>
          <p:nvPr/>
        </p:nvSpPr>
        <p:spPr>
          <a:xfrm xmlns:a="http://schemas.openxmlformats.org/drawingml/2006/main">
            <a:off x="876300" y="5657850"/>
            <a:ext cx="10439400" cy="400050"/>
          </a:xfrm>
          <a:prstGeom xmlns:a="http://schemas.openxmlformats.org/drawingml/2006/main" prst="roundRect">
            <a:avLst>
              <a:gd name="adj" fmla="val 19048"/>
            </a:avLst>
          </a:prstGeom>
          <a:solidFill xmlns:a="http://schemas.openxmlformats.org/drawingml/2006/main">
            <a:srgbClr val="F4EED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CFCEEBB-5795-4851-8DA3-8580C2F7FE86}"/>
              </a:ext>
            </a:extLst>
          </p:cNvPr>
          <p:cNvSpPr>
            <a:spLocks xmlns:a="http://schemas.openxmlformats.org/drawingml/2006/main" noGrp="1"/>
          </p:cNvSpPr>
          <p:nvPr/>
        </p:nvSpPr>
        <p:spPr>
          <a:xfrm xmlns:a="http://schemas.openxmlformats.org/drawingml/2006/main">
            <a:off x="1028700" y="571500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102B3A"/>
                </a:solidFill>
                <a:latin typeface="Arial"/>
                <a:ea typeface="Arial"/>
                <a:cs typeface="Arial"/>
              </a:defRPr>
            </a:pPr>
            <a:r>
              <a:rPr sz="900" b="1">
                <a:solidFill>
                  <a:srgbClr val="102B3A"/>
                </a:solidFill>
                <a:latin typeface="Arial"/>
                <a:ea typeface="Arial"/>
                <a:cs typeface="Arial"/>
              </a:rPr>
              <a:t>El catálogo público no confirma si los libros digitales están incluidos en la licencia UPDS.</a:t>
            </a:r>
          </a:p>
        </p:txBody>
      </p:sp>
    </p:spTree>
    <p:extLst>
      <p:ext uri="{BB962C8B-B14F-4D97-AF65-F5344CB8AC3E}">
        <p14:creationId xmlns:p14="http://schemas.microsoft.com/office/powerpoint/2010/main" val="14412119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2026-10-06T14:16:46.7940000Z</dcterms:created>
  <dcterms:modified xsi:type="dcterms:W3CDTF">2026-10-06T14:16:46.7940000Z</dcterms:modified>
</coreProperties>
</file>