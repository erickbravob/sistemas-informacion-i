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8f16f27a864f12" /><Relationship Type="http://schemas.openxmlformats.org/officeDocument/2006/relationships/extended-properties" Target="/docProps/app.xml" Id="Rac21875c59c84224" /><Relationship Type="http://schemas.openxmlformats.org/officeDocument/2006/relationships/officeDocument" Target="/ppt/presentation.xml" Id="Rddb8182eb207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20d7b942f40b0"/>
  </p:sldMasterIdLst>
  <p:notesMasterIdLst>
    <p:notesMasterId xmlns:r="http://schemas.openxmlformats.org/officeDocument/2006/relationships" r:id="Rfd93e92e80ab4151"/>
  </p:notesMasterIdLst>
  <p:sldIdLst>
    <p:sldId xmlns:r="http://schemas.openxmlformats.org/officeDocument/2006/relationships" id="256" r:id="R9639620012894fcc"/>
    <p:sldId xmlns:r="http://schemas.openxmlformats.org/officeDocument/2006/relationships" id="257" r:id="Rf944bad88b2744d0"/>
    <p:sldId xmlns:r="http://schemas.openxmlformats.org/officeDocument/2006/relationships" id="258" r:id="Rf2a5b009722c45b8"/>
    <p:sldId xmlns:r="http://schemas.openxmlformats.org/officeDocument/2006/relationships" id="259" r:id="Rff6e7572a1564775"/>
    <p:sldId xmlns:r="http://schemas.openxmlformats.org/officeDocument/2006/relationships" id="260" r:id="R5c7530028af84e8d"/>
    <p:sldId xmlns:r="http://schemas.openxmlformats.org/officeDocument/2006/relationships" id="261" r:id="R599a503d9fb646e7"/>
    <p:sldId xmlns:r="http://schemas.openxmlformats.org/officeDocument/2006/relationships" id="262" r:id="Rccdf1881b98b41cd"/>
    <p:sldId xmlns:r="http://schemas.openxmlformats.org/officeDocument/2006/relationships" id="263" r:id="R39971660951544cb"/>
    <p:sldId xmlns:r="http://schemas.openxmlformats.org/officeDocument/2006/relationships" id="264" r:id="R58270881116743be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10934c3cb4b3e" /><Relationship Type="http://schemas.openxmlformats.org/officeDocument/2006/relationships/slideMaster" Target="/ppt/slideMasters/slideMaster1.xml" Id="R4e220d7b942f40b0" /><Relationship Type="http://schemas.openxmlformats.org/officeDocument/2006/relationships/notesMaster" Target="/ppt/notesMasters/notesMaster1.xml" Id="Rfd93e92e80ab4151" /><Relationship Type="http://schemas.openxmlformats.org/officeDocument/2006/relationships/presProps" Target="/ppt/presProps.xml" Id="Rcf0ae503b2074734" /><Relationship Type="http://schemas.openxmlformats.org/officeDocument/2006/relationships/viewProps" Target="/ppt/viewProps.xml" Id="R9f35f4ac94d14fc2" /><Relationship Type="http://schemas.openxmlformats.org/officeDocument/2006/relationships/tableStyles" Target="/ppt/tableStyles.xml" Id="R20ad6b511ac24b56" /><Relationship Type="http://schemas.openxmlformats.org/officeDocument/2006/relationships/slide" Target="/ppt/slides/slide1.xml" Id="R9639620012894fcc" /><Relationship Type="http://schemas.openxmlformats.org/officeDocument/2006/relationships/slide" Target="/ppt/slides/slide2.xml" Id="Rf944bad88b2744d0" /><Relationship Type="http://schemas.openxmlformats.org/officeDocument/2006/relationships/slide" Target="/ppt/slides/slide3.xml" Id="Rf2a5b009722c45b8" /><Relationship Type="http://schemas.openxmlformats.org/officeDocument/2006/relationships/slide" Target="/ppt/slides/slide4.xml" Id="Rff6e7572a1564775" /><Relationship Type="http://schemas.openxmlformats.org/officeDocument/2006/relationships/slide" Target="/ppt/slides/slide5.xml" Id="R5c7530028af84e8d" /><Relationship Type="http://schemas.openxmlformats.org/officeDocument/2006/relationships/slide" Target="/ppt/slides/slide6.xml" Id="R599a503d9fb646e7" /><Relationship Type="http://schemas.openxmlformats.org/officeDocument/2006/relationships/slide" Target="/ppt/slides/slide7.xml" Id="Rccdf1881b98b41cd" /><Relationship Type="http://schemas.openxmlformats.org/officeDocument/2006/relationships/slide" Target="/ppt/slides/slide8.xml" Id="R39971660951544cb" /><Relationship Type="http://schemas.openxmlformats.org/officeDocument/2006/relationships/slide" Target="/ppt/slides/slide9.xml" Id="R582708811167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ae1bfd2144c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732d1bd484d72" /><Relationship Type="http://schemas.openxmlformats.org/officeDocument/2006/relationships/notesMaster" Target="/ppt/notesMasters/notesMaster1.xml" Id="R55124d4dab71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c1d2d4101e4477" /><Relationship Type="http://schemas.openxmlformats.org/officeDocument/2006/relationships/notesMaster" Target="/ppt/notesMasters/notesMaster1.xml" Id="R29459d21157543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e0a9ada55e41af" /><Relationship Type="http://schemas.openxmlformats.org/officeDocument/2006/relationships/notesMaster" Target="/ppt/notesMasters/notesMaster1.xml" Id="Ra71567ded870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bf952b9534496" /><Relationship Type="http://schemas.openxmlformats.org/officeDocument/2006/relationships/notesMaster" Target="/ppt/notesMasters/notesMaster1.xml" Id="R80ee678317f345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0413c725d44a5d" /><Relationship Type="http://schemas.openxmlformats.org/officeDocument/2006/relationships/notesMaster" Target="/ppt/notesMasters/notesMaster1.xml" Id="R484f1a74e16346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d6e757b8004d86" /><Relationship Type="http://schemas.openxmlformats.org/officeDocument/2006/relationships/notesMaster" Target="/ppt/notesMasters/notesMaster1.xml" Id="R07b25de4e5634f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cf931fdcb44833" /><Relationship Type="http://schemas.openxmlformats.org/officeDocument/2006/relationships/notesMaster" Target="/ppt/notesMasters/notesMaster1.xml" Id="R4c78d258023041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d61d8131b4087" /><Relationship Type="http://schemas.openxmlformats.org/officeDocument/2006/relationships/notesMaster" Target="/ppt/notesMasters/notesMaster1.xml" Id="R5675216b4e4643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ed2df80ed74eee" /><Relationship Type="http://schemas.openxmlformats.org/officeDocument/2006/relationships/notesMaster" Target="/ppt/notesMasters/notesMaster1.xml" Id="R12d9abe92696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91b2358804dd6" /><Relationship Type="http://schemas.openxmlformats.org/officeDocument/2006/relationships/image" Target="/ppt/media/image.jpeg" Id="R0c276ae9323e44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0c932a6f14be1" /><Relationship Type="http://schemas.openxmlformats.org/officeDocument/2006/relationships/image" Target="/ppt/media/image2.jpeg" Id="Rae4c1bbd13aa44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272b4a3a34fff" /><Relationship Type="http://schemas.openxmlformats.org/officeDocument/2006/relationships/image" Target="/ppt/media/image3.jpeg" Id="R8add1f84150b4e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45a8521b7406b" /><Relationship Type="http://schemas.openxmlformats.org/officeDocument/2006/relationships/image" Target="/ppt/media/image4.jpeg" Id="R9862d1ef76374e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0c93081bc44ea" /><Relationship Type="http://schemas.openxmlformats.org/officeDocument/2006/relationships/image" Target="/ppt/media/image5.jpeg" Id="R64870944c61941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4b3cd1c404ae3" /><Relationship Type="http://schemas.openxmlformats.org/officeDocument/2006/relationships/image" Target="/ppt/media/image6.jpeg" Id="Re3bd7ec7e8244d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34eb3082640f6" /><Relationship Type="http://schemas.openxmlformats.org/officeDocument/2006/relationships/image" Target="/ppt/media/image7.jpeg" Id="R861d6bc6078e43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b70164e6b430c" /><Relationship Type="http://schemas.openxmlformats.org/officeDocument/2006/relationships/image" Target="/ppt/media/image8.jpeg" Id="Ref53e7c738e146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1bdf9dc924c2d" /><Relationship Type="http://schemas.openxmlformats.org/officeDocument/2006/relationships/image" Target="/ppt/media/image9.jpeg" Id="R658d85190c0040c7" /></Relationships>
</file>

<file path=ppt/slideLayouts/slideLayout1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76ae9323e44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"/>
            <a:ext cx="9144000" cy="685525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548358-91BD-4407-A9C5-F3E0C723603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85800" y="2493817"/>
            <a:ext cx="7772400" cy="10161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rgbClr val="0085C0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c1bbd13aa44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F0898893-F1D6-494C-AA22-6CE37345C54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50126" y="2876550"/>
            <a:ext cx="1114698" cy="11049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88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1</a:t>
            </a:r>
            <a:endParaRPr/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3119B00-0C52-4016-8736-EEFE454D12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405155" y="2876550"/>
            <a:ext cx="3779416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40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d1f84150b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927814-6D57-44E7-8DE5-DEC78172675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402080"/>
            <a:ext cx="8577840" cy="4702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13BC58B2-0EE3-438A-9E8F-539B79304F4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872605"/>
            <a:ext cx="7130039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AC8DB245-F205-42E4-8F42-CA329F04A9A2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280410" y="2036693"/>
            <a:ext cx="8618537" cy="4552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2d1ef76374e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E862A9-8151-4348-96EA-059806EE4A1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4894217"/>
            <a:ext cx="8577840" cy="166926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4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FAD7BF59-7606-43BE-9883-65272616F56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86760" y="914400"/>
            <a:ext cx="8577840" cy="38322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70944c61941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2323CC-33AF-4AA6-B92D-A823A48AA0B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201785"/>
            <a:ext cx="8577840" cy="46590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38139C0A-947A-4D7C-9761-72305FE8384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2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2E460EBF-FADE-4F70-82CC-E17F6DE6666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2140" y="760130"/>
            <a:ext cx="8386109" cy="289818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3" name="Triángulo isósceles 12">
            <a:extLst xmlns:a="http://schemas.openxmlformats.org/drawingml/2006/main">
              <a:ext uri="{FF2B5EF4-FFF2-40B4-BE49-F238E27FC236}">
                <a16:creationId xmlns:a16="http://schemas.microsoft.com/office/drawing/2014/main" id="{5D8D14D9-3EAD-49FB-A1D4-710738E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020" y="844174"/>
            <a:ext cx="214509" cy="1217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5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d7ec7e824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509C0F-29B9-4141-899F-9EF9655F710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757647"/>
            <a:ext cx="8577840" cy="51032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6D5B8A8C-CC90-476D-8784-7C9AF11C8E2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d6bc6078e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8E67247D-D6FB-409D-B724-3FF52CDEB26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8538" y="-3436"/>
            <a:ext cx="4282676" cy="6876499"/>
          </a:xfrm>
          <a:custGeom xmlns:a="http://schemas.openxmlformats.org/drawingml/2006/main"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>
                <a:highlight>
                  <a:srgbClr val="FFFF00"/>
                </a:highlight>
              </a:defRPr>
            </a:lvl1pPr>
          </a:lstStyle>
          <a:p xmlns:a="http://schemas.openxmlformats.org/drawingml/2006/main">
            <a:r>
              <a:t>IMAGEN AQUI</a:t>
            </a:r>
            <a:endParaRPr/>
          </a:p>
        </p:txBody>
      </p:sp>
      <p:sp>
        <p:nvSpPr>
          <p:cNvPr id="13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D5FBE70B-49DF-444F-ADF4-71E6F328339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571998" y="718457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4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89225E3-2F53-41D3-86E8-B405197DF1E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71997" y="1265001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4FB73815-0A84-47DD-8800-E39C253BA7C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72000" y="1973263"/>
            <a:ext cx="4238625" cy="45418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00"/>
                </a:solidFill>
              </a:defRPr>
            </a:lvl1pPr>
            <a:lvl2pPr>
              <a:buNone/>
              <a:defRPr>
                <a:solidFill>
                  <a:srgbClr val="000000"/>
                </a:solidFill>
              </a:defRPr>
            </a:lvl2pPr>
            <a:lvl3pPr>
              <a:buNone/>
              <a:defRPr>
                <a:solidFill>
                  <a:srgbClr val="000000"/>
                </a:solidFill>
              </a:defRPr>
            </a:lvl3pPr>
            <a:lvl4pPr>
              <a:buNone/>
              <a:defRPr>
                <a:solidFill>
                  <a:srgbClr val="000000"/>
                </a:solidFill>
              </a:defRPr>
            </a:lvl4pPr>
            <a:lvl5pPr>
              <a:buNone/>
              <a:defRPr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3e7c738e1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" y="0"/>
            <a:ext cx="914339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Marcador de posición de imagen 22">
            <a:extLst xmlns:a="http://schemas.openxmlformats.org/drawingml/2006/main">
              <a:ext uri="{FF2B5EF4-FFF2-40B4-BE49-F238E27FC236}">
                <a16:creationId xmlns:a16="http://schemas.microsoft.com/office/drawing/2014/main" id="{D5846F06-C56E-49D5-BF81-5219538FA5A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9526" y="-9526"/>
            <a:ext cx="9144000" cy="6870074"/>
          </a:xfrm>
          <a:custGeom xmlns:a="http://schemas.openxmlformats.org/drawingml/2006/main"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Imagen aquí</a:t>
            </a: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740FFE87-219F-4721-B328-6D6B8957D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3699" y="2230520"/>
            <a:ext cx="3276600" cy="23899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d85190c0040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EBDA0BF9-3CC8-4274-B913-7A5B1717AE8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91124" y="3015915"/>
            <a:ext cx="6761750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54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¡GRACIAS!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ae040390264e12" /><Relationship Type="http://schemas.openxmlformats.org/officeDocument/2006/relationships/slideLayout" Target="/ppt/slideLayouts/slideLayout1.xml" Id="R2c39bb95cb994f3f" /><Relationship Type="http://schemas.openxmlformats.org/officeDocument/2006/relationships/slideLayout" Target="/ppt/slideLayouts/slideLayout2.xml" Id="R0ff2a8de286247a5" /><Relationship Type="http://schemas.openxmlformats.org/officeDocument/2006/relationships/slideLayout" Target="/ppt/slideLayouts/slideLayout3.xml" Id="Racb35fce69454960" /><Relationship Type="http://schemas.openxmlformats.org/officeDocument/2006/relationships/slideLayout" Target="/ppt/slideLayouts/slideLayout4.xml" Id="R3a0e54f8e3204e03" /><Relationship Type="http://schemas.openxmlformats.org/officeDocument/2006/relationships/slideLayout" Target="/ppt/slideLayouts/slideLayout5.xml" Id="Rf5fd5b6d1c1e46e6" /><Relationship Type="http://schemas.openxmlformats.org/officeDocument/2006/relationships/slideLayout" Target="/ppt/slideLayouts/slideLayout6.xml" Id="Rca10bc7353704900" /><Relationship Type="http://schemas.openxmlformats.org/officeDocument/2006/relationships/slideLayout" Target="/ppt/slideLayouts/slideLayout7.xml" Id="R715d1fd04c5546e8" /><Relationship Type="http://schemas.openxmlformats.org/officeDocument/2006/relationships/slideLayout" Target="/ppt/slideLayouts/slideLayout8.xml" Id="Ra8d38708ad124c65" /><Relationship Type="http://schemas.openxmlformats.org/officeDocument/2006/relationships/slideLayout" Target="/ppt/slideLayouts/slideLayout9.xml" Id="Raf8948125ece47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D43B9BB-8020-4565-BD95-B2CE37866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57518B-9C36-4BBC-89E7-FB9344D98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666707-26F8-4280-9FC0-267FF128489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475B63D-E972-45BF-A693-820FC9EC888F}" type="datetimeFigureOut">
              <a:t>05/10/2026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A27893-93F1-4B38-BD23-14D935604E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ABF9A6-E199-495F-93CB-27D64AE11E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1181F41-F723-4400-B87F-3A7D3AC75E0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9bb95cb994f3f"/>
    <p:sldLayoutId xmlns:r="http://schemas.openxmlformats.org/officeDocument/2006/relationships" id="2147483650" r:id="R0ff2a8de286247a5"/>
    <p:sldLayoutId xmlns:r="http://schemas.openxmlformats.org/officeDocument/2006/relationships" id="2147483651" r:id="Racb35fce69454960"/>
    <p:sldLayoutId xmlns:r="http://schemas.openxmlformats.org/officeDocument/2006/relationships" id="2147483652" r:id="R3a0e54f8e3204e03"/>
    <p:sldLayoutId xmlns:r="http://schemas.openxmlformats.org/officeDocument/2006/relationships" id="2147483653" r:id="Rf5fd5b6d1c1e46e6"/>
    <p:sldLayoutId xmlns:r="http://schemas.openxmlformats.org/officeDocument/2006/relationships" id="2147483654" r:id="Rca10bc7353704900"/>
    <p:sldLayoutId xmlns:r="http://schemas.openxmlformats.org/officeDocument/2006/relationships" id="2147483655" r:id="R715d1fd04c5546e8"/>
    <p:sldLayoutId xmlns:r="http://schemas.openxmlformats.org/officeDocument/2006/relationships" id="2147483656" r:id="Ra8d38708ad124c65"/>
    <p:sldLayoutId xmlns:r="http://schemas.openxmlformats.org/officeDocument/2006/relationships" id="2147483657" r:id="Raf8948125ece47e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6d3536c4a747f9" /><Relationship Type="http://schemas.openxmlformats.org/officeDocument/2006/relationships/image" Target="/ppt/media/image10.jpeg" Id="R2a3ed4a56e3d4d02" /><Relationship Type="http://schemas.openxmlformats.org/officeDocument/2006/relationships/notesSlide" Target="/ppt/notesSlides/notesSlide1.xml" Id="R491ea6291d0d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ee551b97b495b" /><Relationship Type="http://schemas.openxmlformats.org/officeDocument/2006/relationships/notesSlide" Target="/ppt/notesSlides/notesSlide2.xml" Id="R1b24004797ec48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0991ab28494782" /><Relationship Type="http://schemas.openxmlformats.org/officeDocument/2006/relationships/notesSlide" Target="/ppt/notesSlides/notesSlide3.xml" Id="R5a51ac3c31ef49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21788646b4b17" /><Relationship Type="http://schemas.openxmlformats.org/officeDocument/2006/relationships/notesSlide" Target="/ppt/notesSlides/notesSlide4.xml" Id="Rbfde37fea0224b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32130e7894a5d" /><Relationship Type="http://schemas.openxmlformats.org/officeDocument/2006/relationships/notesSlide" Target="/ppt/notesSlides/notesSlide5.xml" Id="Rac5f2ebcb3e34d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e4bb0a8cb4fe6" /><Relationship Type="http://schemas.openxmlformats.org/officeDocument/2006/relationships/hyperlink" Target="https://biblioteca.upds.edu.bo/" TargetMode="External" Id="Rdc52b85d017f4682" /><Relationship Type="http://schemas.openxmlformats.org/officeDocument/2006/relationships/notesSlide" Target="/ppt/notesSlides/notesSlide6.xml" Id="R42bb6ca7639848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f2236358f42fc" /><Relationship Type="http://schemas.openxmlformats.org/officeDocument/2006/relationships/notesSlide" Target="/ppt/notesSlides/notesSlide7.xml" Id="R71a90f18dc3c44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f032646b84df0" /><Relationship Type="http://schemas.openxmlformats.org/officeDocument/2006/relationships/hyperlink" Target="https://www.plantuml.com/plantuml/uml/DOsn3i8m34JtV8N514C7sXrLLFq4sDt4RIsvCKgS2V7lD2fiT_TqTtqsJ5OsSKApWIaaNbQ3m8cyiKQ7tZJ1cAq4ncW4c65qbM9SXE0qeA7eeZ3n9An67XFh2TuEu7mlURTWR4NqKhkFQyq7ZRd8_Wqp-nKFqbRofBI_vvT6dbWuO3XWvpvkXAQvrOMVQF-YSpt5K3Rv0W" TargetMode="External" Id="Rea8f188cb4e9424f" /><Relationship Type="http://schemas.openxmlformats.org/officeDocument/2006/relationships/hyperlink" Target="https://app.diagrams.net/" TargetMode="External" Id="Ra2fba8802eb14329" /><Relationship Type="http://schemas.openxmlformats.org/officeDocument/2006/relationships/hyperlink" Target="https://staruml.io/" TargetMode="External" Id="Rae13844d740a4dd9" /><Relationship Type="http://schemas.openxmlformats.org/officeDocument/2006/relationships/hyperlink" Target="https://www.omg.org/spec/UML/2.5.1/PDF" TargetMode="External" Id="Re30e8fccad374565" /><Relationship Type="http://schemas.openxmlformats.org/officeDocument/2006/relationships/hyperlink" Target="https://plantuml.com/en/starting" TargetMode="External" Id="Ra9847de4fd42463c" /><Relationship Type="http://schemas.openxmlformats.org/officeDocument/2006/relationships/hyperlink" Target="https://www.drawio.com/docs/diagram-types/uml/" TargetMode="External" Id="Ra7f661cc59da4c8c" /><Relationship Type="http://schemas.openxmlformats.org/officeDocument/2006/relationships/hyperlink" Target="https://staruml.io/" TargetMode="External" Id="R94498b4589b4468a" /><Relationship Type="http://schemas.openxmlformats.org/officeDocument/2006/relationships/notesSlide" Target="/ppt/notesSlides/notesSlide8.xml" Id="R2239257337464a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5a49580a2441f" /><Relationship Type="http://schemas.openxmlformats.org/officeDocument/2006/relationships/hyperlink" Target="https://dspace.scz.ucb.edu.bo/dspace/handle/123456789/1392" TargetMode="External" Id="R8b4f9b87654d4a7d" /><Relationship Type="http://schemas.openxmlformats.org/officeDocument/2006/relationships/hyperlink" Target="https://dspace.scz.ucb.edu.bo/dspace/handle/123456789/1392" TargetMode="External" Id="R0eb4c3122f4b4dfe" /><Relationship Type="http://schemas.openxmlformats.org/officeDocument/2006/relationships/hyperlink" Target="https://dspace.scz.ucb.edu.bo/dspace/handle/123456789/1178" TargetMode="External" Id="Rb34a3e26a510441e" /><Relationship Type="http://schemas.openxmlformats.org/officeDocument/2006/relationships/hyperlink" Target="https://dspace.scz.ucb.edu.bo/dspace/handle/123456789/1178" TargetMode="External" Id="R29ab9ddbb0a74707" /><Relationship Type="http://schemas.openxmlformats.org/officeDocument/2006/relationships/hyperlink" Target="https://biblioteca.upds.edu.bo/biblioteca/index.php?id=2516&amp;lvl=categ_see" TargetMode="External" Id="Ra7740f3d73d14172" /><Relationship Type="http://schemas.openxmlformats.org/officeDocument/2006/relationships/hyperlink" Target="https://biblioteca.upds.edu.bo/" TargetMode="External" Id="R6feeb977351a4cdf" /><Relationship Type="http://schemas.openxmlformats.org/officeDocument/2006/relationships/image" Target="/ppt/media/image11.jpeg" Id="Rcf113c5255d94f74" /><Relationship Type="http://schemas.openxmlformats.org/officeDocument/2006/relationships/hyperlink" Target="https://www.omg.org/spec/UML/2.5.1/PDF" TargetMode="External" Id="R1ee53a9c364d4efe" /><Relationship Type="http://schemas.openxmlformats.org/officeDocument/2006/relationships/hyperlink" Target="https://plantuml.com/en/starting" TargetMode="External" Id="Rcdadc734a27245f3" /><Relationship Type="http://schemas.openxmlformats.org/officeDocument/2006/relationships/hyperlink" Target="https://www.drawio.com/docs/diagram-types/uml/" TargetMode="External" Id="R8f7f7373b937444e" /><Relationship Type="http://schemas.openxmlformats.org/officeDocument/2006/relationships/hyperlink" Target="https://staruml.io/" TargetMode="External" Id="R64512e7c61ba410d" /><Relationship Type="http://schemas.openxmlformats.org/officeDocument/2006/relationships/notesSlide" Target="/ppt/notesSlides/notesSlide9.xml" Id="R929333c6e4d547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DEE0707-84BE-4F91-8421-4DF81D76155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CABE0E-68AE-4654-82C1-BE661BFCA11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39049A-7B41-4DE2-AB95-F37C48F6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8912"/>
            <a:ext cx="5989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2303C"/>
                </a:solidFill>
              </a:rPr>
              <a:t>ACTIVIDAD 1 · TEMA 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D411CE-4325-4AE6-9E68-AF660763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68096"/>
            <a:ext cx="59893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UML Y REQUISITOS DEL SISTEMA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7D7BDD0-3990-4EF3-BEEF-827F182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90472"/>
            <a:ext cx="5989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E09245F-B650-49C8-A690-B096298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474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/>
              <a:t>INTEGRANTES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9F2BE94-7431-44D5-8821-132677C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3347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Ashley Aguilar Perez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7E4CFC-7393-43FB-970F-6A2DF43E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54096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Nicolas Soria Yabeta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EB28D4-8CAA-44C6-862B-A548F844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74720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Erick Bravo Borges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B07268-BA38-4488-AA54-EB665E6E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95344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Jose Manuel Callecusi Guarachi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71615C4-69FE-467D-975E-DCA292B8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15968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Ruben Churqui Limachi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5407AC-E10E-4E07-B4B3-9D01046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23560"/>
            <a:ext cx="5989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34" name="Foto grupal · orientación corregid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ed4a56e3d4d02"/>
          <a:stretch xmlns:a="http://schemas.openxmlformats.org/drawingml/2006/main"/>
        </p:blipFill>
        <p:spPr>
          <a:xfrm xmlns:a="http://schemas.openxmlformats.org/drawingml/2006/main" rot="0">
            <a:off x="609600" y="1943100"/>
            <a:ext cx="34290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772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ACB2D51-4282-4C66-8D27-00F5A7930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C54571-29F8-4335-A5B2-3E20589210F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272076C-0D6C-4376-8D82-E22AA78F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Cliente y usuario aportan perspectivas distintas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8F87CD-CBA1-45D5-B9AE-4A2ED726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ACTORES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12723A-44A2-475F-8DC7-84D962C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DOS FUENTES COMPLEMENTARIAS PARA DEFINIR EL SISTEMA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60F3B89-E1CF-43B3-AA37-B25BE0A5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54480"/>
            <a:ext cx="370332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75181D3-6F63-48CB-80A2-79B99353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554480"/>
            <a:ext cx="370332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3AE4F81-A8C3-4663-89C6-15D76B0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83664"/>
            <a:ext cx="1353312" cy="7315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E2AB3D-9509-402A-B18A-3752F9A8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883664"/>
            <a:ext cx="124358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objetivos y prioridades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4D290-3872-4E94-A603-5AC064A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1883664"/>
            <a:ext cx="1353312" cy="7315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00BC11-56E5-4820-B9A1-FDE187C7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7" y="1883664"/>
            <a:ext cx="124358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USUARIO FINAL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tareas y experiencia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ECEE16B-04CD-4A5C-B4A1-920FFC04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883664"/>
            <a:ext cx="170078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el valor esperado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Aprueba alcance y criterios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0644D64-165F-41A0-9D07-DE7A5AEA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883664"/>
            <a:ext cx="170078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el trabajo real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Aporta contexto de operación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03637BA-F601-4757-B4B6-AAA597A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4215384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C76BE189-69A7-432A-ABDF-B360FC8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215384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8199538-5E46-4780-916E-F1D6F9E9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94760"/>
            <a:ext cx="2066544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7CCC6FE-C3C1-4B2A-993A-1B3BF306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94760"/>
            <a:ext cx="1956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Necesidad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problema u objetivo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EACE42C-B09F-4662-9520-67964C2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94760"/>
            <a:ext cx="2066544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B1DCD3-92C0-46F7-9BE9-C633093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794760"/>
            <a:ext cx="1956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Requisito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función o condición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509676D-98A6-44C2-88D5-F7CC0EB7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794760"/>
            <a:ext cx="2066544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B6BBF98-B249-4129-B67E-CF4F76D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794760"/>
            <a:ext cx="1956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Criterio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evidencia observable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7F2E6C7-6FCB-48AE-8FC9-376535F5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92040"/>
            <a:ext cx="7726679" cy="3840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F903E31-EF68-424A-998E-A82F24F1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65192"/>
            <a:ext cx="743407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Una misma persona puede asumir ambos roles cuando quien define el sistema también lo utiliza.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FF3EDDA-DAA9-4BBE-9E0C-51F0DD2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rPr sz="760"/>
              <a:t>Fuente: necesidades y actores del análisis del sistema · investigación de la materia</a:t>
            </a:r>
          </a:p>
        </p:txBody>
      </p:sp>
    </p:spTree>
    <p:extLst>
      <p:ext uri="{BB962C8B-B14F-4D97-AF65-F5344CB8AC3E}">
        <p14:creationId xmlns:p14="http://schemas.microsoft.com/office/powerpoint/2010/main" val="653438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45DDCD3-4341-487E-9C76-FC877287C1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E8097-89B9-453A-A79F-DC249A1BC71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276D5E-2252-4646-B75F-5919877D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 requisito convierte una necesidad en algo verificable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836139-5186-4741-847E-D3252E25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TRAZA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AAFC57-C9D6-4C7D-B7F0-3EDB714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DE LA SOLICITUD AL RESULTADO COMPROBADO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6849BF66-C757-45CF-9E08-9EC322B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32" y="2596896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C30AF504-9FC8-4329-B946-9E2DF99E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96896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5503668C-5073-4330-BC0C-BE807CA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388" y="2596896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736D895-1B74-440B-A91F-104491A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BFA14F-B9D3-489C-B6FB-0BE28FE7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Necesidad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localizar una obra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29A0D28-9414-420F-8C0B-F5F2DEE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188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905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371AC4-0839-4AD1-8A8D-DD9023C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052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RF-01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buscar por título o autor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9CE8494-0C99-4B54-A470-3099D94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6CCCF8E-A225-43A1-8944-AE555F9A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Modelo UML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caso de uso de búsqueda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CF619D3-9F18-4663-8FA5-02705E3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844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4BA811F-8F53-4D10-8B98-58203E64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708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Prueba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resultado esperado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B88DEA7-B6AC-4F9D-AA6C-1E37C404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3657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 fuente explica por qué existe la función.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C0090A1-1188-4917-BE2D-A81C64B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94760"/>
            <a:ext cx="3703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criterio determina qué evidencia confirma su cumplimiento.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004187C-8159-41E1-B584-15EA3D22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5B3314-2B0C-4A2E-A118-45068861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42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trazabilidad conecta cada cambio con su modelo y prueba, conserva el origen y facilita la verificación.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799BD3D-5C92-4DBC-A715-157148C7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rPr sz="760"/>
              <a:t>Fuentes: OMG, UML 2.5.1 · requisitos y trazabilidad del caso bibliotecario</a:t>
            </a:r>
          </a:p>
        </p:txBody>
      </p:sp>
    </p:spTree>
    <p:extLst>
      <p:ext uri="{BB962C8B-B14F-4D97-AF65-F5344CB8AC3E}">
        <p14:creationId xmlns:p14="http://schemas.microsoft.com/office/powerpoint/2010/main" val="18850715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B21F0CF-4C0A-4C49-86A5-0680378B6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A57871-08AF-4197-A81F-0B2E8143D8E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882836-4D66-4C5D-8E8F-E63CB59E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Una función y su cualidad se especifican con criterios distintos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D9CD7C-98C4-4227-99CE-1F73A671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REQ.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6536A3-DF7C-4636-BB14-9844A64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QUÉ OFRECE EL SISTEMA Y BAJO QUÉ CONDICIONES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A0BF1B3-32B3-4DC9-BABE-CF89EBD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81328"/>
            <a:ext cx="3749039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7780">
            <a:solidFill>
              <a:srgbClr val="416CB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892156E-74A7-4FF8-BEE2-07C3B9F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481328"/>
            <a:ext cx="3749039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778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11A28B9-B576-47FB-94A2-E3609659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46504"/>
            <a:ext cx="32004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REQUISITO FUNCIONAL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07FCE61-26C8-48A2-8034-ADBBC319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2140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Buscar ejemplares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843B4A-3EE0-4A1A-A510-57FBCBA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70048"/>
            <a:ext cx="31821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sistema busca por título o autor y devuelve coincidencias. La función describe una capacidad observable del catálogo.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D9E07F-7BFD-4AC2-810C-4410830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46504"/>
            <a:ext cx="32004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REQUISITO DE CALIDAD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6ACCBC-44E8-4FE3-8AA4-E5B7009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2140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Tiempo de respuesta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98815D8-E737-45B2-B60E-ACD3916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31821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cuánto puede tardar esa búsqueda bajo carga y datos acordados. El valor se mide; no se supone.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DEDED28-4347-44D0-BF75-6F414449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BF4F83F-ED1C-4334-94F5-33295ED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función indica qué hace el sistema; el requisito de calidad precisa con qué nivel debe hacerlo.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AC1B60B-D75B-46E9-B7A9-E30323A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rPr sz="760"/>
              <a:t>Fuentes: OMG, UML 2.5.1 · criterios de calidad del caso bibliotecario</a:t>
            </a:r>
          </a:p>
        </p:txBody>
      </p:sp>
    </p:spTree>
    <p:extLst>
      <p:ext uri="{BB962C8B-B14F-4D97-AF65-F5344CB8AC3E}">
        <p14:creationId xmlns:p14="http://schemas.microsoft.com/office/powerpoint/2010/main" val="1836694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646D145-B4F7-4628-A41C-0BD7A80D3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F1C14B-24F8-4570-A93B-586A1A3FF75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C42466-D7C2-464C-BCA1-2239123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Los componentes organizan una vista conceptual del catálogo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E2B864-1DA8-4645-A07A-DA34D3C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UML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C655C4-435C-49D0-85F2-0AD7002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MODELO CONCEPTUAL DEL CATÁLOGO PÚBLICO UPDS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5155039-FB5A-42BB-9D09-ED09966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01952"/>
            <a:ext cx="210312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89BF8A-76D9-48D9-9C39-9ECDEFD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048256"/>
            <a:ext cx="1773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«componente» · C1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B26E7C-0A38-4115-8CF6-3E4ED96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68296"/>
            <a:ext cx="18470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Interfaz web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0D3A2F-9DDC-4A66-8C56-5F668DEE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07208"/>
            <a:ext cx="18470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acceso a los servicios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FE2C48A-1A95-40CF-A119-2C11B9A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1901952"/>
            <a:ext cx="210312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3167E7-C786-4515-886E-BEF37DF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048256"/>
            <a:ext cx="1773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«componente» · C2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AE0406-DF8C-4753-BC12-76D3434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368296"/>
            <a:ext cx="18470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6186C72-7AA0-4997-A0CD-8AF4021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07208"/>
            <a:ext cx="18470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Interfaz de consulta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B62FAF1-F2DA-45E6-9041-F7E8F37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01952"/>
            <a:ext cx="210312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7C13889-3A06-441C-B319-9C96B24D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048256"/>
            <a:ext cx="1773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«componente» · C3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5FCD58C-7229-412E-908D-5467080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368296"/>
            <a:ext cx="18470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Base de datos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56D7EC-4679-4C4A-A5CE-C8F0571D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07208"/>
            <a:ext cx="18470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Registros y disponibilidad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5A92F624-F258-4506-B9B2-3EC6B650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578608"/>
            <a:ext cx="62179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prstDash val="dash"/>
            <a:tailEnd type="triangle" w="med" len="med"/>
          </a:ln>
        </p:spPr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9467C157-64AC-4BE9-A14A-48165C4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578608"/>
            <a:ext cx="62179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prstDash val="dash"/>
            <a:tailEnd type="triangle" w="med" len="med"/>
          </a:ln>
        </p:spPr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BD6CDA2-EEA9-4CDF-A45D-F69207C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49039"/>
            <a:ext cx="374903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1 · La interfaz presenta los registros consultables.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BD5D864-AB38-41C0-98AE-5F85F51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749039"/>
            <a:ext cx="374903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2 · La ficha muestra los datos publicados y sus ejemplares.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0D740A-CEB2-4452-A741-3BA0DFF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97680"/>
            <a:ext cx="7132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Rectángulo: bloque conceptual     Flecha: relación entre funciones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41DC597-79F9-4783-9FC0-8274B26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36592"/>
            <a:ext cx="7726679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B4245FA-5CBA-4837-95B3-08AD2FF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09744"/>
            <a:ext cx="743407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vista organiza la consulta de registros y ejemplares; no representa la arquitectura interna de UPDS.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B7354BC-4420-468A-88AD-AD048F3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OMG, UML 2.5.1 · modelo analítico propuesto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282265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D629839-54F9-48BB-A01A-4C73A8674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B11CDB-18B3-4467-A223-6D7A581F21C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2061F4-093D-4D65-8465-B2BE0C2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catálogo UPDS permite buscar y revisar registros bibliográficos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28B87F-038B-4D88-AE7A-F9B4A06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UPDS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6B9884-58C1-48F9-96D0-9F4C90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1440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INTERACCIONES DISPONIBLES EN EL CATÁLOGO PÚBLICO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97B241D-6E2B-4B31-A23A-E8CDAF09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1975104"/>
            <a:ext cx="2788920" cy="12070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CDFCAF-9845-4E80-9067-AD8E8E6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1975104"/>
            <a:ext cx="2679191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CATÁLOGO PÚBLICO
Biblioteca UPDS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D8CF7E4-53B6-41E1-B0D9-AB268B7F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809" y="2079704"/>
            <a:ext cx="403117" cy="5942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9B66F8B5-7345-4E57-8DCF-71479846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1511" y="2799906"/>
            <a:ext cx="406394" cy="12797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8B85499-6C38-41E5-881D-7A7C116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07203" y="2081951"/>
            <a:ext cx="357425" cy="5358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EDFC5CE-33B8-45A1-BDDC-C1F12E14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81837" y="2800076"/>
            <a:ext cx="384129" cy="12302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621E74E-5A06-4AD6-9542-6FE1166D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572768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8F4007-A4E4-4E62-9DCA-68A455F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572768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Búsquedas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CB6F8F8-67F0-41A0-8BEB-74F4B64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34640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E99C1D-1700-4194-ADFC-56924A3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834640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Fichas bibliográficas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3FEB939-02EA-493C-8839-9E2C703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2FAFE8-C2C5-4999-AFF3-F1ED6F5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572768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50718BA-7D4A-4676-B900-FA18691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AFFADC1-694C-4BE0-9529-A725E2D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834640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Disponibilidad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0C27928-2347-4CB9-B89F-F0938DCA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8620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DATOS Y FUNCIONES OBSERVABLES EN LAS FICHAS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EB1DAC0-5F20-4C2A-BFB3-F8CACCE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15968"/>
            <a:ext cx="196596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CD32C05-EECD-474C-9434-6AE49D3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315968"/>
            <a:ext cx="185623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Búsqueda
por título o autor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3E45E58-2B1E-46AA-8CD9-65A3AA1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315968"/>
            <a:ext cx="196596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D8BF6A5-917A-4B31-9958-99373AEC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4315968"/>
            <a:ext cx="185623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Búsqueda
registros bibliográficos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D0862E7-95F9-4C8D-875F-DC9A8C7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4315968"/>
            <a:ext cx="196596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ECE8B1B-20DF-49F9-8AF5-908FEC24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15968"/>
            <a:ext cx="185623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
disponibilidad consultable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8" name="TextBox 27">
            <a:hlinkClick xmlns:r="http://schemas.openxmlformats.org/officeDocument/2006/relationships" xmlns:a="http://schemas.openxmlformats.org/drawingml/2006/main" r:id="Rdc52b85d017f4682"/>
            <a:extLst xmlns:a="http://schemas.openxmlformats.org/drawingml/2006/main">
              <a:ext uri="{FF2B5EF4-FFF2-40B4-BE49-F238E27FC236}">
                <a16:creationId xmlns:a16="http://schemas.microsoft.com/office/drawing/2014/main" id="{C07D040C-F571-44AD-8834-49A9664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Abrir catálogo público UPDS ↗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1D72DAD-6004-4868-A18E-148CA5F8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búsqueda, fichas y ejemplares visibles · modelo analítico propuesto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695840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B680750-1353-49C5-A950-3869425BA9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CFF4B7-9825-4525-8F21-C20A3B7D8F5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6CA08C-8F4F-4479-94B0-4B46298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 calidad del catálogo se expresa con criterios verificables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20E1C0-FBBF-444F-BEB7-43B94910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CALIDAD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EE8FE4-D456-4096-AF2F-8A5071A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MÉTODOS QUE LA FICHA DE LA INVESTIGACIÓN DECLARA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D1340547-43D3-4094-A47B-7D86CCC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542032"/>
            <a:ext cx="448056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0075A9"/>
            </a:solidFill>
            <a:tailEnd type="triangle" w="med" len="med"/>
          </a:ln>
        </p:spPr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A58BC1C-509E-43E1-8495-6DF915B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5398" y="2101065"/>
            <a:ext cx="733907" cy="19221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tailEnd type="triangle" w="med" len="med"/>
          </a:ln>
        </p:spPr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F7475DE4-1F25-4412-B0DF-BF5ABCAA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368" y="2794007"/>
            <a:ext cx="733967" cy="1947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tailEnd type="triangle" w="med" len="me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5A95C7D-512F-4ABF-8D9C-BC6ABFAA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11680"/>
            <a:ext cx="1600200" cy="106070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6E05928-A1EA-4A1F-80B9-2DE681E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2011680"/>
            <a:ext cx="1490472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Sistema
catálogo público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4EF063-8125-4E63-A977-1954836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011680"/>
            <a:ext cx="1828800" cy="106070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9C2C2FA-0C0E-49EF-BE48-8E0E9F3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11680"/>
            <a:ext cx="1719072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Calidad
criterios de consulta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FCDFB4C-78EE-4365-A02E-8E3E6BF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417320"/>
            <a:ext cx="1938528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2D12305-D29C-4F24-9FF1-BEB4D7E8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1" y="1417320"/>
            <a:ext cx="18288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Estructura interna
no publicada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10FFAD3-B617-45B4-8CC7-7F9A42F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834640"/>
            <a:ext cx="1938528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A4873E-F2BB-4B14-AC70-A90BD681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1" y="2834640"/>
            <a:ext cx="18288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Prueba propuesta
búsqueda y ficha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3916FF5-5A61-459B-8EAE-5DD4EA6B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08355D-67C5-4671-8148-E7B710F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Los criterios de aceptación son propuestas académicas; el catálogo público no expone resultados de pruebas internas ni métricas de desempeño.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159067-D813-44AA-ADD2-242AC06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métricas y pruebas propuestas para este análisis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09583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0D27D0EC-23A8-406E-A645-790725635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476B36-4B23-4DF4-8FF2-4BA88D9284D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8AED57-D11E-4859-A673-347EF2D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solidFill>
                  <a:srgbClr val="1D4696"/>
                </a:solidFill>
              </a:defRPr>
            </a:pPr>
            <a:r>
              <a:rPr sz="2050" b="1">
                <a:solidFill>
                  <a:srgbClr val="1D4696"/>
                </a:solidFill>
                <a:latin typeface="Aptos"/>
                <a:ea typeface="Aptos"/>
                <a:cs typeface="Aptos"/>
              </a:rPr>
              <a:t>Vistas UML y herramientas para modelarlas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C5BBD5-2AE2-4AFB-9AC9-D9EAE343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CASO APLICADO · CATÁLOGO PÚBLICO UPDS · DIAGRAMA DE CASOS DE USO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48B907-FE23-4CE6-A62B-1CF4846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8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07 · UML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688A747-BE9A-464E-89CB-2A532632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1417320"/>
            <a:ext cx="2880360" cy="2999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Catálogo bibliotecario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4020FAE-BCDB-45AE-89A9-F564A9B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55648"/>
            <a:ext cx="1737360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9"/>
          </a:solidFill>
          <a:ln xmlns:a="http://schemas.openxmlformats.org/drawingml/2006/main" w="1778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2303C"/>
                </a:solidFill>
                <a:latin typeface="Aptos"/>
                <a:ea typeface="Aptos"/>
                <a:cs typeface="Aptos"/>
              </a:rPr>
              <a:t>Buscar título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69A4CA7-9EE8-4DD1-96F5-294F619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578608"/>
            <a:ext cx="1737360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9"/>
          </a:solidFill>
          <a:ln xmlns:a="http://schemas.openxmlformats.org/drawingml/2006/main" w="1778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2303C"/>
                </a:solidFill>
                <a:latin typeface="Aptos"/>
                <a:ea typeface="Aptos"/>
                <a:cs typeface="Aptos"/>
              </a:rPr>
              <a:t>Consultar ficha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9D75E29-C603-4775-9625-50C659B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401568"/>
            <a:ext cx="1737360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9"/>
          </a:solidFill>
          <a:ln xmlns:a="http://schemas.openxmlformats.org/drawingml/2006/main" w="1778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2303C"/>
                </a:solidFill>
                <a:latin typeface="Aptos"/>
                <a:ea typeface="Aptos"/>
                <a:cs typeface="Aptos"/>
              </a:rPr>
              <a:t>Ver disponibilidad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12188BE-4793-410C-B62F-6C6B075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7CA2F405-F570-4937-AF74-4E046D2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7" y="2459736"/>
            <a:ext cx="1" cy="53949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0D52542C-40DF-4071-A3A1-D9D51EC5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9808" y="2651760"/>
            <a:ext cx="274320" cy="164592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E3105561-18A2-4B04-BB19-8BC8B821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51760"/>
            <a:ext cx="274320" cy="164592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25952DB7-AD0F-4945-AA26-365135FC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2960" y="2999232"/>
            <a:ext cx="201168" cy="31089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36016A23-8E4E-404E-A313-2DBFBA9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99232"/>
            <a:ext cx="201168" cy="31089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2B010E-26CB-4B57-83B2-8794E5F7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64992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2303C"/>
                </a:solidFill>
                <a:latin typeface="Aptos"/>
                <a:ea typeface="Aptos"/>
                <a:cs typeface="Aptos"/>
              </a:rPr>
              <a:t>Estudiante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19B25C58-8E59-42C9-A05F-3DB3C9E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7592" y="2039112"/>
            <a:ext cx="1161288" cy="75895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5A6F7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2A5DE400-05A0-4B93-B907-3AE51B41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798064"/>
            <a:ext cx="1161288" cy="6400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5A6F7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B7E31DC3-37B5-44E9-9130-5EB8526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798064"/>
            <a:ext cx="1161288" cy="88696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5A6F7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78C8BA0-B3CD-4BF4-B202-B1FD0B5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17320"/>
            <a:ext cx="3520440" cy="2999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20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Modelos UML · qué permiten observar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Casos de uso: objetivos de los actores.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Actividad: pasos y decisiones del flujo.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Secuencia: mensajes ordenados en el tiempo.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Clases: estructura, atributos y asociaciones.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Estados: condiciones y transiciones de un objeto.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Componentes y despliegue: módulos y entorno de ejecución.</a:t>
            </a:r>
          </a:p>
        </p:txBody>
      </p:sp>
      <p:sp>
        <p:nvSpPr>
          <p:cNvPr id="22" name="Rounded Rectangle 21">
            <a:hlinkClick xmlns:r="http://schemas.openxmlformats.org/officeDocument/2006/relationships" xmlns:a="http://schemas.openxmlformats.org/drawingml/2006/main" r:id="Rea8f188cb4e9424f"/>
            <a:extLst xmlns:a="http://schemas.openxmlformats.org/drawingml/2006/main">
              <a:ext uri="{FF2B5EF4-FFF2-40B4-BE49-F238E27FC236}">
                <a16:creationId xmlns:a16="http://schemas.microsoft.com/office/drawing/2014/main" id="{77EE3BB9-4AF4-4BDC-924C-872961D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248716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4F8"/>
          </a:solidFill>
          <a:ln xmlns:a="http://schemas.openxmlformats.org/drawingml/2006/main">
            <a:solidFill>
              <a:srgbClr val="B4CD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PlantUML</a:t>
            </a:r>
          </a:p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Editar este caso de uso</a:t>
            </a:r>
          </a:p>
        </p:txBody>
      </p:sp>
      <p:sp>
        <p:nvSpPr>
          <p:cNvPr id="23" name="Rounded Rectangle 22">
            <a:hlinkClick xmlns:r="http://schemas.openxmlformats.org/officeDocument/2006/relationships" xmlns:a="http://schemas.openxmlformats.org/drawingml/2006/main" r:id="Ra2fba8802eb14329"/>
            <a:extLst xmlns:a="http://schemas.openxmlformats.org/drawingml/2006/main">
              <a:ext uri="{FF2B5EF4-FFF2-40B4-BE49-F238E27FC236}">
                <a16:creationId xmlns:a16="http://schemas.microsoft.com/office/drawing/2014/main" id="{27745B8A-F31D-4865-BB07-9DDC0D7D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709160"/>
            <a:ext cx="248716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4F8"/>
          </a:solidFill>
          <a:ln xmlns:a="http://schemas.openxmlformats.org/drawingml/2006/main">
            <a:solidFill>
              <a:srgbClr val="B4CD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diagrams.net</a:t>
            </a:r>
          </a:p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Modelado visual UML</a:t>
            </a:r>
          </a:p>
        </p:txBody>
      </p:sp>
      <p:sp>
        <p:nvSpPr>
          <p:cNvPr id="24" name="Rounded Rectangle 23">
            <a:hlinkClick xmlns:r="http://schemas.openxmlformats.org/officeDocument/2006/relationships" xmlns:a="http://schemas.openxmlformats.org/drawingml/2006/main" r:id="Rae13844d740a4dd9"/>
            <a:extLst xmlns:a="http://schemas.openxmlformats.org/drawingml/2006/main">
              <a:ext uri="{FF2B5EF4-FFF2-40B4-BE49-F238E27FC236}">
                <a16:creationId xmlns:a16="http://schemas.microsoft.com/office/drawing/2014/main" id="{620DB72C-9957-4B4A-9CE8-97F31E1E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709160"/>
            <a:ext cx="248716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4F8"/>
          </a:solidFill>
          <a:ln xmlns:a="http://schemas.openxmlformats.org/drawingml/2006/main">
            <a:solidFill>
              <a:srgbClr val="B4CD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StarUML</a:t>
            </a:r>
          </a:p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Entorno de modelado UML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04FA9E3-48AA-4ACB-BA74-9EF2437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559552"/>
            <a:ext cx="7955279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e30e8fccad374565"/>
              </a:rPr>
              <a:t>OMG, UML 2.5.1</a:t>
            </a:r>
            <a:r>
              <a:rPr sz="760">
                <a:solidFill>
                  <a:srgbClr val="4B5963"/>
                </a:solidFill>
                <a:latin typeface="Aptos"/>
                <a:ea typeface="Aptos"/>
                <a:cs typeface="Aptos"/>
              </a:rPr>
              <a:t> · </a:t>
            </a: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a9847de4fd42463c"/>
              </a:rPr>
              <a:t>PlantUML, quick start</a:t>
            </a:r>
            <a:r>
              <a:rPr sz="760">
                <a:solidFill>
                  <a:srgbClr val="4B5963"/>
                </a:solidFill>
                <a:latin typeface="Aptos"/>
                <a:ea typeface="Aptos"/>
                <a:cs typeface="Aptos"/>
              </a:rPr>
              <a:t> · </a:t>
            </a: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a7f661cc59da4c8c"/>
              </a:rPr>
              <a:t>diagrams.net, UML diagrams</a:t>
            </a:r>
            <a:r>
              <a:rPr sz="760">
                <a:solidFill>
                  <a:srgbClr val="4B5963"/>
                </a:solidFill>
                <a:latin typeface="Aptos"/>
                <a:ea typeface="Aptos"/>
                <a:cs typeface="Aptos"/>
              </a:rPr>
              <a:t> · </a:t>
            </a: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94498b4589b4468a"/>
              </a:rPr>
              <a:t>StarUML</a:t>
            </a:r>
          </a:p>
        </p:txBody>
      </p:sp>
    </p:spTree>
    <p:extLst>
      <p:ext uri="{BB962C8B-B14F-4D97-AF65-F5344CB8AC3E}">
        <p14:creationId xmlns:p14="http://schemas.microsoft.com/office/powerpoint/2010/main" val="20575173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F29C98A-6BCC-45D7-B619-A3E9FA9DF8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07ED94-33FA-46CF-9AA4-3E3B3308B2C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0C26DE-B146-44A2-8EE2-4AFACC4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2BA8BF-67C1-4231-A145-324C8887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TEMA 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7831C5-D780-4635-9971-529E8D97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Referencias para profundizar · UML y requisitos del sistema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9E0B48F-EB48-47F2-9FC0-49A6A97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A435F20-3445-4221-BF22-2EC210D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80160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LIBRO DIGITAL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1E7091E-F9D9-4A82-A3C8-6F75AE5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7048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Integrar UML en los proyectos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BB4F72-A89E-490B-8969-21E03752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74519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xmlns:r="http://schemas.openxmlformats.org/officeDocument/2006/relationships" xmlns:a="http://schemas.openxmlformats.org/drawingml/2006/main" r:id="R8b4f9b87654d4a7d"/>
            <a:extLst xmlns:a="http://schemas.openxmlformats.org/drawingml/2006/main">
              <a:ext uri="{FF2B5EF4-FFF2-40B4-BE49-F238E27FC236}">
                <a16:creationId xmlns:a16="http://schemas.microsoft.com/office/drawing/2014/main" id="{1A69D9F8-EF8A-4F13-9C05-C996387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57984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eb4c3122f4b4dfe"/>
              </a:rPr>
              <a:t>Ver libro digital 1 ↗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3C98379-DFA8-41FF-B9B0-598BA8A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E534B85-D45B-48B8-947D-B7D2638F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LIBRO DIGITAL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355BDA-ACD9-417E-A3D8-D31485C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16936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proceso unificado de desarrollo de software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C31FA2-F519-442B-8F45-733B814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64408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xmlns:r="http://schemas.openxmlformats.org/officeDocument/2006/relationships" xmlns:a="http://schemas.openxmlformats.org/drawingml/2006/main" r:id="Rb34a3e26a510441e"/>
            <a:extLst xmlns:a="http://schemas.openxmlformats.org/drawingml/2006/main">
              <a:ext uri="{FF2B5EF4-FFF2-40B4-BE49-F238E27FC236}">
                <a16:creationId xmlns:a16="http://schemas.microsoft.com/office/drawing/2014/main" id="{80003056-0ACD-457C-9D81-C65C364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9ab9ddbb0a74707"/>
              </a:rPr>
              <a:t>Ver libro digital 2 ↗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04D2B0F-9D92-4829-9AF8-FA0EE60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0208"/>
            <a:ext cx="8010144" cy="1645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1F6219-3B81-40B4-A347-A982E7B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IMPRESO · EJEMPLAR CONSULTADO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C374495-DEDC-4D7A-8AC3-E20E936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06824"/>
            <a:ext cx="6355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UML con Rational Rose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476DDA-D1D9-474C-9FC7-2E4584C6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6355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Gesvin Romero Moreno · Grupo Editorial Megabyte · 1.ª ed., 2004 · pp. 17–19</a:t>
            </a:r>
          </a:p>
        </p:txBody>
      </p:sp>
      <p:sp>
        <p:nvSpPr>
          <p:cNvPr id="21" name="TextBox 20">
            <a:hlinkClick xmlns:r="http://schemas.openxmlformats.org/officeDocument/2006/relationships" xmlns:a="http://schemas.openxmlformats.org/drawingml/2006/main" r:id="Ra7740f3d73d14172"/>
            <a:extLst xmlns:a="http://schemas.openxmlformats.org/drawingml/2006/main">
              <a:ext uri="{FF2B5EF4-FFF2-40B4-BE49-F238E27FC236}">
                <a16:creationId xmlns:a16="http://schemas.microsoft.com/office/drawing/2014/main" id="{1AAB5867-0833-45AA-BE23-C9902E9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37760"/>
            <a:ext cx="2286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feeb977351a4cdf"/>
              </a:rPr>
              <a:t>Consultar ficha bibliográfica ↗</a:t>
            </a:r>
          </a:p>
        </p:txBody>
      </p:sp>
      <p:pic>
        <p:nvPicPr>
          <p:cNvPr id="45" name="Foto del libro impreso · tema 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13c5255d94f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08" y="4014215"/>
            <a:ext cx="1097280" cy="146304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39B7EBB-5309-423D-B17E-689FB858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21808"/>
            <a:ext cx="7543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1ee53a9c364d4efe"/>
              </a:rPr>
              <a:t>OMG · UML 2.5.1</a:t>
            </a:r>
            <a:r>
              <a:rPr sz="800">
                <a:solidFill>
                  <a:srgbClr val="44525E"/>
                </a:solidFill>
                <a:latin typeface="Aptos"/>
                <a:ea typeface="Aptos"/>
                <a:cs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cdadc734a27245f3"/>
              </a:rPr>
              <a:t>PlantUML · Quick start</a:t>
            </a:r>
            <a:r>
              <a:rPr sz="800">
                <a:solidFill>
                  <a:srgbClr val="44525E"/>
                </a:solidFill>
                <a:latin typeface="Aptos"/>
                <a:ea typeface="Aptos"/>
                <a:cs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8f7f7373b937444e"/>
              </a:rPr>
              <a:t>diagrams.net · UML</a:t>
            </a:r>
            <a:r>
              <a:rPr sz="800">
                <a:solidFill>
                  <a:srgbClr val="44525E"/>
                </a:solidFill>
                <a:latin typeface="Aptos"/>
                <a:ea typeface="Aptos"/>
                <a:cs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64512e7c61ba410d"/>
              </a:rPr>
              <a:t>StarUML</a:t>
            </a:r>
          </a:p>
        </p:txBody>
      </p:sp>
    </p:spTree>
    <p:extLst>
      <p:ext uri="{BB962C8B-B14F-4D97-AF65-F5344CB8AC3E}">
        <p14:creationId xmlns:p14="http://schemas.microsoft.com/office/powerpoint/2010/main" val="1589307695"/>
      </p:ext>
    </p:extLst>
  </p:cSld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2026-10-07T15:29:33.8530000Z</dcterms:created>
  <dcterms:modified xsi:type="dcterms:W3CDTF">2026-10-07T15:29:33.8530000Z</dcterms:modified>
</coreProperties>
</file>