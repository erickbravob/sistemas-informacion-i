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5"/>
    <p:sldId id="260" r:id="rId4"/>
    <p:sldId id="261" r:id="rId3"/>
    <p:sldId id="262" r:id="rId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396"/>
    <a:srgbClr val="000000"/>
    <a:srgbClr val="008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99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0" y="1371"/>
            <a:ext cx="9144000" cy="6855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93817"/>
            <a:ext cx="7772400" cy="1016145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rgbClr val="0085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1550126" y="2876550"/>
            <a:ext cx="1114698" cy="1104900"/>
          </a:xfrm>
        </p:spPr>
        <p:txBody>
          <a:bodyPr anchor="ctr">
            <a:noAutofit/>
          </a:bodyPr>
          <a:lstStyle>
            <a:lvl1pPr marL="0" indent="0" algn="ctr">
              <a:buNone/>
              <a:defRPr sz="8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1</a:t>
            </a:r>
            <a:endParaRPr lang="es-MX" dirty="0"/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3405155" y="2876550"/>
            <a:ext cx="3779416" cy="1104900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402080"/>
            <a:ext cx="8577840" cy="47026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872605"/>
            <a:ext cx="7130039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sz="quarter" idx="16"/>
          </p:nvPr>
        </p:nvSpPr>
        <p:spPr>
          <a:xfrm>
            <a:off x="280410" y="2036693"/>
            <a:ext cx="8618537" cy="4552950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4894217"/>
            <a:ext cx="8577840" cy="166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/>
          </p:nvPr>
        </p:nvSpPr>
        <p:spPr>
          <a:xfrm>
            <a:off x="286760" y="914400"/>
            <a:ext cx="8577840" cy="3832225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201785"/>
            <a:ext cx="8577840" cy="465908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2140" y="760130"/>
            <a:ext cx="8386109" cy="289818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3" name="Triángulo isósceles 12"/>
          <p:cNvSpPr/>
          <p:nvPr userDrawn="1"/>
        </p:nvSpPr>
        <p:spPr>
          <a:xfrm rot="5400000">
            <a:off x="234020" y="844174"/>
            <a:ext cx="214509" cy="121730"/>
          </a:xfrm>
          <a:prstGeom prst="triangle">
            <a:avLst/>
          </a:prstGeom>
          <a:solidFill>
            <a:srgbClr val="0085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757647"/>
            <a:ext cx="8577840" cy="510322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2" name="Marcador de posición de imagen 13"/>
          <p:cNvSpPr>
            <a:spLocks noGrp="1"/>
          </p:cNvSpPr>
          <p:nvPr>
            <p:ph type="pic" sz="quarter" idx="13" hasCustomPrompt="1"/>
          </p:nvPr>
        </p:nvSpPr>
        <p:spPr>
          <a:xfrm>
            <a:off x="-8538" y="-3436"/>
            <a:ext cx="4282676" cy="6876499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57" y="connsiteY5-358"/>
              </a:cxn>
            </a:cxn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anchor="ctr"/>
          <a:lstStyle>
            <a:lvl1pPr algn="l">
              <a:defRPr>
                <a:highlight>
                  <a:srgbClr val="FFFF00"/>
                </a:highlight>
              </a:defRPr>
            </a:lvl1pPr>
          </a:lstStyle>
          <a:p>
            <a:r>
              <a:rPr lang="es-ES" dirty="0"/>
              <a:t>IMAGEN AQUI</a:t>
            </a:r>
            <a:endParaRPr lang="es-MX" dirty="0"/>
          </a:p>
        </p:txBody>
      </p:sp>
      <p:sp>
        <p:nvSpPr>
          <p:cNvPr id="13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1998" y="718457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97" y="1265001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5" name="Marcador de texto 2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1973263"/>
            <a:ext cx="4238625" cy="454183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04" y="0"/>
            <a:ext cx="9143390" cy="6858000"/>
          </a:xfrm>
          <a:prstGeom prst="rect">
            <a:avLst/>
          </a:prstGeom>
        </p:spPr>
      </p:pic>
      <p:sp>
        <p:nvSpPr>
          <p:cNvPr id="8" name="Marcador de posición de imagen 22"/>
          <p:cNvSpPr>
            <a:spLocks noGrp="1"/>
          </p:cNvSpPr>
          <p:nvPr>
            <p:ph type="pic" sz="quarter" idx="10" hasCustomPrompt="1"/>
          </p:nvPr>
        </p:nvSpPr>
        <p:spPr>
          <a:xfrm>
            <a:off x="-9526" y="-9526"/>
            <a:ext cx="9144000" cy="6870074"/>
          </a:xfrm>
          <a:custGeom>
            <a:avLst/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141" y="connsiteY10-142"/>
              </a:cxn>
              <a:cxn ang="0">
                <a:pos x="connsiteX11-275" y="connsiteY11-276"/>
              </a:cxn>
              <a:cxn ang="0">
                <a:pos x="connsiteX12-445" y="connsiteY12-446"/>
              </a:cxn>
              <a:cxn ang="0">
                <a:pos x="connsiteX13-499" y="connsiteY13-500"/>
              </a:cxn>
              <a:cxn ang="0">
                <a:pos x="connsiteX14-529" y="connsiteY14-530"/>
              </a:cxn>
              <a:cxn ang="0">
                <a:pos x="connsiteX15-591" y="connsiteY15-592"/>
              </a:cxn>
              <a:cxn ang="0">
                <a:pos x="connsiteX16-657" y="connsiteY16-658"/>
              </a:cxn>
              <a:cxn ang="0">
                <a:pos x="connsiteX17-727" y="connsiteY17-728"/>
              </a:cxn>
              <a:cxn ang="0">
                <a:pos x="connsiteX18-837" y="connsiteY18-838"/>
              </a:cxn>
              <a:cxn ang="0">
                <a:pos x="connsiteX19-991" y="connsiteY19-992"/>
              </a:cxn>
              <a:cxn ang="0">
                <a:pos x="connsiteX20-1273" y="connsiteY20-1274"/>
              </a:cxn>
              <a:cxn ang="0">
                <a:pos x="connsiteX21-1401" y="connsiteY21-1402"/>
              </a:cxn>
              <a:cxn ang="0">
                <a:pos x="connsiteX22-1667" y="connsiteY22-1668"/>
              </a:cxn>
              <a:cxn ang="0">
                <a:pos x="connsiteX23-1761" y="connsiteY23-1762"/>
              </a:cxn>
              <a:cxn ang="0">
                <a:pos x="connsiteX24-1907" y="connsiteY24-1908"/>
              </a:cxn>
              <a:cxn ang="0">
                <a:pos x="connsiteX25-2059" y="connsiteY25-2060"/>
              </a:cxn>
              <a:cxn ang="0">
                <a:pos x="connsiteX26-2113" y="connsiteY26-2114"/>
              </a:cxn>
            </a:cxn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Imagen aquí</a:t>
            </a:r>
            <a:endParaRPr lang="es-MX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933699" y="2230520"/>
            <a:ext cx="3276600" cy="2389982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1191124" y="3015915"/>
            <a:ext cx="6761750" cy="11049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54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¡GRACIAS!</a:t>
            </a:r>
            <a:endParaRPr lang="es-MX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5B63D-E972-45BF-A693-820FC9EC888F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81F41-F723-4400-B87F-3A7D3AC75E05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biblioteca.upds.edu.bo/" TargetMode="External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dspace.scz.ucb.edu.bo/dspace/handle/123456789/1392" TargetMode="External"/><Relationship Id="rId3" Type="http://schemas.openxmlformats.org/officeDocument/2006/relationships/hyperlink" Target="https://dspace.scz.ucb.edu.bo/dspace/handle/123456789/1178" TargetMode="External"/><Relationship Id="rId4" Type="http://schemas.openxmlformats.org/officeDocument/2006/relationships/hyperlink" Target="https://biblioteca.upds.edu.bo/biblioteca/index.php?id=2516&amp;lvl=categ_see" TargetMode="External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0" y="402336"/>
            <a:ext cx="50749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5A9"/>
                </a:solidFill>
                <a:latin typeface="Calibri"/>
              </a:rPr>
              <a:t>ACTIVIDAD 1 · TEMA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713232"/>
            <a:ext cx="5074920" cy="8503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1D4696"/>
                </a:solidFill>
                <a:latin typeface="Calibri Light"/>
              </a:rPr>
              <a:t>OBJETOS Y CICLO DE VIDA DE LOS ESTADOS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5887" y="1618488"/>
            <a:ext cx="4983480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Calibri"/>
              </a:rPr>
              <a:t>Sistemas de Información 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2148840"/>
            <a:ext cx="4892040" cy="135331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905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633472"/>
            <a:ext cx="461772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03320" y="3630168"/>
            <a:ext cx="4800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5A9"/>
                </a:solidFill>
                <a:latin typeface="Calibri"/>
              </a:rPr>
              <a:t>INTEGRANTES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959352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Ashley Aguilar Perez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3959352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Nicolas Soria Yabeta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526280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Erick Bravo Borges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526280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Jose Manuel Callecusi Guarachi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5093208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Ruben Churqui Limachi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742432"/>
            <a:ext cx="475488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Calibri"/>
              </a:rPr>
              <a:t>Universidad Privada Domingo Savio</a:t>
            </a:r>
          </a:p>
        </p:txBody>
      </p:sp>
      <p:sp>
        <p:nvSpPr>
          <p:cNvPr id="22" name="Rounded Rectangle 21"/>
          <p:cNvSpPr/>
          <p:nvPr/>
        </p:nvSpPr>
        <p:spPr>
          <a:gradFill rotWithShape="1">
            <a:gsLst>
              <a:gs pos="0">
                <a:srgbClr val="16B9B0"/>
              </a:gs>
              <a:gs pos="42000">
                <a:srgbClr val="F5C66A"/>
              </a:gs>
              <a:gs pos="72000">
                <a:srgbClr val="6D7BF7"/>
              </a:gs>
              <a:gs pos="100000">
                <a:srgbClr val="16B9B0"/>
              </a:gs>
            </a:gsLst>
            <a:lin ang="2700000" scaled="1"/>
          </a:gradFill>
          <a:xfrm>
            <a:off x="5230368" y="2084831"/>
            <a:ext cx="1828800" cy="1426464"/>
          </a:xfrm>
          <a:prstGeom prst="roundRect">
            <a:avLst/>
          </a:prstGeom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53228" y="2107692"/>
            <a:ext cx="1783080" cy="1380744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oto-grup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2139696"/>
            <a:ext cx="1609344" cy="12070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Un objeto muestra una instancia en un momento concreto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01 · OBJETO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50976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UNA FOTOGRAFÍA ESTRUCTURAL DE LOS DATOS EXISTENTES EN UN ESCENARIO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828800"/>
            <a:ext cx="2176272" cy="1325880"/>
          </a:xfrm>
          <a:prstGeom prst="rect">
            <a:avLst/>
          </a:prstGeom>
          <a:solidFill>
            <a:srgbClr val="EAF2F8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01952"/>
            <a:ext cx="2029967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ESTUDIANTE03 :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21992"/>
            <a:ext cx="1920239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id = U-038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nombre = 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828800"/>
            <a:ext cx="2176272" cy="1325880"/>
          </a:xfrm>
          <a:prstGeom prst="rect">
            <a:avLst/>
          </a:prstGeom>
          <a:solidFill>
            <a:srgbClr val="E7F5FA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01952"/>
            <a:ext cx="2029967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PRESTAMO42 : PRÉSTAMO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221992"/>
            <a:ext cx="1920239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id = P-042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estado = Activo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fecha = 06/10/2026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828800"/>
            <a:ext cx="2176272" cy="1325880"/>
          </a:xfrm>
          <a:prstGeom prst="rect">
            <a:avLst/>
          </a:prstGeom>
          <a:solidFill>
            <a:srgbClr val="EAF2F8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01952"/>
            <a:ext cx="2029967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EJEMPLAR01 : EJEMPLAR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221992"/>
            <a:ext cx="1920239" cy="868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código = E-104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estado = Prestado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62656" y="2491740"/>
            <a:ext cx="493776" cy="0"/>
          </a:xfrm>
          <a:prstGeom prst="line">
            <a:avLst/>
          </a:prstGeom>
          <a:ln w="17780">
            <a:solidFill>
              <a:srgbClr val="416CBB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5705855" y="2491740"/>
            <a:ext cx="493777" cy="0"/>
          </a:xfrm>
          <a:prstGeom prst="line">
            <a:avLst/>
          </a:prstGeom>
          <a:ln w="17780">
            <a:solidFill>
              <a:srgbClr val="416CB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2880360" y="3310128"/>
            <a:ext cx="3401568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44546A"/>
                </a:solidFill>
                <a:latin typeface="Calibri"/>
              </a:rPr>
              <a:t>enlaza a la persona con la copia prestada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96512"/>
            <a:ext cx="7726679" cy="54864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4169664"/>
            <a:ext cx="7434071" cy="402335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La notación instancia:Clase nombra un objeto concreto; los valores muestran una situación del sistema.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OMG, UML 2.5.1, diagramas de objetos · escenario ilustrativo  ·  as of 6 de octubre de 2026</a:t>
            </a:r>
          </a:p>
        </p:txBody>
      </p:sp>
      <p:sp>
        <p:nvSpPr>
          <p:cNvPr id="22" name="Rounded Rectangle 21"/>
          <p:cNvSpPr/>
          <p:nvPr/>
        </p:nvSpPr>
        <p:spPr>
          <a:gradFill rotWithShape="1">
            <a:gsLst>
              <a:gs pos="0">
                <a:srgbClr val="16B9B0"/>
              </a:gs>
              <a:gs pos="42000">
                <a:srgbClr val="F5C66A"/>
              </a:gs>
              <a:gs pos="72000">
                <a:srgbClr val="6D7BF7"/>
              </a:gs>
              <a:gs pos="100000">
                <a:srgbClr val="16B9B0"/>
              </a:gs>
            </a:gsLst>
            <a:lin ang="2700000" scaled="1"/>
          </a:gradFill>
          <a:xfrm>
            <a:off x="8266175" y="6245352"/>
            <a:ext cx="768096" cy="576072"/>
          </a:xfrm>
          <a:prstGeom prst="roundRect">
            <a:avLst/>
          </a:prstGeom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89036" y="6268212"/>
            <a:ext cx="722375" cy="53035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6286500"/>
            <a:ext cx="658368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Las instancias unen usuarios, préstamos y ejemplares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02 · INSTANTÁNEA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50976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UN MISMO EJEMPLAR CONSERVA SU IDENTIDAD MIENTRAS PARTICIPA EN DISTINTAS OPERACIONES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2212848" cy="1353312"/>
          </a:xfrm>
          <a:prstGeom prst="rect">
            <a:avLst/>
          </a:prstGeom>
          <a:solidFill>
            <a:srgbClr val="EAF2F8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901952"/>
            <a:ext cx="2066543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USUARIO :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21992"/>
            <a:ext cx="1956815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id_usuario = U-038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rol = lector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1828800"/>
            <a:ext cx="2212848" cy="1353312"/>
          </a:xfrm>
          <a:prstGeom prst="rect">
            <a:avLst/>
          </a:prstGeom>
          <a:solidFill>
            <a:srgbClr val="E7F5FA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901952"/>
            <a:ext cx="2066543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PRESTAMO : PRÉSTAMO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221992"/>
            <a:ext cx="1956815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id = P-042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fecha = 06/10/2026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estado = activo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828800"/>
            <a:ext cx="2212848" cy="1353312"/>
          </a:xfrm>
          <a:prstGeom prst="rect">
            <a:avLst/>
          </a:prstGeom>
          <a:solidFill>
            <a:srgbClr val="EAF2F8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901952"/>
            <a:ext cx="2066543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EJEMPLAR : EJEMPLAR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221992"/>
            <a:ext cx="1956815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id = E-104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código = B-104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estado = prestado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07791" y="2505456"/>
            <a:ext cx="512065" cy="0"/>
          </a:xfrm>
          <a:prstGeom prst="line">
            <a:avLst/>
          </a:prstGeom>
          <a:ln w="20320">
            <a:solidFill>
              <a:srgbClr val="416CBB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5705856" y="2505456"/>
            <a:ext cx="512064" cy="0"/>
          </a:xfrm>
          <a:prstGeom prst="line">
            <a:avLst/>
          </a:prstGeom>
          <a:ln w="20320">
            <a:solidFill>
              <a:srgbClr val="416CB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31520" y="3712463"/>
            <a:ext cx="7644383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E293B"/>
                </a:solidFill>
                <a:latin typeface="Calibri"/>
              </a:rPr>
              <a:t>El diagrama representa un escenario puntual. El diagrama de clases define el tipo general; el diagrama de objetos muestra valores y enlaces de sus instancias.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590288"/>
            <a:ext cx="7726679" cy="43891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4663440"/>
            <a:ext cx="7434071" cy="29260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Los identificadores y fechas ilustran la notación; no son datos personales ni registros institucionales.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OMG, UML 2.5.1 · escena ilustrativa relacionada con la consulta del catálogo UPDS</a:t>
            </a:r>
            <a:r>
              <a:rPr sz="76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gradFill rotWithShape="1">
            <a:gsLst>
              <a:gs pos="0">
                <a:srgbClr val="16B9B0"/>
              </a:gs>
              <a:gs pos="42000">
                <a:srgbClr val="F5C66A"/>
              </a:gs>
              <a:gs pos="72000">
                <a:srgbClr val="6D7BF7"/>
              </a:gs>
              <a:gs pos="100000">
                <a:srgbClr val="16B9B0"/>
              </a:gs>
            </a:gsLst>
            <a:lin ang="2700000" scaled="1"/>
          </a:gradFill>
          <a:xfrm>
            <a:off x="8266175" y="6245352"/>
            <a:ext cx="768096" cy="576072"/>
          </a:xfrm>
          <a:prstGeom prst="roundRect">
            <a:avLst/>
          </a:prstGeom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89036" y="6268212"/>
            <a:ext cx="722375" cy="53035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6286500"/>
            <a:ext cx="658368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Los eventos provocan cambios entre estados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03 · ESTADOS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50976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FLUJO ANALÍTICO DE CONSULTA DE UNA FICHA PÚBLICA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49424"/>
            <a:ext cx="1645920" cy="98755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651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249424"/>
            <a:ext cx="1536192" cy="9875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Resultados
coincidencias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49424"/>
            <a:ext cx="1645920" cy="98755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651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2249424"/>
            <a:ext cx="1536192" cy="9875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Ficha
registro abierto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6048" y="2249424"/>
            <a:ext cx="1645920" cy="98755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651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2249424"/>
            <a:ext cx="1536192" cy="9875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Ejemplares
datos consultables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2249424"/>
            <a:ext cx="1353312" cy="98755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651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249424"/>
            <a:ext cx="1243584" cy="9875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Reserva
opción disponible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5728" y="2743200"/>
            <a:ext cx="402336" cy="0"/>
          </a:xfrm>
          <a:prstGeom prst="line">
            <a:avLst/>
          </a:prstGeom>
          <a:ln w="2032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4517136" y="2743200"/>
            <a:ext cx="402336" cy="0"/>
          </a:xfrm>
          <a:prstGeom prst="line">
            <a:avLst/>
          </a:prstGeom>
          <a:ln w="2032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6638544" y="2743200"/>
            <a:ext cx="402336" cy="0"/>
          </a:xfrm>
          <a:prstGeom prst="line">
            <a:avLst/>
          </a:prstGeom>
          <a:ln w="20320">
            <a:solidFill>
              <a:srgbClr val="0075A9"/>
            </a:solidFill>
            <a:tailEnd type="triangle" w="med" len="med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2359152" y="1847088"/>
            <a:ext cx="10515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16CBB"/>
                </a:solidFill>
                <a:latin typeface="Calibri"/>
              </a:rPr>
              <a:t>abrir ficha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847088"/>
            <a:ext cx="10515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16CBB"/>
                </a:solidFill>
                <a:latin typeface="Calibri"/>
              </a:rPr>
              <a:t>revisar ejemplares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847088"/>
            <a:ext cx="10515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16CBB"/>
                </a:solidFill>
                <a:latin typeface="Calibri"/>
              </a:rPr>
              <a:t>iniciar reserva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895344"/>
            <a:ext cx="7424927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D4696"/>
                </a:solidFill>
                <a:latin typeface="Calibri"/>
              </a:rPr>
              <a:t>Estado = condición que persiste · transición = cambio producido por un evento · flecha = dirección del cambio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709160"/>
            <a:ext cx="7726679" cy="56692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4782312"/>
            <a:ext cx="7434071" cy="42062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El flujo representa las interacciones visibles; la gestión interna de reservas no se deduce de la página pública.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OMG, UML 2.5.1, cláusula 14 · consulta de fichas, ejemplares y reserva visible en el catálogo público UPDS  ·  as of 6 de octubre de 2026</a:t>
            </a:r>
            <a:r>
              <a:rPr sz="76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gradFill rotWithShape="1">
            <a:gsLst>
              <a:gs pos="0">
                <a:srgbClr val="16B9B0"/>
              </a:gs>
              <a:gs pos="42000">
                <a:srgbClr val="F5C66A"/>
              </a:gs>
              <a:gs pos="72000">
                <a:srgbClr val="6D7BF7"/>
              </a:gs>
              <a:gs pos="100000">
                <a:srgbClr val="16B9B0"/>
              </a:gs>
            </a:gsLst>
            <a:lin ang="2700000" scaled="1"/>
          </a:gradFill>
          <a:xfrm>
            <a:off x="8266175" y="6245352"/>
            <a:ext cx="768096" cy="576072"/>
          </a:xfrm>
          <a:prstGeom prst="roundRect">
            <a:avLst/>
          </a:prstGeom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89036" y="6268212"/>
            <a:ext cx="722375" cy="53035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6286500"/>
            <a:ext cx="658368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El evento, la guarda y la acción explican una transición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04 · LECTURA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LA NOTACIÓN DESCRIBE POR QUÉ Y BAJO QUÉ CONDICIÓN OCURRE EL CAMBIO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2395728" cy="1408176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55648"/>
            <a:ext cx="2103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5A9"/>
                </a:solidFill>
                <a:latin typeface="Calibri"/>
              </a:rPr>
              <a:t>EVENTO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66543"/>
            <a:ext cx="2103120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D4696"/>
                </a:solidFill>
                <a:latin typeface="Calibri"/>
              </a:rPr>
              <a:t>devolver(ejemplar)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27632"/>
            <a:ext cx="2395728" cy="1408176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755648"/>
            <a:ext cx="2103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5A9"/>
                </a:solidFill>
                <a:latin typeface="Calibri"/>
              </a:rPr>
              <a:t>GUARDA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066543"/>
            <a:ext cx="2103120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D4696"/>
                </a:solidFill>
                <a:latin typeface="Calibri"/>
              </a:rPr>
              <a:t>[préstamo corresponde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D4696"/>
                </a:solidFill>
                <a:latin typeface="Calibri"/>
              </a:rPr>
              <a:t>a esta copia]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627632"/>
            <a:ext cx="2395728" cy="1408176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755648"/>
            <a:ext cx="21031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5A9"/>
                </a:solidFill>
                <a:latin typeface="Calibri"/>
              </a:rPr>
              <a:t>ACCIÓN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066543"/>
            <a:ext cx="2103120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D4696"/>
                </a:solidFill>
                <a:latin typeface="Calibri"/>
              </a:rPr>
              <a:t>registrar fecha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D4696"/>
                </a:solidFill>
                <a:latin typeface="Calibri"/>
              </a:rPr>
              <a:t>y cerrar el préstamo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912" y="4160520"/>
            <a:ext cx="822960" cy="0"/>
          </a:xfrm>
          <a:prstGeom prst="line">
            <a:avLst/>
          </a:prstGeom>
          <a:ln w="2032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5559552" y="4160520"/>
            <a:ext cx="822960" cy="0"/>
          </a:xfrm>
          <a:prstGeom prst="line">
            <a:avLst/>
          </a:prstGeom>
          <a:ln w="20320">
            <a:solidFill>
              <a:srgbClr val="0075A9"/>
            </a:solidFill>
            <a:tailEnd type="triangle" w="med" len="med"/>
          </a:ln>
          <a:effectLst/>
        </p:spPr>
      </p:cxnSp>
      <p:sp>
        <p:nvSpPr>
          <p:cNvPr id="18" name="Rounded Rectangle 17"/>
          <p:cNvSpPr/>
          <p:nvPr/>
        </p:nvSpPr>
        <p:spPr>
          <a:xfrm>
            <a:off x="749808" y="3730752"/>
            <a:ext cx="1938528" cy="859536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730752"/>
            <a:ext cx="1828800" cy="8595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Prestado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estado inicial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84448" y="3730752"/>
            <a:ext cx="1938528" cy="859536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3730752"/>
            <a:ext cx="1828800" cy="8595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validar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guarda verdadera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19088" y="3730752"/>
            <a:ext cx="1938528" cy="859536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1" y="3730752"/>
            <a:ext cx="1828800" cy="8595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Disponible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>estado destino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956048"/>
            <a:ext cx="7726679" cy="420624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5029200"/>
            <a:ext cx="7434071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La guarda impide registrar una devolución sobre un préstamo que pertenece a otro ejemplar.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OMG, UML 2.5.1 · transición de estado ilustrativa  ·  as of 6 de octubre de 2026</a:t>
            </a:r>
          </a:p>
        </p:txBody>
      </p:sp>
      <p:sp>
        <p:nvSpPr>
          <p:cNvPr id="27" name="Rounded Rectangle 26"/>
          <p:cNvSpPr/>
          <p:nvPr/>
        </p:nvSpPr>
        <p:spPr>
          <a:gradFill rotWithShape="1">
            <a:gsLst>
              <a:gs pos="0">
                <a:srgbClr val="16B9B0"/>
              </a:gs>
              <a:gs pos="42000">
                <a:srgbClr val="F5C66A"/>
              </a:gs>
              <a:gs pos="72000">
                <a:srgbClr val="6D7BF7"/>
              </a:gs>
              <a:gs pos="100000">
                <a:srgbClr val="16B9B0"/>
              </a:gs>
            </a:gsLst>
            <a:lin ang="2700000" scaled="1"/>
          </a:gradFill>
          <a:xfrm>
            <a:off x="8266175" y="6245352"/>
            <a:ext cx="768096" cy="576072"/>
          </a:xfrm>
          <a:prstGeom prst="roundRect">
            <a:avLst/>
          </a:prstGeom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89036" y="6268212"/>
            <a:ext cx="722375" cy="53035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6286500"/>
            <a:ext cx="658368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La consulta pública del catálogo UPDS sustenta este escenario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05 · CASO REAL · UPDS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VISTAS PÚBLICAS DEL CATÁLOGO Y UN FLUJO ANALÍTICO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2112" y="2029968"/>
            <a:ext cx="2761488" cy="1115568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36976" y="2029968"/>
            <a:ext cx="2651760" cy="11155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Catálogo público
Biblioteca UPDS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3003" y="2170940"/>
            <a:ext cx="623273" cy="127356"/>
          </a:xfrm>
          <a:prstGeom prst="line">
            <a:avLst/>
          </a:prstGeom>
          <a:ln w="15240">
            <a:solidFill>
              <a:srgbClr val="416CBB"/>
            </a:solidFill>
          </a:ln>
          <a:effectLst/>
        </p:spPr>
      </p:cxnSp>
      <p:sp>
        <p:nvSpPr>
          <p:cNvPr id="10" name="Rounded Rectangle 9"/>
          <p:cNvSpPr/>
          <p:nvPr/>
        </p:nvSpPr>
        <p:spPr>
          <a:xfrm>
            <a:off x="731520" y="1609344"/>
            <a:ext cx="1755648" cy="74980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609344"/>
            <a:ext cx="1645919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Registro encontrado
visible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522457" y="2973544"/>
            <a:ext cx="624365" cy="170105"/>
          </a:xfrm>
          <a:prstGeom prst="line">
            <a:avLst/>
          </a:prstGeom>
          <a:ln w="15240">
            <a:solidFill>
              <a:srgbClr val="416CBB"/>
            </a:solidFill>
          </a:ln>
          <a:effectLst/>
        </p:spPr>
      </p:cxnSp>
      <p:sp>
        <p:nvSpPr>
          <p:cNvPr id="13" name="Rounded Rectangle 12"/>
          <p:cNvSpPr/>
          <p:nvPr/>
        </p:nvSpPr>
        <p:spPr>
          <a:xfrm>
            <a:off x="731520" y="3017520"/>
            <a:ext cx="1755648" cy="74980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017520"/>
            <a:ext cx="1645919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Ficha consultada
visible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979435" y="2170940"/>
            <a:ext cx="623273" cy="127356"/>
          </a:xfrm>
          <a:prstGeom prst="line">
            <a:avLst/>
          </a:prstGeom>
          <a:ln w="15240">
            <a:solidFill>
              <a:srgbClr val="416CBB"/>
            </a:solidFill>
          </a:ln>
          <a:effectLst/>
        </p:spPr>
      </p:cxnSp>
      <p:sp>
        <p:nvSpPr>
          <p:cNvPr id="16" name="Rounded Rectangle 15"/>
          <p:cNvSpPr/>
          <p:nvPr/>
        </p:nvSpPr>
        <p:spPr>
          <a:xfrm>
            <a:off x="6638544" y="1609344"/>
            <a:ext cx="1755648" cy="74980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7" y="1609344"/>
            <a:ext cx="1645919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Ejemplares revisados
visible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5978889" y="2973544"/>
            <a:ext cx="624365" cy="170105"/>
          </a:xfrm>
          <a:prstGeom prst="line">
            <a:avLst/>
          </a:prstGeom>
          <a:ln w="15240">
            <a:solidFill>
              <a:srgbClr val="416CBB"/>
            </a:solidFill>
          </a:ln>
          <a:effectLst/>
        </p:spPr>
      </p:cxnSp>
      <p:sp>
        <p:nvSpPr>
          <p:cNvPr id="19" name="Rounded Rectangle 18"/>
          <p:cNvSpPr/>
          <p:nvPr/>
        </p:nvSpPr>
        <p:spPr>
          <a:xfrm>
            <a:off x="6638544" y="3017520"/>
            <a:ext cx="1755648" cy="74980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7" y="3017520"/>
            <a:ext cx="1645919" cy="7498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Reserva iniciada
opción visible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187952"/>
            <a:ext cx="7479792" cy="40233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E293B"/>
                </a:solidFill>
                <a:latin typeface="Calibri"/>
              </a:rPr>
              <a:t>El catálogo muestra fichas, ejemplares y disponibilidad consultable; sus estados internos y reglas de reserva no son públicos.</a:t>
            </a:r>
          </a:p>
        </p:txBody>
      </p:sp>
      <p:sp>
        <p:nvSpPr>
          <p:cNvPr id="22" name="TextBox 21">
            <a:hlinkClick r:id="rId2"/>
          </p:cNvPr>
          <p:cNvSpPr txBox="1"/>
          <p:nvPr/>
        </p:nvSpPr>
        <p:spPr>
          <a:xfrm>
            <a:off x="804672" y="4754880"/>
            <a:ext cx="288036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16CBB"/>
                </a:solidFill>
                <a:latin typeface="Calibri"/>
              </a:rPr>
              <a:t>Abrir catálogo público UPDS 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Catálogo público de Biblioteca UPDS · consulta de registros y ejemplares</a:t>
            </a:r>
            <a:r>
              <a:rPr sz="76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gradFill rotWithShape="1">
            <a:gsLst>
              <a:gs pos="0">
                <a:srgbClr val="16B9B0"/>
              </a:gs>
              <a:gs pos="42000">
                <a:srgbClr val="F5C66A"/>
              </a:gs>
              <a:gs pos="72000">
                <a:srgbClr val="6D7BF7"/>
              </a:gs>
              <a:gs pos="100000">
                <a:srgbClr val="16B9B0"/>
              </a:gs>
            </a:gsLst>
            <a:lin ang="2700000" scaled="1"/>
          </a:gradFill>
          <a:xfrm>
            <a:off x="8266175" y="6245352"/>
            <a:ext cx="768096" cy="576072"/>
          </a:xfrm>
          <a:prstGeom prst="roundRect">
            <a:avLst/>
          </a:prstGeom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89036" y="6268212"/>
            <a:ext cx="722375" cy="53035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286500"/>
            <a:ext cx="658368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El modelo distingue evidencia institucional de reglas propuestas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06 · 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SEPARACIÓN NECESARIA AL ANALIZAR UN SISTEMA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749039" cy="20116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00784"/>
            <a:ext cx="345643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5A9"/>
                </a:solidFill>
                <a:latin typeface="Calibri"/>
              </a:rPr>
              <a:t>VISIBLE EN EL CATÁLOGO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11680"/>
            <a:ext cx="3456432" cy="14813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D4696"/>
                </a:solidFill>
                <a:latin typeface="Calibri"/>
              </a:rPr>
              <a:t>Registros bibliográficos consultables
Ejemplares y disponibilidad visible
Opción de reserva en determinados registros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D4696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572768"/>
            <a:ext cx="3749039" cy="201168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1184" y="1700784"/>
            <a:ext cx="345643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5A9"/>
                </a:solidFill>
                <a:latin typeface="Calibri"/>
              </a:rPr>
              <a:t>RECONSTRUCCIÓN ANALÍTICA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1184" y="2011680"/>
            <a:ext cx="3456432" cy="14813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D4696"/>
                </a:solidFill>
                <a:latin typeface="Calibri"/>
              </a:rPr>
              <a:t>Resultados → ficha → ejemplares
Disponibilidad consultada
Opción de reserva visible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D4696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7406640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D4696"/>
                </a:solidFill>
                <a:latin typeface="Calibri"/>
              </a:rPr>
              <a:t>El flujo modela lo visible desde la página pública; no atribuye estados ni reglas internas de reserva a UPDS.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Catálogo público de Biblioteca UPDS · estados analíticos propuestos</a:t>
            </a:r>
            <a:r>
              <a:rPr sz="76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gradFill rotWithShape="1">
            <a:gsLst>
              <a:gs pos="0">
                <a:srgbClr val="16B9B0"/>
              </a:gs>
              <a:gs pos="42000">
                <a:srgbClr val="F5C66A"/>
              </a:gs>
              <a:gs pos="72000">
                <a:srgbClr val="6D7BF7"/>
              </a:gs>
              <a:gs pos="100000">
                <a:srgbClr val="16B9B0"/>
              </a:gs>
            </a:gsLst>
            <a:lin ang="2700000" scaled="1"/>
          </a:gradFill>
          <a:xfrm>
            <a:off x="8266175" y="6245352"/>
            <a:ext cx="768096" cy="576072"/>
          </a:xfrm>
          <a:prstGeom prst="roundRect">
            <a:avLst/>
          </a:prstGeom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89036" y="6268212"/>
            <a:ext cx="722375" cy="53035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6286500"/>
            <a:ext cx="658368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Referencias bibliográficas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TEMA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795527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Calibri"/>
              </a:rPr>
              <a:t>Referencias para profundizar · Objetos y ciclo de vida de los estados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75A9"/>
                </a:solidFill>
                <a:latin typeface="Calibri"/>
              </a:rPr>
              <a:t>DIGITAL · LIBRO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27048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Integrar UML en los proyectos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Nathalie Lopez · Jorge Migueis · Emmanuel Pichon · 1.ª ed.</a:t>
            </a:r>
          </a:p>
        </p:txBody>
      </p:sp>
      <p:sp>
        <p:nvSpPr>
          <p:cNvPr id="11" name="TextBox 10">
            <a:hlinkClick r:id="rId2"/>
          </p:cNvPr>
          <p:cNvSpPr txBox="1"/>
          <p:nvPr/>
        </p:nvSpPr>
        <p:spPr>
          <a:xfrm>
            <a:off x="6903720" y="2157984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Ver libro digital 1 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60320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670048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75A9"/>
                </a:solidFill>
                <a:latin typeface="Calibri"/>
              </a:rPr>
              <a:t>DIGITAL · LIBRO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16936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El proceso unificado de desarrollo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Ivar Jacobson · Grady Booch · James Rumbaugh · 1.ª ed.</a:t>
            </a:r>
          </a:p>
        </p:txBody>
      </p:sp>
      <p:sp>
        <p:nvSpPr>
          <p:cNvPr id="16" name="TextBox 15">
            <a:hlinkClick r:id="rId3"/>
          </p:cNvPr>
          <p:cNvSpPr txBox="1"/>
          <p:nvPr/>
        </p:nvSpPr>
        <p:spPr>
          <a:xfrm>
            <a:off x="6903720" y="3547872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Ver libro digital 2 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59936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75A9"/>
                </a:solidFill>
                <a:latin typeface="Calibri"/>
              </a:rPr>
              <a:t>IMPRESO · LIBRO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Análisis y diseño orientado a objetos con UML y Rational Rose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54296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Sergio Matsukawa · Empresa Editora Macro · 2004 · 520 p.</a:t>
            </a:r>
          </a:p>
        </p:txBody>
      </p:sp>
      <p:sp>
        <p:nvSpPr>
          <p:cNvPr id="21" name="TextBox 20">
            <a:hlinkClick r:id="rId4"/>
          </p:cNvPr>
          <p:cNvSpPr txBox="1"/>
          <p:nvPr/>
        </p:nvSpPr>
        <p:spPr>
          <a:xfrm>
            <a:off x="6903720" y="4937760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Consultar ficha bibliográfica ↗</a:t>
            </a:r>
          </a:p>
        </p:txBody>
      </p:sp>
      <p:sp>
        <p:nvSpPr>
          <p:cNvPr id="23" name="Rounded Rectangle 22"/>
          <p:cNvSpPr/>
          <p:nvPr/>
        </p:nvSpPr>
        <p:spPr>
          <a:gradFill rotWithShape="1">
            <a:gsLst>
              <a:gs pos="0">
                <a:srgbClr val="16B9B0"/>
              </a:gs>
              <a:gs pos="42000">
                <a:srgbClr val="F5C66A"/>
              </a:gs>
              <a:gs pos="72000">
                <a:srgbClr val="6D7BF7"/>
              </a:gs>
              <a:gs pos="100000">
                <a:srgbClr val="16B9B0"/>
              </a:gs>
            </a:gsLst>
            <a:lin ang="2700000" scaled="1"/>
          </a:gradFill>
          <a:xfrm>
            <a:off x="8266175" y="6245352"/>
            <a:ext cx="768096" cy="576072"/>
          </a:xfrm>
          <a:prstGeom prst="roundRect">
            <a:avLst/>
          </a:prstGeom>
          <a:ln w="139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89036" y="6268212"/>
            <a:ext cx="722375" cy="53035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6286500"/>
            <a:ext cx="658368" cy="493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173</Words>
  <Application>Microsoft Office PowerPoint</Application>
  <PresentationFormat>Presentación en pantalla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Segoe UI</vt:lpstr>
      <vt:lpstr>Times New Roman</vt:lpstr>
      <vt:lpstr>Tema de Office</vt:lpstr>
      <vt:lpstr>BUSCANDO TESOROS EN LA BIBLIOTECA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Objetos y ciclo de vida de los estados</dc:title>
  <dc:creator>Grupo de investigación · Sistemas de Información I</dc:creator>
  <cp:lastModifiedBy>hugo arnaldo guzman centellas</cp:lastModifiedBy>
  <cp:revision>25</cp:revision>
  <dcterms:created xsi:type="dcterms:W3CDTF">2022-07-13T16:32:00Z</dcterms:created>
  <dcterms:modified xsi:type="dcterms:W3CDTF">2026-10-05T11:54:49Z</dcterms:modified>
  <dc:subject>Actividad 1 · Sistemas de Información I · Tema 03</dc:subject>
  <cp:keywords>UPDS, UML, objetos, estados, catálogo bibliográfico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48B78635AD16485EA86A7DEEE5AE31FB_13</vt:lpwstr>
  </property>
  <property fmtid="{D5CDD505-2E9C-101B-9397-08002B2CF9AE}" pid="3" name="KSOProductBuildVer">
    <vt:lpwstr>3082-12.2.0.17119</vt:lpwstr>
  </property>
</Properties>
</file>