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OBJETOS Y CICLO DE VIDA DE LOS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objeto muestra una instancia en un momento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OBJETO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FOTOGRAFÍA ESTRUCTURAL DE LOS DATOS EXISTENTES EN UN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ESTUDIANTE03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 = 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828800"/>
            <a:ext cx="2176272" cy="1325880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PRESTAMO42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828800"/>
            <a:ext cx="2176272" cy="1325880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202996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EJEMPLAR01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21992"/>
            <a:ext cx="192023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62656" y="2491740"/>
            <a:ext cx="493776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5" y="2491740"/>
            <a:ext cx="493777" cy="0"/>
          </a:xfrm>
          <a:prstGeom prst="line">
            <a:avLst/>
          </a:prstGeom>
          <a:ln w="1778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880360" y="3310128"/>
            <a:ext cx="3401568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44546A"/>
                </a:solidFill>
                <a:latin typeface="Calibri"/>
              </a:rPr>
              <a:t>enlaza a la persona con la copia prestada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96512"/>
            <a:ext cx="7726679" cy="5486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69664"/>
            <a:ext cx="7434071" cy="40233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notación instancia:Clase nombra un objeto concreto; los valores muestran una situación del sistema.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diagramas de objetos · escenario ilustrativo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instancias unen usuarios, préstamos y ejemplares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INSTANTÁNEA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 MISMO EJEMPLAR CONSERVA SU IDENTIDAD MIENTRAS PARTICIPA EN DISTINTAS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USUARIO :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id_usuario = U-038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rol = lector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828800"/>
            <a:ext cx="221284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PRESTAMO : PRÉSTAMO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P-042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 = 06/10/2026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activo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828800"/>
            <a:ext cx="221284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01952"/>
            <a:ext cx="2066543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 :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221992"/>
            <a:ext cx="1956815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 = E-104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código = B-104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estado = prestado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07791" y="2505456"/>
            <a:ext cx="512065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705856" y="2505456"/>
            <a:ext cx="51206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731520" y="3712463"/>
            <a:ext cx="7644383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E293B"/>
                </a:solidFill>
                <a:latin typeface="Calibri"/>
              </a:rPr>
              <a:t>El diagrama representa un escenario puntual. El diagrama de clases define el tipo general; el diagrama de objetos muestra valores y enlaces de sus instancias.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90288"/>
            <a:ext cx="7726679" cy="4389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663440"/>
            <a:ext cx="7434071" cy="29260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identificadores y fechas ilustran la notación; no son datos personales ni registros institucionales.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 · escena ilustrativa relacionada con la consulta del catálogo UPDS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eventos provocan cambios entre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FLUJO ANALÍTICO DE CONSULTA DE UNA FICHA PÚBLICA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Resultados
coincidencias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
registro abierto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2249424"/>
            <a:ext cx="164592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249424"/>
            <a:ext cx="1536192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2249424"/>
            <a:ext cx="1353312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651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249424"/>
            <a:ext cx="1243584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Reserva
opción 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5728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517136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6638544" y="2743200"/>
            <a:ext cx="402336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359152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abrir ficha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revisar ejemplares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47088"/>
            <a:ext cx="10515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16CBB"/>
                </a:solidFill>
                <a:latin typeface="Calibri"/>
              </a:rPr>
              <a:t>iniciar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95344"/>
            <a:ext cx="7424927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D4696"/>
                </a:solidFill>
                <a:latin typeface="Calibri"/>
              </a:rPr>
              <a:t>Estado = condición que persiste · transición = cambio producido por un evento · flecha = dirección del cambio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7823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flujo representa las interacciones visibles; la gestión interna de reservas no se deduce de la página pública.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OMG, UML 2.5.1, cláusula 14 · consulta de fichas, ejemplares y reserva visible en el catálogo público UPDS  ·  as of 6 de octubre de 2026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evento, la guarda y la acción explican una transición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 NOTACIÓN DESCRIBE POR QUÉ Y BAJO QUÉ CONDICIÓN OCURRE EL CAMBIO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4696"/>
                </a:solidFill>
                <a:latin typeface="Calibri"/>
              </a:rPr>
              <a:t>devolver(ejemplar)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[préstamo corresponde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a esta copia]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627632"/>
            <a:ext cx="2395728" cy="140817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755648"/>
            <a:ext cx="21031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066543"/>
            <a:ext cx="2103120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registrar fecha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y cerrar el préstamo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559552" y="4160520"/>
            <a:ext cx="822960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74980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Prestado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estado inicial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guarda verdadera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3730752"/>
            <a:ext cx="1938528" cy="859536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730752"/>
            <a:ext cx="1828800" cy="8595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Disponible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estado destino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956048"/>
            <a:ext cx="7726679" cy="42062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029200"/>
            <a:ext cx="7434071" cy="2743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guarda impide registrar una devolución sobre un préstamo que pertenece a otro ejemplar.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transición de estado ilustrativa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consulta pública del catálogo UPDS sustenta este escenario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VISTAS PÚBLICAS DEL CATÁLOGO Y UN FLUJO ANALÍTICO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2029968"/>
            <a:ext cx="2761488" cy="111556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2029968"/>
            <a:ext cx="2651760" cy="11155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003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1520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Registro encontrado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22457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31520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 consultada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79435" y="2170940"/>
            <a:ext cx="623273" cy="127356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6638544" y="1609344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1609344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 revisados
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5978889" y="2973544"/>
            <a:ext cx="624365" cy="170105"/>
          </a:xfrm>
          <a:prstGeom prst="line">
            <a:avLst/>
          </a:prstGeom>
          <a:ln w="15240">
            <a:solidFill>
              <a:srgbClr val="416CBB"/>
            </a:solidFill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6638544" y="3017520"/>
            <a:ext cx="1755648" cy="74980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3407" y="3017520"/>
            <a:ext cx="1645919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 iniciada
opción visible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7479792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1E293B"/>
                </a:solidFill>
                <a:latin typeface="Calibri"/>
              </a:rPr>
              <a:t>El catálogo muestra fichas, ejemplares y disponibilidad consultable; sus estados internos y reglas de reserva no son públicos.</a:t>
            </a:r>
          </a:p>
        </p:txBody>
      </p:sp>
      <p:sp>
        <p:nvSpPr>
          <p:cNvPr id="22" name="TextBox 21">
            <a:hlinkClick r:id="rId2"/>
          </p:cNvPr>
          <p:cNvSpPr txBox="1"/>
          <p:nvPr/>
        </p:nvSpPr>
        <p:spPr>
          <a:xfrm>
            <a:off x="804672" y="4754880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consulta de registros y ejemplares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distingue evidencia institucional de reglas propuestas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SEPARACIÓN NECESARIA AL ANALIZAR UN SISTEMA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VISIBLE EN EL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Registros bibliográficos consultables
Ejemplares y disponibilidad visible
Opción de reserva en determinados registros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72768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184" y="1700784"/>
            <a:ext cx="34564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RECONSTRUCCIÓN ANALÍTICA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1184" y="2011680"/>
            <a:ext cx="3456432" cy="14813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>Resultados → ficha → ejemplares
Disponibilidad consultada
Opción de reserva visible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D4696"/>
                </a:solidFill>
                <a:latin typeface="Calibri"/>
              </a:rPr>
              <a:t>El flujo modela lo visible desde la página pública; no atribuye estados ni reglas internas de reserva a UPDS.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estados analíticos propuestos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Objetos y ciclo de vida de los estados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24–27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7370064" y="4005072"/>
            <a:ext cx="877824" cy="1133856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4" y="4027932"/>
            <a:ext cx="832103" cy="108813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áginas consultadas de UML con Rational Rose sobre diagramas de estados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7" y="4059936"/>
            <a:ext cx="768096" cy="1024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Objetos y ciclo de vida de los estados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03</dc:subject>
  <cp:keywords>UPDS, UML, objetos, estados,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