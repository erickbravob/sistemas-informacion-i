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7955279" cy="237744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/>
              <a:t>ACTIVIDAD 1 · TEMA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7955279" cy="65836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4696"/>
                </a:solidFill>
                <a:latin typeface="Calibri Light"/>
              </a:rPr>
              <a:t>OBJETOS Y CICLO DE VIDA DE LOS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7955279" cy="347472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18488B"/>
                </a:solidFill>
              </a:rPr>
              <a:t>SISTEMAS DE INFORMACIÓN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148840"/>
            <a:ext cx="3474720" cy="310896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600" b="1"/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33472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054096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474720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895344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315968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650992"/>
            <a:ext cx="7955279" cy="56692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500" b="1">
                <a:solidFill>
                  <a:srgbClr val="18488B"/>
                </a:solidFill>
              </a:rPr>
              <a:t>UNIVERSIDAD PRIVADA DOMINGO SAVIO</a:t>
            </a:r>
          </a:p>
        </p:txBody>
      </p:sp>
      <p:pic>
        <p:nvPicPr>
          <p:cNvPr id="21" name="Foto grupal · orientación corregid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108710" y="1680210"/>
            <a:ext cx="30861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objeto muestra una instancia en un momento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OBJETO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FOTOGRAFÍA ESTRUCTURAL DE LOS DATOS EXISTENTES EN UN ESCENARIO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ESTUDIANTE03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nombre = 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828800"/>
            <a:ext cx="2176272" cy="1325880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PRESTAMO42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EJEMPLAR01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62656" y="2491740"/>
            <a:ext cx="493776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5" y="2491740"/>
            <a:ext cx="493777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880360" y="3310128"/>
            <a:ext cx="340156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4546A"/>
                </a:solidFill>
                <a:latin typeface="Calibri"/>
              </a:rPr>
              <a:t>enlaza a la persona con la copia prestada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096512"/>
            <a:ext cx="7726679" cy="54864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169664"/>
            <a:ext cx="7434071" cy="402335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notación instancia:Clase nombra un objeto concreto; los valores muestran una situación del sistema.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diagramas de objetos · escenario ilustrativo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instancias unen usuarios, préstamos y ejemplares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INSTANTÁNEA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 MISMO EJEMPLAR CONSERVA SU IDENTIDAD MIENTRAS PARTICIPA EN DISTINTAS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USUARIO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id_usuario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rol = lector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828800"/>
            <a:ext cx="221284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B-104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07791" y="2505456"/>
            <a:ext cx="512065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6" y="2505456"/>
            <a:ext cx="51206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731520" y="3712463"/>
            <a:ext cx="7644383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E293B"/>
                </a:solidFill>
                <a:latin typeface="Calibri"/>
              </a:rPr>
              <a:t>El diagrama representa un escenario puntual. El diagrama de clases define el tipo general; el diagrama de objetos muestra valores y enlaces de sus instancias.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590288"/>
            <a:ext cx="7726679" cy="4389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663440"/>
            <a:ext cx="7434071" cy="29260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identificadores y fechas ilustran la notación; no son datos personales ni registros institucionales.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OMG, UML 2.5.1 · escena ilustrativa relacionada con la consulta del catálogo UPDS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eventos provocan cambios entre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FLUJO ANALÍTICO DE CONSULTA DE UNA FICHA PÚBLICA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Resultados
coincidencias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9504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
registro abierto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datos consultables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2249424"/>
            <a:ext cx="1353312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249424"/>
            <a:ext cx="1243584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Reserva
opción 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5728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4517136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6638544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359152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abrir ficha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revisar ejemplares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iniciar reserva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95344"/>
            <a:ext cx="7424927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D4696"/>
                </a:solidFill>
                <a:latin typeface="Calibri"/>
              </a:rPr>
              <a:t>Estado = condición que persiste · transición = cambio producido por un evento · flecha = dirección del cambio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91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7823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flujo representa las interacciones visibles; la gestión interna de reservas no se deduce de la página pública.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OMG, UML 2.5.1, cláusula 14 · consulta de fichas, ejemplares y reserva visible en el catálogo público UPDS  ·  as of 6 de octubre de 2026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evento, la guarda y la acción explican una transición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 NOTACIÓN DESCRIBE POR QUÉ Y BAJO QUÉ CONDICIÓN OCURRE EL CAMBIO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EVENTO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4696"/>
                </a:solidFill>
                <a:latin typeface="Calibri"/>
              </a:rPr>
              <a:t>devolver(ejemplar)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GUARDA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[préstamo corresponde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a esta copia]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registrar fecha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y cerrar el préstamo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55955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74980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Prestado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estado inicial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8444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guarda verdadera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908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estado destino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956048"/>
            <a:ext cx="7726679" cy="42062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029200"/>
            <a:ext cx="7434071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guarda impide registrar una devolución sobre un préstamo que pertenece a otro ejemplar.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transición de estado ilustrativa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consulta pública del catálogo UPDS sustenta este escenario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VISTAS PÚBLICAS DEL CATÁLOGO Y UN FLUJO ANALÍTICO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2112" y="2029968"/>
            <a:ext cx="2761488" cy="1115568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36976" y="2029968"/>
            <a:ext cx="2651760" cy="11155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Catálogo público
Biblioteca UPDS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3003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31520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Registro encontrado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522457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731520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 consultada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979435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6" name="Rounded Rectangle 15"/>
          <p:cNvSpPr/>
          <p:nvPr/>
        </p:nvSpPr>
        <p:spPr>
          <a:xfrm>
            <a:off x="6638544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7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 revisados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5978889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6638544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3407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 iniciada
opción 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187952"/>
            <a:ext cx="7479792" cy="4023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1E293B"/>
                </a:solidFill>
                <a:latin typeface="Calibri"/>
              </a:rPr>
              <a:t>El catálogo muestra fichas, ejemplares y disponibilidad consultable; sus estados internos y reglas de reserva no son públicos.</a:t>
            </a:r>
          </a:p>
        </p:txBody>
      </p:sp>
      <p:sp>
        <p:nvSpPr>
          <p:cNvPr id="22" name="TextBox 21">
            <a:hlinkClick r:id="rId2"/>
          </p:cNvPr>
          <p:cNvSpPr txBox="1"/>
          <p:nvPr/>
        </p:nvSpPr>
        <p:spPr>
          <a:xfrm>
            <a:off x="804672" y="4754880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consulta de registros y ejemplares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distingue evidencia institucional de reglas propuestas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SEPARACIÓN NECESARIA AL ANALIZAR UN SISTEMA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VISIBLE EN EL CATÁLOGO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Registros bibliográficos consultables
Ejemplares y disponibilidad visible
Opción de reserva en determinados registros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184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RECONSTRUCCIÓN ANALÍTICA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1184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Resultados → ficha → ejemplares
Disponibilidad consultada
Opción de reserva visible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740664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D4696"/>
                </a:solidFill>
                <a:latin typeface="Calibri"/>
              </a:rPr>
              <a:t>El flujo modela lo visible desde la página pública; no atribuye estados ni reglas internas de reserva a UPDS.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estados analíticos propuestos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Objetos y ciclo de vida de los estados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64592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64008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IMPRESO · EJEMPLAR CONSULTADO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635508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UML con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3550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Gesvin Romero Moreno · Grupo Editorial Megabyte · 1.ª ed., 2004 · pp. 24–27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749808" y="493776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pic>
        <p:nvPicPr>
          <p:cNvPr id="22" name="Foto del libro impreso · tema 03" descr="tema-01-romero-portada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0608" y="4014215"/>
            <a:ext cx="1097280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Objetos y ciclo de vida de los estados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03</dc:subject>
  <cp:keywords>UPDS, UML, objetos, estados, catálogo bibliográfico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