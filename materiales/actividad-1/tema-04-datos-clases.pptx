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5836ef9584440a" /><Relationship Type="http://schemas.openxmlformats.org/officeDocument/2006/relationships/extended-properties" Target="/docProps/app.xml" Id="R600bd3398fca4411" /><Relationship Type="http://schemas.openxmlformats.org/officeDocument/2006/relationships/officeDocument" Target="/ppt/presentation.xml" Id="Rd58016ae91c348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e7d41b0c0a4f45"/>
  </p:sldMasterIdLst>
  <p:notesMasterIdLst>
    <p:notesMasterId xmlns:r="http://schemas.openxmlformats.org/officeDocument/2006/relationships" r:id="R9fa2d4ce9b5e46be"/>
  </p:notesMasterIdLst>
  <p:sldIdLst>
    <p:sldId xmlns:r="http://schemas.openxmlformats.org/officeDocument/2006/relationships" id="256" r:id="Rf7ace69793024ea6"/>
    <p:sldId xmlns:r="http://schemas.openxmlformats.org/officeDocument/2006/relationships" id="257" r:id="Rb0c3e7c795f649fd"/>
    <p:sldId xmlns:r="http://schemas.openxmlformats.org/officeDocument/2006/relationships" id="258" r:id="Rc9443ffd6e1046fd"/>
    <p:sldId xmlns:r="http://schemas.openxmlformats.org/officeDocument/2006/relationships" id="259" r:id="R6e976b2d044048b5"/>
    <p:sldId xmlns:r="http://schemas.openxmlformats.org/officeDocument/2006/relationships" id="260" r:id="Rd50e86cb566e4080"/>
    <p:sldId xmlns:r="http://schemas.openxmlformats.org/officeDocument/2006/relationships" id="261" r:id="R915f512acc3347cf"/>
    <p:sldId xmlns:r="http://schemas.openxmlformats.org/officeDocument/2006/relationships" id="262" r:id="Reb0d93a511eb45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ecded57df541a7" /><Relationship Type="http://schemas.openxmlformats.org/officeDocument/2006/relationships/slideMaster" Target="/ppt/slideMasters/slideMaster1.xml" Id="R15e7d41b0c0a4f45" /><Relationship Type="http://schemas.openxmlformats.org/officeDocument/2006/relationships/notesMaster" Target="/ppt/notesMasters/notesMaster1.xml" Id="R9fa2d4ce9b5e46be" /><Relationship Type="http://schemas.openxmlformats.org/officeDocument/2006/relationships/presProps" Target="/ppt/presProps.xml" Id="R3343987143b34e60" /><Relationship Type="http://schemas.openxmlformats.org/officeDocument/2006/relationships/tableStyles" Target="/ppt/tableStyles.xml" Id="Rec289927344f4e67" /><Relationship Type="http://schemas.openxmlformats.org/officeDocument/2006/relationships/slide" Target="/ppt/slides/slide1.xml" Id="Rf7ace69793024ea6" /><Relationship Type="http://schemas.openxmlformats.org/officeDocument/2006/relationships/slide" Target="/ppt/slides/slide2.xml" Id="Rb0c3e7c795f649fd" /><Relationship Type="http://schemas.openxmlformats.org/officeDocument/2006/relationships/slide" Target="/ppt/slides/slide3.xml" Id="Rc9443ffd6e1046fd" /><Relationship Type="http://schemas.openxmlformats.org/officeDocument/2006/relationships/slide" Target="/ppt/slides/slide4.xml" Id="R6e976b2d044048b5" /><Relationship Type="http://schemas.openxmlformats.org/officeDocument/2006/relationships/slide" Target="/ppt/slides/slide5.xml" Id="Rd50e86cb566e4080" /><Relationship Type="http://schemas.openxmlformats.org/officeDocument/2006/relationships/slide" Target="/ppt/slides/slide6.xml" Id="R915f512acc3347cf" /><Relationship Type="http://schemas.openxmlformats.org/officeDocument/2006/relationships/slide" Target="/ppt/slides/slide7.xml" Id="Reb0d93a511eb45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33ff16f20b47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bcc6cf42204557" /><Relationship Type="http://schemas.openxmlformats.org/officeDocument/2006/relationships/notesMaster" Target="/ppt/notesMasters/notesMaster1.xml" Id="R72d7d49e5a034d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0fa6637214454f" /><Relationship Type="http://schemas.openxmlformats.org/officeDocument/2006/relationships/notesMaster" Target="/ppt/notesMasters/notesMaster1.xml" Id="R9a7e78d9525745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184f1287864021" /><Relationship Type="http://schemas.openxmlformats.org/officeDocument/2006/relationships/notesMaster" Target="/ppt/notesMasters/notesMaster1.xml" Id="R222dd46e090d44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1eb36f1dc84c94" /><Relationship Type="http://schemas.openxmlformats.org/officeDocument/2006/relationships/notesMaster" Target="/ppt/notesMasters/notesMaster1.xml" Id="R06c5e651007f48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c648d78a094621" /><Relationship Type="http://schemas.openxmlformats.org/officeDocument/2006/relationships/notesMaster" Target="/ppt/notesMasters/notesMaster1.xml" Id="R4f7a4579a2f948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3ff1c8df40409d" /><Relationship Type="http://schemas.openxmlformats.org/officeDocument/2006/relationships/notesMaster" Target="/ppt/notesMasters/notesMaster1.xml" Id="R5e0e57d5596942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ae9b1ab72d4be4" /><Relationship Type="http://schemas.openxmlformats.org/officeDocument/2006/relationships/notesMaster" Target="/ppt/notesMasters/notesMaster1.xml" Id="Rccf2da9ccd654f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tema asignado al grupo, los nombres completos de los cinco integrantes y la pregunta guía. La fotografía del grupo debe agregarse cuando esté disponible. La exposición dura diez minutos, dos minutos por integrante.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Tres niveles de modelado: El nivel conceptual explica qué información existe y cómo se relaciona, sin comprometerse con un producto de base de datos. El lógico define entidades, atributos, identificadores y restricciones. El físico concreta tablas, tipos de datos, índices y reglas propias del motor elegido. Conceptual: Estudiante realiza Préstamo; Préstamo corresponde a Ejemplar. Lógico: Estudiante(estudiante_id, nombre); Prestamo(prestamo_id, estudiante_id, ejemplar_id, fecha). Físico: tipos, longitudes, índices y sintaxis dependen del gestor elegido.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Clases, atributos y relaciones: En un diagrama de clases, una clase agrupa propiedades y operaciones de elementos del mismo tipo. Las asociaciones muestran relaciones; su multiplicidad indica cuántos objetos pueden participar. Una asociación entre clases no determina por sí sola las tablas físicas. Estudiante 1 — 0..* Prestamo: una persona estudiante puede tener ninguno o varios préstamos. Ejemplar 1 — 0..* Prestamo: un ejemplar puede participar en préstamos a lo largo del tiempo; cada préstamo corresponde a un ejemplar. Las operaciones describen comportamiento de objetos; las tablas de una base relacional almacenan datos y restricciones.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Integridad y normalización: Las claves identifican filas y conectan tablas. Una clave foránea referencia una clave de otra tabla y ayuda a mantener integridad referencial. La normalización organiza datos para reducir repeticiones y anomalías; debe aplicarse con reglas del dominio y no como una receta separada del problema. Cada entidad necesita un identificador estable. Los vínculos de uno a muchos suelen representarse colocando la clave foránea en el lado “muchos”. Separar Título y Ejemplar evita repetir la descripción bibliográfica por cada copia física.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• Object Management Group. (2017). Unified Modeling Language (UML), Version 2.5.1, Clause 11: Classes.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Oracle. (2018). SQL Developer Data Modeler Concepts and Usage, Version 18.1, Section 1.4: Approaches to Data Modeling.</a:t>
            </a:r>
          </a:p>
          <a:p xmlns:a="http://schemas.openxmlformats.org/drawingml/2006/main">
            <a:r>
              <a:t>  https://docs.oracle.com/database/sql-developer-data-modeler-18.1/DMDUG/data-modeler-concepts-usage.htm</a:t>
            </a:r>
          </a:p>
          <a:p xmlns:a="http://schemas.openxmlformats.org/drawingml/2006/main">
            <a:r>
              <a:t>• Microsoft. (s. f.). Primary and foreign key constraints.</a:t>
            </a:r>
          </a:p>
          <a:p xmlns:a="http://schemas.openxmlformats.org/drawingml/2006/main">
            <a:r>
              <a:t>  https://learn.microsoft.com/en-us/sql/relational-databases/tables/primary-and-foreign-key-constraints?view=sql-server-ver16</a:t>
            </a:r>
          </a:p>
          <a:p xmlns:a="http://schemas.openxmlformats.org/drawingml/2006/main">
            <a:r>
              <a:t>• Microsoft. (s. f.). Database normalization description.</a:t>
            </a:r>
          </a:p>
          <a:p xmlns:a="http://schemas.openxmlformats.org/drawingml/2006/main">
            <a:r>
              <a:t>  https://learn.microsoft.com/en-us/office/troubleshoot/access/database-normalization-description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diagrama de izquierda a derecha. Señalar que el ejemplo de biblioteca es didáctico y no constituye un requisito del proyecto final. Fuentes:</a:t>
            </a:r>
          </a:p>
          <a:p xmlns:a="http://schemas.openxmlformats.org/drawingml/2006/main">
            <a:r>
              <a:t>• Object Management Group. (2017). Unified Modeling Language (UML), Version 2.5.1, Clause 11: Classes.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Oracle. (2018). SQL Developer Data Modeler Concepts and Usage, Version 18.1, Section 1.4: Approaches to Data Modeling.</a:t>
            </a:r>
          </a:p>
          <a:p xmlns:a="http://schemas.openxmlformats.org/drawingml/2006/main">
            <a:r>
              <a:t>  https://docs.oracle.com/database/sql-developer-data-modeler-18.1/DMDUG/data-modeler-concepts-usage.htm</a:t>
            </a:r>
          </a:p>
          <a:p xmlns:a="http://schemas.openxmlformats.org/drawingml/2006/main">
            <a:r>
              <a:t>• Microsoft. (s. f.). Primary and foreign key constraints.</a:t>
            </a:r>
          </a:p>
          <a:p xmlns:a="http://schemas.openxmlformats.org/drawingml/2006/main">
            <a:r>
              <a:t>  https://learn.microsoft.com/en-us/sql/relational-databases/tables/primary-and-foreign-key-constraints?view=sql-server-ver16</a:t>
            </a:r>
          </a:p>
          <a:p xmlns:a="http://schemas.openxmlformats.org/drawingml/2006/main">
            <a:r>
              <a:t>• Microsoft. (s. f.). Database normalization description.</a:t>
            </a:r>
          </a:p>
          <a:p xmlns:a="http://schemas.openxmlformats.org/drawingml/2006/main">
            <a:r>
              <a:t>  https://learn.microsoft.com/en-us/office/troubleshoot/access/database-normalization-description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claves identifican filas y conectan tablas. Una clave foránea referencia una clave de otra tabla y ayuda a mantener integridad referencial. La normalización organiza datos para reducir repeticiones y anomalías; debe aplicarse con reglas del dominio y no como una receta separada del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entidad necesita un identificador estable.</a:t>
            </a:r>
          </a:p>
          <a:p xmlns:a="http://schemas.openxmlformats.org/drawingml/2006/main">
            <a:r>
              <a:t>Los vínculos de uno a muchos suelen representarse colocando la clave foránea en el lado “muchos”.</a:t>
            </a:r>
          </a:p>
          <a:p xmlns:a="http://schemas.openxmlformats.org/drawingml/2006/main">
            <a:r>
              <a:t>Separar Título y Ejemplar evita repetir la descripción bibliográfica por cada copia física.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• Object Management Group. (2017). Unified Modeling Language (UML), Version 2.5.1, Clause 11: Classes.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Oracle. (2018). SQL Developer Data Modeler Concepts and Usage, Version 18.1, Section 1.4: Approaches to Data Modeling.</a:t>
            </a:r>
          </a:p>
          <a:p xmlns:a="http://schemas.openxmlformats.org/drawingml/2006/main">
            <a:r>
              <a:t>  https://docs.oracle.com/database/sql-developer-data-modeler-18.1/DMDUG/data-modeler-concepts-usage.htm</a:t>
            </a:r>
          </a:p>
          <a:p xmlns:a="http://schemas.openxmlformats.org/drawingml/2006/main">
            <a:r>
              <a:t>• Microsoft. (s. f.). Primary and foreign key constraints.</a:t>
            </a:r>
          </a:p>
          <a:p xmlns:a="http://schemas.openxmlformats.org/drawingml/2006/main">
            <a:r>
              <a:t>  https://learn.microsoft.com/en-us/sql/relational-databases/tables/primary-and-foreign-key-constraints?view=sql-server-ver16</a:t>
            </a:r>
          </a:p>
          <a:p xmlns:a="http://schemas.openxmlformats.org/drawingml/2006/main">
            <a:r>
              <a:t>• Microsoft. (s. f.). Database normalization description.</a:t>
            </a:r>
          </a:p>
          <a:p xmlns:a="http://schemas.openxmlformats.org/drawingml/2006/main">
            <a:r>
              <a:t>  https://learn.microsoft.com/en-us/office/troubleshoot/access/database-normalization-description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Guion de exposición de diez minutos. Asignar una parte de dos minutos a cada integrante. Cada persona puede desarrollar la explicación que aparece en pantalla con una idea principal y un ejemplo; eviten leer literalmente las diapositivas.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consigna exige investigación en fuentes físicas y digitales y al menos un libro físico consultado en biblioteca. Reemplazar estos espacios por fotos auténticas de las páginas consultadas. Registrar el título del libro y número de página visible; citar las fuentes utilizadas según APA 7. No presentar los espacios vacíos como evidencia cumplida.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 consultadas para preparar el material. Ajustar el formato final a la guía APA 7 entregada por el docente.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Object Management Group. (2017). Unified Modeling Language (UML), Version 2.5.1, Clause 11: Classes.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Oracle. (2018). SQL Developer Data Modeler Concepts and Usage, Version 18.1, Section 1.4: Approaches to Data Modeling.</a:t>
            </a:r>
          </a:p>
          <a:p xmlns:a="http://schemas.openxmlformats.org/drawingml/2006/main">
            <a:r>
              <a:t>  https://docs.oracle.com/database/sql-developer-data-modeler-18.1/DMDUG/data-modeler-concepts-usage.htm</a:t>
            </a:r>
          </a:p>
          <a:p xmlns:a="http://schemas.openxmlformats.org/drawingml/2006/main">
            <a:r>
              <a:t>• Microsoft. (s. f.). Primary and foreign key constraints.</a:t>
            </a:r>
          </a:p>
          <a:p xmlns:a="http://schemas.openxmlformats.org/drawingml/2006/main">
            <a:r>
              <a:t>  https://learn.microsoft.com/en-us/sql/relational-databases/tables/primary-and-foreign-key-constraints?view=sql-server-ver16</a:t>
            </a:r>
          </a:p>
          <a:p xmlns:a="http://schemas.openxmlformats.org/drawingml/2006/main">
            <a:r>
              <a:t>• Microsoft. (s. f.). Database normalization description.</a:t>
            </a:r>
          </a:p>
          <a:p xmlns:a="http://schemas.openxmlformats.org/drawingml/2006/main">
            <a:r>
              <a:t>  https://learn.microsoft.com/en-us/office/troubleshoot/access/database-normalization-description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eb3dfcf5c4b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183301d8aa4211" /><Relationship Type="http://schemas.openxmlformats.org/officeDocument/2006/relationships/slideLayout" Target="/ppt/slideLayouts/slideLayout1.xml" Id="R1a5ec5694ad749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5ec5694ad749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74a5b810b4f32" /><Relationship Type="http://schemas.openxmlformats.org/officeDocument/2006/relationships/notesSlide" Target="/ppt/notesSlides/notesSlide1.xml" Id="R50cf75a59d5d42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c4f30b3dd427a" /><Relationship Type="http://schemas.openxmlformats.org/officeDocument/2006/relationships/notesSlide" Target="/ppt/notesSlides/notesSlide2.xml" Id="Rf530e525bff446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cafccba504a58" /><Relationship Type="http://schemas.openxmlformats.org/officeDocument/2006/relationships/notesSlide" Target="/ppt/notesSlides/notesSlide3.xml" Id="Re7e3a55dfde04f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3fa34f75143e5" /><Relationship Type="http://schemas.openxmlformats.org/officeDocument/2006/relationships/notesSlide" Target="/ppt/notesSlides/notesSlide4.xml" Id="R6cd4eeb446514a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b8314852645f3" /><Relationship Type="http://schemas.openxmlformats.org/officeDocument/2006/relationships/notesSlide" Target="/ppt/notesSlides/notesSlide5.xml" Id="R42d10b9d8fb54e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15b9989bb4d5a" /><Relationship Type="http://schemas.openxmlformats.org/officeDocument/2006/relationships/notesSlide" Target="/ppt/notesSlides/notesSlide6.xml" Id="R233e9617bffe47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b5a9728ae45c0" /><Relationship Type="http://schemas.openxmlformats.org/officeDocument/2006/relationships/notesSlide" Target="/ppt/notesSlides/notesSlide7.xml" Id="R3fcd54ca48314f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A3978-B968-4E58-A943-63A2A55C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61703-D717-443E-B897-D26BA626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E3C4"/>
                </a:solidFill>
                <a:latin typeface="Arial"/>
                <a:ea typeface="Arial"/>
                <a:cs typeface="Arial"/>
              </a:rPr>
              <a:t>ACTIVIDAD 1  /  INVESTIGACIÓN Y EXPOSICIÓN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43768-4112-4C22-B5F7-5049700D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810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Datos, modelos y diagrama de clases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696C6-B4B2-4C01-BD91-A0A691DF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723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4E4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E4E1"/>
                </a:solidFill>
                <a:latin typeface="Arial"/>
                <a:ea typeface="Arial"/>
                <a:cs typeface="Arial"/>
              </a:rPr>
              <a:t>¿Qué datos debe conservar el sistema y cómo se relacionan?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EFC55-9BC1-4B12-BCE7-118B97DB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9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9C8"/>
                </a:solidFill>
                <a:latin typeface="Arial"/>
                <a:ea typeface="Arial"/>
                <a:cs typeface="Arial"/>
              </a:rPr>
              <a:t>10 minutos  ·  5 integrantes  ·  Ejemplo didáctico: biblioteca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BDDF6-C2F7-4B4D-B6D1-65C88EF5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85900"/>
            <a:ext cx="2800350" cy="30289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748B9-B201-44D3-98B6-A993E77F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38300"/>
            <a:ext cx="24955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EB293-D166-4BBE-9CF1-546FFED4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1A911-BCA8-47B4-829A-A4B6E1EB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05275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FOTO DEL 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6687F-8B6B-4D70-B4C8-CFB61CC4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95775"/>
            <a:ext cx="2457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Agregar foto real del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A052A-083B-45F4-8EC2-F57AF33C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E3C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E3C4"/>
                </a:solidFill>
                <a:latin typeface="Arial"/>
                <a:ea typeface="Arial"/>
                <a:cs typeface="Arial"/>
              </a:rPr>
              <a:t>Universidad  /  Sistemas de Información I</a:t>
            </a:r>
          </a:p>
        </p:txBody>
      </p:sp>
    </p:spTree>
    <p:extLst>
      <p:ext uri="{BB962C8B-B14F-4D97-AF65-F5344CB8AC3E}">
        <p14:creationId xmlns:p14="http://schemas.microsoft.com/office/powerpoint/2010/main" val="2008300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9F4D7-8E10-4834-A617-D37AA357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6D944-4697-4B46-A229-8D95774E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682C8-ABA6-4F63-8339-133931A9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IDEAS CLAVE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48B2A-236E-4208-B439-A58E5C25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F2520-7F83-4949-8FB4-B485A78F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FDC3E-A2D1-4022-BB7D-EE6B5E65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21609-419F-4263-93FE-46DE1365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INVESTIGACIÓN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A8F70-A543-421E-B563-45AF1ECA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Conceptos centrales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5E3E4-01CC-4040-BD76-6DD58FD7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Pasar de conceptos del dominio a una estructura lógica y una base implementable.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58A70-2F39-465E-97ED-D6A6D6C0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832F7-346E-49AC-8415-363C05C7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Tres niveles de modelado: El nivel conceptual explica qué información existe y cómo se relaciona, sin comprometerse con un producto de base de datos. El lógico define entidades, atributos, identificadores y restricciones. El físico concreta tablas, tipos de datos, índices y reglas propias del motor elegido.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C64AA-1B53-4E7D-A2A3-D66AAF77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59B6A-B0DC-48B7-A092-9B97ED45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90925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Clases, atributos y relaciones: En un diagrama de clases, una clase agrupa propiedades y operaciones de elementos del mismo tipo. Las asociaciones muestran relaciones; su multiplicidad indica cuántos objetos pueden participar. Una asociación entre clases no determina por sí sola las tablas físicas.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55A5E-E3CC-428D-964E-25707030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F03B9-F77C-4194-8CBD-DFF2DB7C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Integridad y normalización: Las claves identifican filas y conectan tablas. Una clave foránea referencia una clave de otra tabla y ayuda a mantener integridad referencial. La normalización organiza datos para reducir repeticiones y anomalías; debe aplicarse con reglas del dominio y no como una receta separada del problema.</a:t>
            </a:r>
          </a:p>
        </p:txBody>
      </p:sp>
    </p:spTree>
    <p:extLst>
      <p:ext uri="{BB962C8B-B14F-4D97-AF65-F5344CB8AC3E}">
        <p14:creationId xmlns:p14="http://schemas.microsoft.com/office/powerpoint/2010/main" val="317788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D1C042-20BD-4DEF-8363-20CB03C3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23896-2B74-419F-A9A5-E256F123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A6656-2529-4B30-8B3C-B0811175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DIAGRAMA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CE10A-444F-4636-99A6-B1F10AEC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B44A7-51C0-41C9-B80D-A3128E22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6358B-4813-4129-93C4-D76AE359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E0B57-2E45-48AB-87F4-0ACDD3AE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DE LA IDEA AL DISEÑO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122F6-A8F8-43F8-9AB1-BBF848D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Tres niveles de datos; una estructura de clases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78E45-4D34-4E0D-BD86-A5E9B08A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Separa reglas del dominio de las decisiones del gestor de base de datos.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355A5-10D7-4D5D-9D64-C85592BD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857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755C1-8850-4102-9F51-99F1F889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CONCEPTUAL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26C65-867D-45E9-8024-56AF9088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B3A"/>
                </a:solidFill>
                <a:latin typeface="Arial"/>
                <a:ea typeface="Arial"/>
                <a:cs typeface="Arial"/>
              </a:rPr>
              <a:t>Entidades y relaciones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BABC7-42BB-4C3B-9612-14A4CD39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147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7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14DAE-DCC5-4135-99AB-5E23716D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2565F-19BE-4156-B4AE-1A52717C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19375"/>
            <a:ext cx="2857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B7E3C4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279F7-3810-4F5A-A074-1BABE56E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908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LÓGICO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93BB8-A4D3-44D4-AA40-F75A4BB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81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B3A"/>
                </a:solidFill>
                <a:latin typeface="Arial"/>
                <a:ea typeface="Arial"/>
                <a:cs typeface="Arial"/>
              </a:rPr>
              <a:t>Atributos, claves y reglas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80E80-85CA-4EA7-9B09-BE29E7E0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3147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7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7A467-D45E-40E3-AA59-9993C683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432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BB1E1-FBD5-407B-AECC-FEC821FA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19375"/>
            <a:ext cx="2857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8C854-645B-406A-B68A-10CC42DF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908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FÍSICO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E87AE-0993-44C8-9231-2FDB7517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B3A"/>
                </a:solidFill>
                <a:latin typeface="Arial"/>
                <a:ea typeface="Arial"/>
                <a:cs typeface="Arial"/>
              </a:rPr>
              <a:t>Tablas, tipos e índices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14B91-9A74-478D-B880-8D953EAA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7620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B3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264F0-C7F9-48D0-81C0-1065E28A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244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Estudiante  1 ─── 0..*  Préstamo  *..1 ─── 1  Ejemplar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50C33A-4731-4E5A-AB6D-3094BC4A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34025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La clase representa estructura y comportamiento; el esquema físico implementa almacenamiento.</a:t>
            </a:r>
          </a:p>
        </p:txBody>
      </p:sp>
    </p:spTree>
    <p:extLst>
      <p:ext uri="{BB962C8B-B14F-4D97-AF65-F5344CB8AC3E}">
        <p14:creationId xmlns:p14="http://schemas.microsoft.com/office/powerpoint/2010/main" val="20352448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5BB33-25CD-4540-BDFE-742143D9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98935-9CBA-4E11-9B6A-0076638F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FE072-5ED6-4C86-8B68-5705E327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EJEMPLO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C4336-4642-4793-8A35-EBC242CF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25D59-0674-4852-A7DF-6B6E437F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3544D-5394-4B76-89D9-CF426C99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B0ACC-D6BD-4D08-8777-6411ED61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APLICACIÓN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2A1BA-8D57-4F01-95C6-5CE498C8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Un ejemplo paso a paso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0A17E-DD87-425F-AC82-86393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Caso ilustrativo de una biblioteca; validar las reglas antes de aplicarlas a un sistema real.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6F641-CF16-491C-80CC-F7B3321E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31208-0D77-4FDB-A6B6-83024B6E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Cada entidad necesita un identificador estable.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8C2A3-DCF5-479A-A1C1-7B4B9B36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C11C7-200F-4215-8DE8-756FF6E9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Los vínculos de uno a muchos suelen representarse colocando la clave foránea en el lado “muchos”.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1127E-20FA-41F8-9439-9C4CC05C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3073F-178C-4143-AF75-AD126C95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Separar Título y Ejemplar evita repetir la descripción bibliográfica por cada copia física.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DE777-04AC-4477-AEA9-A33ED2DE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1019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D1189-A125-4D38-B5F0-85869293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Pregunta para el curso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FA1B9-FDA7-47AF-9F41-969AC14E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38775"/>
            <a:ext cx="960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¿Qué dato, regla o evidencia faltaría para validar este modelo?</a:t>
            </a:r>
          </a:p>
        </p:txBody>
      </p:sp>
    </p:spTree>
    <p:extLst>
      <p:ext uri="{BB962C8B-B14F-4D97-AF65-F5344CB8AC3E}">
        <p14:creationId xmlns:p14="http://schemas.microsoft.com/office/powerpoint/2010/main" val="2103319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AF99FA-60EE-474F-A6B9-0728B5FC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3B087-CF10-49DF-A138-415073A6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1DAA6-1291-4AA1-8C0A-4A589C0C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GUION DE EXPOSICIÓN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6AFD3-7971-4F35-8CE9-2AC94AA8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82688-D8FE-403C-BF80-30B5C3AF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37317-796C-4D57-BD1D-9647ABDB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9523F-0554-4E72-AEB4-BF87B6A3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PRESENTACIÓN ORAL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C1299-8893-401F-8525-2DDB7D54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Diez minutos, cinco partes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62297-9E7D-4F4D-AB7C-BC4DE1CE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Reemplacen “Integrante” por los nombres del equipo. Cada parte dura dos minutos.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3047C-650B-4208-861D-14C1D91D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C60A3-58BB-428D-8232-71DEB6C8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D7500-EF99-4B1A-AE0D-71F7906D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669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1  ·  2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55388-AC3E-464E-B878-185A7159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669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Información y problema — Presentar qué necesita conservar un sistema de biblioteca y por qué importa modelar antes de implementarlo.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5905A-1F77-41BF-AD35-3E1B868B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EB3D9-3963-498D-9231-45DB233B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D8B5F-F2C2-4555-8266-DF1CD37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527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2  ·  2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2605F-057C-4B39-A0D0-BF272A37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527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Niveles de datos — Comparar modelo conceptual, lógico y físico con el mismo ejemplo.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56A32-F183-4C8D-95AF-93735420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26A2E-4143-45F8-8A83-18532F0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2D2EB-4FD4-45FA-B249-B37ED10E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3  ·  2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F925E-5367-4462-A129-0200A0EA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385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Clases y multiplicidad — Explicar atributos, asociaciones y cardinalidad del diagrama.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8A030-DE46-44F1-8912-B626FC09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48A665-55F9-47C4-93BE-C226CC57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D461B-7889-4C77-9A30-5CC8628A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24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4  ·  2 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9DAE5A-3919-486A-A9A2-5845D591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Claves e integridad — Mostrar la conexión entre Estudiante, Préstamo y Ejemplar y explicar PK/FK.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E2276C-99A0-42A2-9776-018612E9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85C217-FA81-4DD7-B8D5-550CC30C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7EBF27-B57F-4E19-9F14-16322E38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101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5  ·  2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686CFE-3182-4A21-B741-3E5D0221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101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Hallazgo y conclusión — Distinguir diagrama de clases de esquema físico y resumir la progresión de diseño.</a:t>
            </a:r>
          </a:p>
        </p:txBody>
      </p:sp>
    </p:spTree>
    <p:extLst>
      <p:ext uri="{BB962C8B-B14F-4D97-AF65-F5344CB8AC3E}">
        <p14:creationId xmlns:p14="http://schemas.microsoft.com/office/powerpoint/2010/main" val="11708343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1D6F2-3AE1-4287-8D21-A2F34B2E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7637B-E853-437A-9FBB-7E152E33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2AB03-3981-44A6-91BE-95669E5E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EVIDENCIA BIBLIOGRÁFICA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44A17-1AAC-4742-A468-F8B43432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B3287-FF44-49BE-BE7C-F47746E1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6AEA6-A2E7-4AFE-AFCB-8FF8A82E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FFDCD-69B9-4CFC-89C7-152B2C99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TRABAJO CON FUENTE FÍSICA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427BD-6540-4CC6-A63C-1E99692B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Registrar dos evidencias del libro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E22DF-03C8-4F95-B300-788F4D26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Fotografíen una página útil por fuente y completen título, autor, edición y página.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CBED0-47C7-4C47-AFA0-C318DAB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8577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15C76-3796-49A9-952F-FDCB4EE2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4552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0F18F-510F-4E21-BCC3-BB0A2F23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7ACD5-9C7A-444D-93E7-BA863294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FOTO DEL LIBRO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B964E-0F79-40A0-957A-FB087812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29175"/>
            <a:ext cx="451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Título · autor · edición · página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FB174-2295-49CB-B171-604DE87B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8577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474FD-0D9D-400E-AADC-4F341C22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90800"/>
            <a:ext cx="4552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EA595-7260-4E2B-9911-DCA7F7BE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9570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E3075-586E-450A-9868-ED424796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38675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FOTO DEL LIBRO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CB4B8-797D-41B7-B242-DA0879F0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29175"/>
            <a:ext cx="451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Título · autor · edición · página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51844C-9680-44A5-A48B-FD30878F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439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14288">
            <a:solidFill>
              <a:srgbClr val="E8AA5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E2C7A-72C6-4121-87F6-C520BAD4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1005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Pendiente: insertar fotos reales y confirmar la referencia bibliográfica antes de exponer.</a:t>
            </a:r>
          </a:p>
        </p:txBody>
      </p:sp>
    </p:spTree>
    <p:extLst>
      <p:ext uri="{BB962C8B-B14F-4D97-AF65-F5344CB8AC3E}">
        <p14:creationId xmlns:p14="http://schemas.microsoft.com/office/powerpoint/2010/main" val="972541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0263C-8E1E-42DE-8E65-92075BAA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83C24-DD9E-422E-9629-62E265EA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156C2-30A0-4917-8A3C-19204EA3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FUENTES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B9159-79A8-42F0-BFA8-23F0B212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1830D-0519-40D5-9DDA-913E13E4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39AA5-CA76-43AC-97E4-6C19CF27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6F272-337A-4633-8499-32A2D5A0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BIBLIOGRAFÍA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17A9E-908C-4BFF-8808-2B0DAFD0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Fuentes consultadas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78217-E59D-48F8-A679-D2C018BE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Normas APA 7: revisar autor institucional, fecha, título y datos de publicación al entregar.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87581-D3A1-4B6B-8A4B-B2FCB1D1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1456A-2D36-4CB0-809E-9F3C9399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907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Object Management Group. (2017). Unified Modeling Language (UML), Version 2.5.1, Clause 11: Classes.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3EAFE-08D2-4412-8D28-E8C50AE9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https://www.omg.org/spec/UML/2.5.1/PDF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62261-0709-49AA-A95E-836A5028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59CF9-0C21-46AF-BA7F-0BBE37FC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289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Oracle. (2018). SQL Developer Data Modeler Concepts and Usage, Version 18.1, Section 1.4: Approaches to Data Modeling.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42BCD-6BB6-4CCA-A8BD-18608871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https://docs.oracle.com/database/sql-developer-data-modeler-18.1/DMDUG/data-modeler-concepts-usage.htm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9A876-6F52-4792-A27B-DB0C11D2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2BE12-2F32-4596-9A52-30BF3F16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Microsoft. (s. f.). Primary and foreign key constraints.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5FD0A-485D-43DC-A27C-856867F1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910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https://learn.microsoft.com/en-us/sql/relational-databases/tables/primary-and-foreign-key-constraints?view=sql-server-ver16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250B7-0C7E-432B-B467-B5DC94A3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59384-280C-4717-A2C2-8217176B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5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Microsoft. (s. f.). Database normalization description.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9F5D0-28BE-4D27-BFA1-A1DA9BB1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292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https://learn.microsoft.com/en-us/office/troubleshoot/access/database-normalization-description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A5912-B380-40A6-A453-A8B3F0DF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B014E-3AFD-4720-9A93-9CDA6327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57875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Modelo, diagrama y caso de biblioteca: recursos didácticos elaborados para explicar la investigación.</a:t>
            </a:r>
          </a:p>
        </p:txBody>
      </p:sp>
    </p:spTree>
    <p:extLst>
      <p:ext uri="{BB962C8B-B14F-4D97-AF65-F5344CB8AC3E}">
        <p14:creationId xmlns:p14="http://schemas.microsoft.com/office/powerpoint/2010/main" val="1498677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2026-10-06T13:15:27.5110000Z</dcterms:created>
  <dcterms:modified xsi:type="dcterms:W3CDTF">2026-10-06T13:15:27.5120000Z</dcterms:modified>
</coreProperties>
</file>