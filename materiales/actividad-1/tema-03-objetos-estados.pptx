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c62ccccc144c8e" /><Relationship Type="http://schemas.openxmlformats.org/officeDocument/2006/relationships/extended-properties" Target="/docProps/app.xml" Id="Re4d7bb4faf764ebb" /><Relationship Type="http://schemas.openxmlformats.org/officeDocument/2006/relationships/officeDocument" Target="/ppt/presentation.xml" Id="R6509cd99b4694a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0f3c60987421d"/>
  </p:sldMasterIdLst>
  <p:notesMasterIdLst>
    <p:notesMasterId xmlns:r="http://schemas.openxmlformats.org/officeDocument/2006/relationships" r:id="R0b613cdcb65f4118"/>
  </p:notesMasterIdLst>
  <p:sldIdLst>
    <p:sldId xmlns:r="http://schemas.openxmlformats.org/officeDocument/2006/relationships" id="256" r:id="R2e320f447bd34172"/>
    <p:sldId xmlns:r="http://schemas.openxmlformats.org/officeDocument/2006/relationships" id="257" r:id="R4c6bdf2c4b3749fd"/>
    <p:sldId xmlns:r="http://schemas.openxmlformats.org/officeDocument/2006/relationships" id="258" r:id="R932777ad766c4a6c"/>
    <p:sldId xmlns:r="http://schemas.openxmlformats.org/officeDocument/2006/relationships" id="259" r:id="R08be7997428647a3"/>
    <p:sldId xmlns:r="http://schemas.openxmlformats.org/officeDocument/2006/relationships" id="260" r:id="Rf55f412eb6504f23"/>
    <p:sldId xmlns:r="http://schemas.openxmlformats.org/officeDocument/2006/relationships" id="261" r:id="R1c92568353224bdf"/>
    <p:sldId xmlns:r="http://schemas.openxmlformats.org/officeDocument/2006/relationships" id="262" r:id="Ree461a40664446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2ffc67c00f454c" /><Relationship Type="http://schemas.openxmlformats.org/officeDocument/2006/relationships/slideMaster" Target="/ppt/slideMasters/slideMaster1.xml" Id="Rb7c0f3c60987421d" /><Relationship Type="http://schemas.openxmlformats.org/officeDocument/2006/relationships/notesMaster" Target="/ppt/notesMasters/notesMaster1.xml" Id="R0b613cdcb65f4118" /><Relationship Type="http://schemas.openxmlformats.org/officeDocument/2006/relationships/presProps" Target="/ppt/presProps.xml" Id="R575bbbfa7c0946c3" /><Relationship Type="http://schemas.openxmlformats.org/officeDocument/2006/relationships/tableStyles" Target="/ppt/tableStyles.xml" Id="Rb985d534cf6c4e7f" /><Relationship Type="http://schemas.openxmlformats.org/officeDocument/2006/relationships/slide" Target="/ppt/slides/slide1.xml" Id="R2e320f447bd34172" /><Relationship Type="http://schemas.openxmlformats.org/officeDocument/2006/relationships/slide" Target="/ppt/slides/slide2.xml" Id="R4c6bdf2c4b3749fd" /><Relationship Type="http://schemas.openxmlformats.org/officeDocument/2006/relationships/slide" Target="/ppt/slides/slide3.xml" Id="R932777ad766c4a6c" /><Relationship Type="http://schemas.openxmlformats.org/officeDocument/2006/relationships/slide" Target="/ppt/slides/slide4.xml" Id="R08be7997428647a3" /><Relationship Type="http://schemas.openxmlformats.org/officeDocument/2006/relationships/slide" Target="/ppt/slides/slide5.xml" Id="Rf55f412eb6504f23" /><Relationship Type="http://schemas.openxmlformats.org/officeDocument/2006/relationships/slide" Target="/ppt/slides/slide6.xml" Id="R1c92568353224bdf" /><Relationship Type="http://schemas.openxmlformats.org/officeDocument/2006/relationships/slide" Target="/ppt/slides/slide7.xml" Id="Ree461a40664446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467404ced4e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5977ad686f4cf9" /><Relationship Type="http://schemas.openxmlformats.org/officeDocument/2006/relationships/notesMaster" Target="/ppt/notesMasters/notesMaster1.xml" Id="R6701c19edfbc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478266c59247a4" /><Relationship Type="http://schemas.openxmlformats.org/officeDocument/2006/relationships/notesMaster" Target="/ppt/notesMasters/notesMaster1.xml" Id="R6f5650a0327347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f262235f0f47e7" /><Relationship Type="http://schemas.openxmlformats.org/officeDocument/2006/relationships/notesMaster" Target="/ppt/notesMasters/notesMaster1.xml" Id="R8e8b51bfd4a345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9bd2c3f4641dd" /><Relationship Type="http://schemas.openxmlformats.org/officeDocument/2006/relationships/notesMaster" Target="/ppt/notesMasters/notesMaster1.xml" Id="R951530f2cc6248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a2b36dd8124ccc" /><Relationship Type="http://schemas.openxmlformats.org/officeDocument/2006/relationships/notesMaster" Target="/ppt/notesMasters/notesMaster1.xml" Id="Rbddb9aa8642e4e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45c78e00244347" /><Relationship Type="http://schemas.openxmlformats.org/officeDocument/2006/relationships/notesMaster" Target="/ppt/notesMasters/notesMaster1.xml" Id="Rdf907c196bb545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089a2408e642a6" /><Relationship Type="http://schemas.openxmlformats.org/officeDocument/2006/relationships/notesMaster" Target="/ppt/notesMasters/notesMaster1.xml" Id="R401d527038184e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tema asignado al grupo, los nombres completos de los cinco integrantes y la pregunta guía. La fotografía del grupo debe agregarse cuando esté disponible. La exposición dura diez minutos, dos minutos por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Objeto e instancia: Una instancia es un objeto concreto de una clase, mostrado con sus valores en un instante. La notación habitual distingue el nombre de la instancia del nombre de la clase y puede mostrar sus atributos. El diagrama permite revisar si los objetos y sus enlaces representan un escenario coherente. Ejemplo: ejemplar01:Ejemplar; codigo = E-104; estado = Prestado. Un diagrama de objetos no sustituye al diagrama de clases: muestra ejemplos concretos, no la definición general de los tipos. Los datos de este ejemplo son ficticios y solo ilustran la notación.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Estado, evento y transición: Un estado indica una condición durante la vida de un objeto. Una transición cambia de estado cuando ocurre un evento y se cumple la guarda, si existe. La acción asociada describe una respuesta. UML define notación y semántica para máquinas de estados. Evento: devolver ejemplar. Guarda posible: el préstamo corresponde a ese ejemplar. Transición: Prestado → Disponible, con registro de la devolución.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Ciclo de un ejemplar: Escenario didáctico: un ejemplar disponible se reserva, se retira en préstamo y luego se devuelve. Si la reserva vence sin retiro, el ejemplar puede regresar a disponible. Las reglas concretas deben confirmarse con la política de la biblioteca. Disponible → Reservado → Prestado → Disponible. Evento de vencimiento: Reservado → Disponible. No todas las bibliotecas usan los mismos estados: se modelan las reglas del dominio investigado.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2.5.1, Clauses 13 and 14: State Machines.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NASA Software Engineering Handbook. (s. f.). SWE-109: Software Requirements Specification, required states and modes.</a:t>
            </a:r>
          </a:p>
          <a:p xmlns:a="http://schemas.openxmlformats.org/drawingml/2006/main">
            <a:r>
              <a:t>  https://swehb.nasa.gov/spaces/7150/pages/16449740/SWE-109%2B-%2BSoftware%2BRequirements%2BSpecification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diagrama de izquierda a derecha. Señalar que el ejemplo de biblioteca es didáctico y no constituye un requisito del proyecto final. Fuentes:</a:t>
            </a:r>
          </a:p>
          <a:p xmlns:a="http://schemas.openxmlformats.org/drawingml/2006/main">
            <a:r>
              <a:t>• Object Management Group. (2017). Unified Modeling Language (UML), Version 2.5.1, Clauses 13 and 14: State Machines.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NASA Software Engineering Handbook. (s. f.). SWE-109: Software Requirements Specification, required states and modes.</a:t>
            </a:r>
          </a:p>
          <a:p xmlns:a="http://schemas.openxmlformats.org/drawingml/2006/main">
            <a:r>
              <a:t>  https://swehb.nasa.gov/spaces/7150/pages/16449740/SWE-109%2B-%2BSoftware%2BRequirements%2BSpecification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Escenario didáctico: un ejemplar disponible se reserva, se retira en préstamo y luego se devuelve. Si la reserva vence sin retiro, el ejemplar puede regresar a disponible. Las reglas concretas deben confirmarse con la política de la biblioteca.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Disponible → Reservado → Prestado → Disponible.</a:t>
            </a:r>
          </a:p>
          <a:p xmlns:a="http://schemas.openxmlformats.org/drawingml/2006/main">
            <a:r>
              <a:t>Evento de vencimiento: Reservado → Disponible.</a:t>
            </a:r>
          </a:p>
          <a:p xmlns:a="http://schemas.openxmlformats.org/drawingml/2006/main">
            <a:r>
              <a:t>No todas las bibliotecas usan los mismos estados: se modelan las reglas del dominio investigado.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2.5.1, Clauses 13 and 14: State Machines.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NASA Software Engineering Handbook. (s. f.). SWE-109: Software Requirements Specification, required states and modes.</a:t>
            </a:r>
          </a:p>
          <a:p xmlns:a="http://schemas.openxmlformats.org/drawingml/2006/main">
            <a:r>
              <a:t>  https://swehb.nasa.gov/spaces/7150/pages/16449740/SWE-109%2B-%2BSoftware%2BRequirements%2BSpecification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de exposición de diez minutos. Asignar una parte de dos minutos a cada integrante. Cada persona puede desarrollar la explicación que aparece en pantalla con una idea principal y un ejemplo; eviten leer literalmente las diapositivas.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consigna exige investigación en fuentes físicas y digitales y al menos un libro físico consultado en biblioteca. Reemplazar estos espacios por fotos auténticas de las páginas consultadas. Registrar el título del libro y número de página visible; citar las fuentes utilizadas según APA 7. No presentar los espacios vacíos como evidencia cumplida.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consultadas para preparar el material. Ajustar el formato final a la guía APA 7 entregada por el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Object Management Group. (2017). Unified Modeling Language (UML), Version 2.5.1, Clauses 13 and 14: State Machines.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NASA Software Engineering Handbook. (s. f.). SWE-109: Software Requirements Specification, required states and modes.</a:t>
            </a:r>
          </a:p>
          <a:p xmlns:a="http://schemas.openxmlformats.org/drawingml/2006/main">
            <a:r>
              <a:t>  https://swehb.nasa.gov/spaces/7150/pages/16449740/SWE-109%2B-%2BSoftware%2BRequirements%2BSpecification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80c4c434049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538d94f03a48ee" /><Relationship Type="http://schemas.openxmlformats.org/officeDocument/2006/relationships/slideLayout" Target="/ppt/slideLayouts/slideLayout1.xml" Id="Re04d4eaa314242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4d4eaa314242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5e0c24f6d4ee9" /><Relationship Type="http://schemas.openxmlformats.org/officeDocument/2006/relationships/notesSlide" Target="/ppt/notesSlides/notesSlide1.xml" Id="R51a0e45cf4b846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590e53be743fc" /><Relationship Type="http://schemas.openxmlformats.org/officeDocument/2006/relationships/notesSlide" Target="/ppt/notesSlides/notesSlide2.xml" Id="Rd1a32e21d2e4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a544910434bb5" /><Relationship Type="http://schemas.openxmlformats.org/officeDocument/2006/relationships/notesSlide" Target="/ppt/notesSlides/notesSlide3.xml" Id="R637f6c20635f4d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54fcbea194f17" /><Relationship Type="http://schemas.openxmlformats.org/officeDocument/2006/relationships/notesSlide" Target="/ppt/notesSlides/notesSlide4.xml" Id="Rfbac5a9b1f3d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2e30444b84f98" /><Relationship Type="http://schemas.openxmlformats.org/officeDocument/2006/relationships/notesSlide" Target="/ppt/notesSlides/notesSlide5.xml" Id="R3bfe90e30c9c44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1946dfc664e34" /><Relationship Type="http://schemas.openxmlformats.org/officeDocument/2006/relationships/notesSlide" Target="/ppt/notesSlides/notesSlide6.xml" Id="R88dfefca738847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b8f5e539a4bc0" /><Relationship Type="http://schemas.openxmlformats.org/officeDocument/2006/relationships/notesSlide" Target="/ppt/notesSlides/notesSlide7.xml" Id="Rb2cdf457471e41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6A4E7-8D93-4B3E-9D16-793C19C1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55A00-14ED-43C0-96D4-B5679BD9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ACTIVIDAD 1  /  INVESTIGACIÓN Y EXPOSICIÓN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B0E29-BF7F-44AF-B902-80262B7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81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Objetos y diagramas de estado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FF192-5F4B-425E-95E9-93A13064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723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4E4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E4E1"/>
                </a:solidFill>
                <a:latin typeface="Arial"/>
                <a:ea typeface="Arial"/>
                <a:cs typeface="Arial"/>
              </a:rPr>
              <a:t>¿Qué existe en un momento determinado y cómo cambia su estado?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CB2AF-4CC6-4CCA-9128-1EDA571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9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C8"/>
                </a:solidFill>
                <a:latin typeface="Arial"/>
                <a:ea typeface="Arial"/>
                <a:cs typeface="Arial"/>
              </a:rPr>
              <a:t>10 minutos  ·  5 integrantes  ·  Ejemplo didáctico: biblioteca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E1F84-7AFF-48F6-B05D-38BC2626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85900"/>
            <a:ext cx="2800350" cy="30289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3DFCC-D1AD-4813-BECD-4C0F6E0C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38300"/>
            <a:ext cx="24955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53738-068E-46AD-9CE9-C84E227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50A70-9E59-4D48-A0B6-5CC2FA6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05275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DEC60-0F9B-4891-AE46-A7F45816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95775"/>
            <a:ext cx="2457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Agregar foto real del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A3398-FE81-4575-9C79-DDE30D0D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Universidad  /  Sistemas de Información I</a:t>
            </a:r>
          </a:p>
        </p:txBody>
      </p:sp>
    </p:spTree>
    <p:extLst>
      <p:ext uri="{BB962C8B-B14F-4D97-AF65-F5344CB8AC3E}">
        <p14:creationId xmlns:p14="http://schemas.microsoft.com/office/powerpoint/2010/main" val="1260526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85AD1-85D3-46BB-9705-7A63B6D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F9DF4-90EC-49F4-9FDA-A92148D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D4843-EEBD-44BC-ADE9-969EDB59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IDEAS CLAVE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5230B-6883-489C-8F28-0A2C0A64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BD218-8299-4613-B935-53C41FA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0E57D-15F7-4EDF-844C-47E3AEF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8382E-AE3B-4A89-8A3D-316FF80A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INVESTIGACIÓN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D1819-057F-4F83-8F24-04334C2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Conceptos centrales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68C88-4F57-4F34-917D-E7A8216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Mostrar instancias concretas y cómo cambia su comportamiento ante eventos.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AE253-8C84-4396-B97E-0294F6FE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9EF54-F374-4B65-8321-F7C07B6C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9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Objeto e instancia: Una instancia es un objeto concreto de una clase, mostrado con sus valores en un instante. La notación habitual distingue el nombre de la instancia del nombre de la clase y puede mostrar sus atributos. El diagrama permite revisar si los objetos y sus enlaces representan un escenario coherente.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923F4-06F0-42B8-B314-1DD23DF7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EA955-EFF5-48E5-9854-360A2059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Estado, evento y transición: Un estado indica una condición durante la vida de un objeto. Una transición cambia de estado cuando ocurre un evento y se cumple la guarda, si existe. La acción asociada describe una respuesta. UML define notación y semántica para máquinas de estados.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CA166-565C-4AD7-98D6-B38BA772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CEF79-167B-4332-B108-67B23E70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Ciclo de un ejemplar: Escenario didáctico: un ejemplar disponible se reserva, se retira en préstamo y luego se devuelve. Si la reserva vence sin retiro, el ejemplar puede regresar a disponible. Las reglas concretas deben confirmarse con la política de la biblioteca.</a:t>
            </a:r>
          </a:p>
        </p:txBody>
      </p:sp>
    </p:spTree>
    <p:extLst>
      <p:ext uri="{BB962C8B-B14F-4D97-AF65-F5344CB8AC3E}">
        <p14:creationId xmlns:p14="http://schemas.microsoft.com/office/powerpoint/2010/main" val="678352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219D1B-9464-4677-87E6-73FCA106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F9A8B-7C27-4B3B-A5BF-D47C698F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D2241-8ACA-4207-9735-0146B46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DIAGRAMA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1AE15-81A0-4F77-B302-0D3EC6D0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06A5D-BC53-4200-A885-12222F0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845B1-882F-4983-88C4-83864C1D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3C4CC-CB70-435E-8D35-37CB472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DIAGRAMA DE COMPORTAMIENTO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A758F-C4E0-4816-A1F7-416DAFFF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El ejemplar cambia ante eventos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4494B-73A7-40A2-A7C8-1A14D881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Modelo didáctico; las políticas reales se confirman con la organización.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BDFFC-C9E8-4743-8DD1-289AF1AC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52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4729E-AAF4-47D6-9E2F-8D3D438E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DISPONIBLE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22D55-18B3-4F18-BC75-D9E5F9A5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estado inicial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16EBD-1E1E-4270-BC78-DE8266D2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908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69E1D-D832-4FCB-9B9E-24CDEB8E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97AAE-E78C-4358-9FFE-3013B30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24150"/>
            <a:ext cx="1352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95BC9-4EFD-46EB-8E6F-613BBFD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670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Reservar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A693D-1DCF-4D63-BCFE-CA209ADC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28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evento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E93FD-BA91-44DF-9CE8-C02C8562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908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7E873-93E3-4689-985F-75239E6E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14A70-CE56-4BE8-B0DE-67567876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1352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CE508-082B-4AD5-93E7-88FF6765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670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RESERVADO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3E6F1-478C-492D-86D0-498013CB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28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espera de retiro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0E676-8C0F-4A15-ACDD-856FC693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908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B423F-05AD-4425-BCCA-1E41BCFC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93860-6045-4C48-8001-A45BADDE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1352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A63AC-1F44-451F-A471-4529E1F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670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Prestar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6F1E72-17E4-40B7-B7A2-12C2B918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28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evento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1B32D-B1E9-4D8C-8831-A5E9288F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516E3D-CD42-4AEE-98CB-93D84F87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194AB-7510-45F8-82FB-2AB1E9E6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1352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3F0F7E-9843-444F-82D0-CEA4EC67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PRESTADO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2B38C-5260-4568-AB35-F3B22EF5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28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ejemplar en uso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01F368-9669-479F-BB4F-F1A79C4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908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37268-9CEC-41D7-9382-E3E7B87C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BCAE7B-5FC8-4835-BE31-7F21780A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1352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F5D3D1-6B15-4257-B95C-B8644940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Devolver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2CF550-67DD-4C41-A325-AFEF6E9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28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evento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CF72B4-C5E4-44A0-B6DC-AD3F772E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908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099776-B990-455A-B9E9-6DC18A61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19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058BE-4C44-46F4-9FE0-D6DCFB89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352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CBD858-C5E0-4D5F-A64F-8B7C271D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670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DISPONIBLE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C37A6E-4184-441A-9B99-511ECA14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28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estado final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E00DAB-76D3-4EDC-9E99-F90B8745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8572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8ECD26-09F7-4DA4-A5B8-C60837A1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62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Instantánea de objeto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49F0F6-BFB7-4953-9848-0795AEFC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577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ejemplar01 : Ejemplar     código = E-104     estado = Prestado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690146-3FEC-460C-A4A7-15BAA359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149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Diagrama de objetos = valores en un momento. Máquina de estados = cambios a través del tiempo.</a:t>
            </a:r>
          </a:p>
        </p:txBody>
      </p:sp>
    </p:spTree>
    <p:extLst>
      <p:ext uri="{BB962C8B-B14F-4D97-AF65-F5344CB8AC3E}">
        <p14:creationId xmlns:p14="http://schemas.microsoft.com/office/powerpoint/2010/main" val="1373113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2DDAD-E785-49D9-AC54-16A63DE6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E27B9-EB28-4A48-8597-D8AFAB8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43DC1-BCF8-496F-8F7B-B52C400D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EJEMPLO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90C84-6FBD-4105-BEC2-9A3ED45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C133D-0599-4EA2-B944-0DA27368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2D56E-B957-4592-90B1-87505588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55EB2-3E17-446C-AD58-B23698D6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DBC41-B733-4795-BAB6-6842AA9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Un ejemplo paso a paso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7EEED-E110-4E22-AAEE-BC728769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Caso ilustrativo de una biblioteca; validar las reglas antes de aplicarlas a un sistema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E811D-DC8B-43BD-B426-8AB140ED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C1EDB-0CBB-4786-A208-35C069A7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Disponible → Reservado → Prestado → Disponible.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3E7B6-E6F0-4238-A9CB-3C2D30E7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90386-51C7-4FA0-8DB7-23C02653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Evento de vencimiento: Reservado → Disponible.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6A7B3-EE39-466C-A228-50090945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FE607-2CE4-407E-A0CF-64730D33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No todas las bibliotecas usan los mismos estados: se modelan las reglas del dominio investigado.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76B1B-BF03-4902-9EF1-8FD87776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019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F8107-5302-44DC-8AB6-7D40C09F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Pregunta para el curso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DF961-F0E0-46DD-A204-8AAFAA66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38775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¿Qué dato, regla o evidencia faltaría para validar este modelo?</a:t>
            </a:r>
          </a:p>
        </p:txBody>
      </p:sp>
    </p:spTree>
    <p:extLst>
      <p:ext uri="{BB962C8B-B14F-4D97-AF65-F5344CB8AC3E}">
        <p14:creationId xmlns:p14="http://schemas.microsoft.com/office/powerpoint/2010/main" val="781506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43E4A-1166-4D2D-8BF8-643803D1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79E32-D1C1-4BD1-86A8-8302FEA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C8030-7FF4-41F9-B04C-86DF50F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GUION DE EXPOSICIÓN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DCE52-92DC-4D30-A5A1-C5830C02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BBDBC-3E5C-40DD-80DD-6EC38DCE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8DCBA-311D-4413-915F-EE2AFFD2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3DEAF-7C17-4D26-818D-5B66A254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PRESENTACIÓN ORAL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B4999-3E83-45A3-9067-8BF154F4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Diez minutos, cinco partes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4A8BF-3931-4292-B31A-7C4991F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Reemplacen “Integrante” por los nombres del equipo. Cada parte dura dos minutos.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C74FB-00F0-4E75-BD73-8B9A1CFF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5132F-D31B-4396-B4AB-E951A9CF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6638D-53B8-46CF-86EF-7AC99BFD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66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1  ·  2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74D2A-9B3D-4ACA-9541-ECBC82B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669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Problema y propósito — Presentar por qué interesa distinguir una instancia concreta del comportamiento de su tipo.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8A594-8439-4765-86CF-D356BAC9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502D8-C40B-4D7A-88E5-28BCA12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75113-1B5B-4A41-B308-4B2C17D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527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2  ·  2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EF83D-AF71-4517-8D16-1C999B4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527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Diagrama de objetos — Explicar objetos, clases y valores con la instantánea del ejemplar E-104.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F5295-2E6E-40DA-B0FD-FF8F740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F0ED1-3FAC-41E2-9702-67AD6AB6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FCDDA-CA0F-4F1F-B09F-7295A992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3  ·  2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A5966-887F-4E62-8B4A-35A41A9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385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Máquina de estados — Explicar estado, evento, guarda y transición en UML.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01CFB-3C8D-4D4D-8214-6EE16C26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A4488-A14C-406A-BF36-829773B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3855B-EBCB-48B6-AAD4-A6609827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24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4  ·  2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DBB14-FF87-40CF-91E0-8A36ECB7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Ciclo del ejemplar — Recorrer reserva, préstamo, devolución y vencimiento, aclarando las reglas supuestas.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26ECE-D583-41D8-BA20-505771B0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53770-88C3-4DBA-AB4D-37FD476D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0CD9A3-CEEE-4DA3-A800-60798D6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01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5  ·  2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949E16-9460-4F3D-A0F5-FE0E6A7A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01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Hallazgo y conclusión — Comparar lo que responde cada diagrama y presentar las fuentes.</a:t>
            </a:r>
          </a:p>
        </p:txBody>
      </p:sp>
    </p:spTree>
    <p:extLst>
      <p:ext uri="{BB962C8B-B14F-4D97-AF65-F5344CB8AC3E}">
        <p14:creationId xmlns:p14="http://schemas.microsoft.com/office/powerpoint/2010/main" val="1077232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63AED-C3FB-4DAE-9B9A-14280B34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6FA05-8C85-4A01-868D-8452A38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B8E82-8A63-4664-8639-8F3E0BA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EVIDENCIA BIBLIOGRÁFICA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117DC-9E25-4865-8C2E-8060AF9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D3560-A350-446A-9ADB-438CA75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AFA5D-1C4D-417D-95C8-62DFC8D6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60923-C635-4D0B-BCAA-1EAF51AC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TRABAJO CON FUENTE FÍSICA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2DD2C-BC6D-4103-8615-D46E7D0A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Registrar dos evidencias del libro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E636F-7127-4159-A83F-69C98C0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Fotografíen una página útil por fuente y completen título, autor, edición y página.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105A5-3235-4BE5-B9B8-FB383D52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857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9A0C0-CE6F-455F-8FA9-5980AF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4552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6D4FB-9333-4E6D-87E7-103953C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0690A-CFC9-4D40-A003-BD6B00D8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LIBRO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32A23-2595-4B70-BCCB-3BA55DF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 · página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82554-F600-44B6-95D9-41AB79C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857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2B52F-EF96-4BF0-94C0-CF9B26C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90800"/>
            <a:ext cx="4552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6AA84-54DD-48C4-AC43-6D3DE1CD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957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30700-6407-4A6B-90BF-91876030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386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LIBRO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F87BC-341F-4FF6-A2C8-064C2E0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291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 · página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5FE11-637E-4029-9E3C-390C7637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439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14288">
            <a:solidFill>
              <a:srgbClr val="E8AA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141A1-A3F6-43A2-BB0E-6BF4805C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Pendiente: insertar fotos reales y confirmar la referencia bibliográfica antes de exponer.</a:t>
            </a:r>
          </a:p>
        </p:txBody>
      </p:sp>
    </p:spTree>
    <p:extLst>
      <p:ext uri="{BB962C8B-B14F-4D97-AF65-F5344CB8AC3E}">
        <p14:creationId xmlns:p14="http://schemas.microsoft.com/office/powerpoint/2010/main" val="2124879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16D94-F6E2-4B6B-8189-831C26E5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6238E-99A7-47E0-AB84-9156E609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FCF2A-56D8-4E20-AF23-A80CD51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FUENTES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4C471-E746-4469-A1ED-C93D675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2CBA5-863B-453D-BCBD-775A762C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50014-F2C8-44A3-BB77-F1122DEA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F924F-44FA-4FA5-857F-3CB0696C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BIBLIOGRAFÍA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43ED2-404F-4812-BBFA-9BE5FCCC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Fuentes consultadas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A2F24-3FB5-4645-BCC6-B45C32C9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Normas APA 7: revisar autor institucional, fecha, título y datos de publicación al entregar.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B4644-6853-4606-A082-CCB32E04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439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36B00-D11C-4B4C-8EF8-1FE40E45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Object Management Group. (2017). Unified Modeling Language (UML), Version 2.5.1, Clauses 13 and 14: State Machines.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E634D-FD00-496C-A427-C0BE013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0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https://www.omg.org/spec/UML/2.5.1/PDF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00DBF-7DBF-4310-8543-165E1844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0439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193DD-30AC-4856-8496-97E493B4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NASA Software Engineering Handbook. (s. f.). SWE-109: Software Requirements Specification, required states and modes.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B1E2-9D03-45D0-A041-0EAB620B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https://swehb.nasa.gov/spaces/7150/pages/16449740/SWE-109%2B-%2BSoftware%2BRequirements%2BSpecification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D0DB7-F719-455C-936A-12485F89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95CF3-CCF0-47DA-A935-6153B1C3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57875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Modelo, diagrama y caso de biblioteca: recursos didácticos elaborados para explicar la investigación.</a:t>
            </a:r>
          </a:p>
        </p:txBody>
      </p:sp>
    </p:spTree>
    <p:extLst>
      <p:ext uri="{BB962C8B-B14F-4D97-AF65-F5344CB8AC3E}">
        <p14:creationId xmlns:p14="http://schemas.microsoft.com/office/powerpoint/2010/main" val="266467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2026-10-06T13:13:33.0230000Z</dcterms:created>
  <dcterms:modified xsi:type="dcterms:W3CDTF">2026-10-06T13:13:33.0240000Z</dcterms:modified>
</coreProperties>
</file>