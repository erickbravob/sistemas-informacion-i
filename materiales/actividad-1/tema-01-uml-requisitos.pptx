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28e26e95e14f77" /><Relationship Type="http://schemas.openxmlformats.org/officeDocument/2006/relationships/extended-properties" Target="/docProps/app.xml" Id="R75251bedfa0a47e5" /><Relationship Type="http://schemas.openxmlformats.org/officeDocument/2006/relationships/officeDocument" Target="/ppt/presentation.xml" Id="R107058ef0caa49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5d0eade9c440b4"/>
  </p:sldMasterIdLst>
  <p:notesMasterIdLst>
    <p:notesMasterId xmlns:r="http://schemas.openxmlformats.org/officeDocument/2006/relationships" r:id="R49e9db32e94e400f"/>
  </p:notesMasterIdLst>
  <p:sldIdLst>
    <p:sldId xmlns:r="http://schemas.openxmlformats.org/officeDocument/2006/relationships" id="256" r:id="R890d0219661e48c3"/>
    <p:sldId xmlns:r="http://schemas.openxmlformats.org/officeDocument/2006/relationships" id="257" r:id="R480ac5e4ae0f4d40"/>
    <p:sldId xmlns:r="http://schemas.openxmlformats.org/officeDocument/2006/relationships" id="258" r:id="R34e3ea6918134993"/>
    <p:sldId xmlns:r="http://schemas.openxmlformats.org/officeDocument/2006/relationships" id="259" r:id="R2a2478a8e5184c04"/>
    <p:sldId xmlns:r="http://schemas.openxmlformats.org/officeDocument/2006/relationships" id="260" r:id="R2a3669f639354a51"/>
    <p:sldId xmlns:r="http://schemas.openxmlformats.org/officeDocument/2006/relationships" id="261" r:id="R2f7bedeab2044762"/>
    <p:sldId xmlns:r="http://schemas.openxmlformats.org/officeDocument/2006/relationships" id="262" r:id="Rf30f7c87b7a14d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3b8e500ab647ff" /><Relationship Type="http://schemas.openxmlformats.org/officeDocument/2006/relationships/slideMaster" Target="/ppt/slideMasters/slideMaster1.xml" Id="R245d0eade9c440b4" /><Relationship Type="http://schemas.openxmlformats.org/officeDocument/2006/relationships/notesMaster" Target="/ppt/notesMasters/notesMaster1.xml" Id="R49e9db32e94e400f" /><Relationship Type="http://schemas.openxmlformats.org/officeDocument/2006/relationships/presProps" Target="/ppt/presProps.xml" Id="Rfcd8354853e941e6" /><Relationship Type="http://schemas.openxmlformats.org/officeDocument/2006/relationships/tableStyles" Target="/ppt/tableStyles.xml" Id="R4d4b4536728f4f0f" /><Relationship Type="http://schemas.openxmlformats.org/officeDocument/2006/relationships/slide" Target="/ppt/slides/slide1.xml" Id="R890d0219661e48c3" /><Relationship Type="http://schemas.openxmlformats.org/officeDocument/2006/relationships/slide" Target="/ppt/slides/slide2.xml" Id="R480ac5e4ae0f4d40" /><Relationship Type="http://schemas.openxmlformats.org/officeDocument/2006/relationships/slide" Target="/ppt/slides/slide3.xml" Id="R34e3ea6918134993" /><Relationship Type="http://schemas.openxmlformats.org/officeDocument/2006/relationships/slide" Target="/ppt/slides/slide4.xml" Id="R2a2478a8e5184c04" /><Relationship Type="http://schemas.openxmlformats.org/officeDocument/2006/relationships/slide" Target="/ppt/slides/slide5.xml" Id="R2a3669f639354a51" /><Relationship Type="http://schemas.openxmlformats.org/officeDocument/2006/relationships/slide" Target="/ppt/slides/slide6.xml" Id="R2f7bedeab2044762" /><Relationship Type="http://schemas.openxmlformats.org/officeDocument/2006/relationships/slide" Target="/ppt/slides/slide7.xml" Id="Rf30f7c87b7a14d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01f78cb3184b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25eb18dccd4704" /><Relationship Type="http://schemas.openxmlformats.org/officeDocument/2006/relationships/notesMaster" Target="/ppt/notesMasters/notesMaster1.xml" Id="R30ee5e1704794c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baadbf70734eb0" /><Relationship Type="http://schemas.openxmlformats.org/officeDocument/2006/relationships/notesMaster" Target="/ppt/notesMasters/notesMaster1.xml" Id="Rdaf5b8910bc94c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4ac14a64b34ff6" /><Relationship Type="http://schemas.openxmlformats.org/officeDocument/2006/relationships/notesMaster" Target="/ppt/notesMasters/notesMaster1.xml" Id="R2c50b9be53174d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5e500e8c684e3a" /><Relationship Type="http://schemas.openxmlformats.org/officeDocument/2006/relationships/notesMaster" Target="/ppt/notesMasters/notesMaster1.xml" Id="R643e74cc4c3d49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8de5ceb02847af" /><Relationship Type="http://schemas.openxmlformats.org/officeDocument/2006/relationships/notesMaster" Target="/ppt/notesMasters/notesMaster1.xml" Id="R40b6808b432b40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1b2925818a4dd1" /><Relationship Type="http://schemas.openxmlformats.org/officeDocument/2006/relationships/notesMaster" Target="/ppt/notesMasters/notesMaster1.xml" Id="R3a99f90c699a4e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1cce83c7ae4819" /><Relationship Type="http://schemas.openxmlformats.org/officeDocument/2006/relationships/notesMaster" Target="/ppt/notesMasters/notesMaster1.xml" Id="R51c1112ec48d4d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tema asignado al grupo, los nombres completos de los cinco integrantes y la pregunta guía. La fotografía del grupo debe agregarse cuando esté disponible. La exposición dura diez minutos, dos minutos por integrante.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Necesidad y requisito: Una necesidad expresa un problema u objetivo de una persona interesada. El análisis la convierte en requisitos con alcance claro, una fuente identificable y una forma de comprobar su cumplimiento. NASA recomienda conservar la trazabilidad hacia la fuente y planificar la verificación. Requisito funcional: acción o servicio que el sistema debe ofrecer. Requisito de calidad o restricción: condición medible sobre desempeño, seguridad, interfaz, entorno u operación. “Fácil de usar” es una expectativa; debe concretarse en condiciones observables para poder evaluarla.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UML como lenguaje de modelado: El Lenguaje Unificado de Modelado (UML) define una notación para especificar, visualizar y documentar modelos de sistemas. No es por sí mismo un método completo de desarrollo. Cada diagrama muestra una perspectiva distinta; no se deben incluir todos si no responden a una pregunta del análisis. Comportamiento: casos de uso, actividades, secuencias y máquinas de estado. Estructura: clases, objetos, componentes y despliegue. Para esta actividad son relevantes los casos de uso, objetos, estados y clases de los cuatro temas.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aplicado a la biblioteca: Escenario didáctico, no tema asignado del proyecto final: un estudiante necesita localizar un libro. La búsqueda del catálogo es una función; un tiempo de respuesta acordado y verificable puede ser un requisito de desempeño. RF-01: el sistema permitirá buscar ejemplares por título o autor. RNF-01: bajo una carga y conjunto de datos acordados, el sistema responderá dentro de un tiempo objetivo definido por el cliente. Relación: RF-01 se representa en un caso de uso y se comprueba con una prueba de búsqueda. El objetivo temporal no se inventa: debe acordarse.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• Object Management Group. (2017). Unified Modeling Language (UML), Version 2.5.1.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NASA. (2016). NASA Systems Engineering Handbook (NASA/SP-2016-6105 Rev. 2), Appendix C: How to Write a Good Requirement.</a:t>
            </a:r>
          </a:p>
          <a:p xmlns:a="http://schemas.openxmlformats.org/drawingml/2006/main">
            <a:r>
              <a:t>  https://www.nasa.gov/reference/system-engineering-handbook-appendix/</a:t>
            </a:r>
          </a:p>
          <a:p xmlns:a="http://schemas.openxmlformats.org/drawingml/2006/main">
            <a:r>
              <a:t>• NASA Software Engineering Handbook. (s. f.). SWE-109: Software Requirements Specification.</a:t>
            </a:r>
          </a:p>
          <a:p xmlns:a="http://schemas.openxmlformats.org/drawingml/2006/main">
            <a:r>
              <a:t>  https://swehb.nasa.gov/spaces/7150/pages/16449740/SWE-109%2B-%2BSoftware%2BRequirements%2BSpecification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diagrama de izquierda a derecha. Señalar que el ejemplo de biblioteca es didáctico y no constituye un requisito del proyecto final. Fuentes:</a:t>
            </a:r>
          </a:p>
          <a:p xmlns:a="http://schemas.openxmlformats.org/drawingml/2006/main">
            <a:r>
              <a:t>• Object Management Group. (2017). Unified Modeling Language (UML), Version 2.5.1.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NASA. (2016). NASA Systems Engineering Handbook (NASA/SP-2016-6105 Rev. 2), Appendix C: How to Write a Good Requirement.</a:t>
            </a:r>
          </a:p>
          <a:p xmlns:a="http://schemas.openxmlformats.org/drawingml/2006/main">
            <a:r>
              <a:t>  https://www.nasa.gov/reference/system-engineering-handbook-appendix/</a:t>
            </a:r>
          </a:p>
          <a:p xmlns:a="http://schemas.openxmlformats.org/drawingml/2006/main">
            <a:r>
              <a:t>• NASA Software Engineering Handbook. (s. f.). SWE-109: Software Requirements Specification.</a:t>
            </a:r>
          </a:p>
          <a:p xmlns:a="http://schemas.openxmlformats.org/drawingml/2006/main">
            <a:r>
              <a:t>  https://swehb.nasa.gov/spaces/7150/pages/16449740/SWE-109%2B-%2BSoftware%2BRequirements%2BSpecification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Escenario didáctico, no tema asignado del proyecto final: un estudiante necesita localizar un libro. La búsqueda del catálogo es una función; un tiempo de respuesta acordado y verificable puede ser un requisito de desempeño.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RF-01: el sistema permitirá buscar ejemplares por título o autor.</a:t>
            </a:r>
          </a:p>
          <a:p xmlns:a="http://schemas.openxmlformats.org/drawingml/2006/main">
            <a:r>
              <a:t>RNF-01: bajo una carga y conjunto de datos acordados, el sistema responderá dentro de un tiempo objetivo definido por el cliente.</a:t>
            </a:r>
          </a:p>
          <a:p xmlns:a="http://schemas.openxmlformats.org/drawingml/2006/main">
            <a:r>
              <a:t>Relación: RF-01 se representa en un caso de uso y se comprueba con una prueba de búsqueda. El objetivo temporal no se inventa: debe acordarse.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</a:t>
            </a:r>
          </a:p>
          <a:p xmlns:a="http://schemas.openxmlformats.org/drawingml/2006/main">
            <a:r>
              <a:t>• Object Management Group. (2017). Unified Modeling Language (UML), Version 2.5.1.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NASA. (2016). NASA Systems Engineering Handbook (NASA/SP-2016-6105 Rev. 2), Appendix C: How to Write a Good Requirement.</a:t>
            </a:r>
          </a:p>
          <a:p xmlns:a="http://schemas.openxmlformats.org/drawingml/2006/main">
            <a:r>
              <a:t>  https://www.nasa.gov/reference/system-engineering-handbook-appendix/</a:t>
            </a:r>
          </a:p>
          <a:p xmlns:a="http://schemas.openxmlformats.org/drawingml/2006/main">
            <a:r>
              <a:t>• NASA Software Engineering Handbook. (s. f.). SWE-109: Software Requirements Specification.</a:t>
            </a:r>
          </a:p>
          <a:p xmlns:a="http://schemas.openxmlformats.org/drawingml/2006/main">
            <a:r>
              <a:t>  https://swehb.nasa.gov/spaces/7150/pages/16449740/SWE-109%2B-%2BSoftware%2BRequirements%2BSpecification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Guion de exposición de diez minutos. Asignar una parte de dos minutos a cada integrante. Cada persona puede desarrollar la explicación que aparece en pantalla con una idea principal y un ejemplo; eviten leer literalmente las diapositivas.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consigna exige investigación en fuentes físicas y digitales y al menos un libro físico consultado en biblioteca. Reemplazar estos espacios por fotos auténticas de las páginas consultadas. Registrar el título del libro y número de página visible; citar las fuentes utilizadas según APA 7. No presentar los espacios vacíos como evidencia cumplida.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consultadas para preparar el material. Ajustar el formato final a la guía APA 7 entregada por el docente.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• Object Management Group. (2017). Unified Modeling Language (UML), Version 2.5.1.</a:t>
            </a:r>
          </a:p>
          <a:p xmlns:a="http://schemas.openxmlformats.org/drawingml/2006/main">
            <a:r>
              <a:t>  https://www.omg.org/spec/UML/2.5.1/PDF</a:t>
            </a:r>
          </a:p>
          <a:p xmlns:a="http://schemas.openxmlformats.org/drawingml/2006/main">
            <a:r>
              <a:t>• NASA. (2016). NASA Systems Engineering Handbook (NASA/SP-2016-6105 Rev. 2), Appendix C: How to Write a Good Requirement.</a:t>
            </a:r>
          </a:p>
          <a:p xmlns:a="http://schemas.openxmlformats.org/drawingml/2006/main">
            <a:r>
              <a:t>  https://www.nasa.gov/reference/system-engineering-handbook-appendix/</a:t>
            </a:r>
          </a:p>
          <a:p xmlns:a="http://schemas.openxmlformats.org/drawingml/2006/main">
            <a:r>
              <a:t>• NASA Software Engineering Handbook. (s. f.). SWE-109: Software Requirements Specification.</a:t>
            </a:r>
          </a:p>
          <a:p xmlns:a="http://schemas.openxmlformats.org/drawingml/2006/main">
            <a:r>
              <a:t>  https://swehb.nasa.gov/spaces/7150/pages/16449740/SWE-109%2B-%2BSoftware%2BRequirements%2BSpecification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0692b2f1942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ea3e106723442f" /><Relationship Type="http://schemas.openxmlformats.org/officeDocument/2006/relationships/slideLayout" Target="/ppt/slideLayouts/slideLayout1.xml" Id="R9ed12a0a5bc94a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d12a0a5bc94a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cf7b1d32a4089" /><Relationship Type="http://schemas.openxmlformats.org/officeDocument/2006/relationships/notesSlide" Target="/ppt/notesSlides/notesSlide1.xml" Id="R453810e510af4a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68465a0054736" /><Relationship Type="http://schemas.openxmlformats.org/officeDocument/2006/relationships/notesSlide" Target="/ppt/notesSlides/notesSlide2.xml" Id="R769a3984ae244e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71c18c7004fc6" /><Relationship Type="http://schemas.openxmlformats.org/officeDocument/2006/relationships/notesSlide" Target="/ppt/notesSlides/notesSlide3.xml" Id="Rc08d53521a224c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42bf27e094de1" /><Relationship Type="http://schemas.openxmlformats.org/officeDocument/2006/relationships/notesSlide" Target="/ppt/notesSlides/notesSlide4.xml" Id="R833e97e9c57b4b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de240cc1b4de4" /><Relationship Type="http://schemas.openxmlformats.org/officeDocument/2006/relationships/notesSlide" Target="/ppt/notesSlides/notesSlide5.xml" Id="R45dba0f398eb45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27264ee994dd5" /><Relationship Type="http://schemas.openxmlformats.org/officeDocument/2006/relationships/notesSlide" Target="/ppt/notesSlides/notesSlide6.xml" Id="Rff63d353179a4f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88cbd526e4e57" /><Relationship Type="http://schemas.openxmlformats.org/officeDocument/2006/relationships/notesSlide" Target="/ppt/notesSlides/notesSlide7.xml" Id="Re4793ce5c10447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9FB75-C825-4A54-82F2-15476E86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856A9-7844-4B2D-87FF-E074F338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7E3C4"/>
                </a:solidFill>
                <a:latin typeface="Arial"/>
                <a:ea typeface="Arial"/>
                <a:cs typeface="Arial"/>
              </a:rPr>
              <a:t>ACTIVIDAD 1  /  INVESTIGACIÓN Y EXPOSICIÓN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12F89-5E7A-4648-A0E2-A9489B0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810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UML y requisitos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37661-3076-4282-9495-12FC803F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723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4E4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4E4E1"/>
                </a:solidFill>
                <a:latin typeface="Arial"/>
                <a:ea typeface="Arial"/>
                <a:cs typeface="Arial"/>
              </a:rPr>
              <a:t>¿Cómo convertimos una necesidad en algo que se pueda diseñar y comprobar?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0BA8B-6FFD-45F5-B3D1-09A3A6BD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9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9C8"/>
                </a:solidFill>
                <a:latin typeface="Arial"/>
                <a:ea typeface="Arial"/>
                <a:cs typeface="Arial"/>
              </a:rPr>
              <a:t>10 minutos  ·  5 integrantes  ·  Ejemplo didáctico: biblioteca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A9382-AE5B-4A41-923B-10DEF109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85900"/>
            <a:ext cx="2800350" cy="30289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E00DA-815E-4B6C-B2A7-0B54B99B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38300"/>
            <a:ext cx="24955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5880B-3A81-4D2E-BAAA-E222F59D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679FB-A4D8-490F-94DE-4C15E1B6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05275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B5683-3029-476A-B7B2-97A823D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95775"/>
            <a:ext cx="2457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Agregar foto real del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2C4BA-6185-483F-8377-56A5E30F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E3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E3C4"/>
                </a:solidFill>
                <a:latin typeface="Arial"/>
                <a:ea typeface="Arial"/>
                <a:cs typeface="Arial"/>
              </a:rPr>
              <a:t>Universidad  /  Sistemas de Información I</a:t>
            </a:r>
          </a:p>
        </p:txBody>
      </p:sp>
    </p:spTree>
    <p:extLst>
      <p:ext uri="{BB962C8B-B14F-4D97-AF65-F5344CB8AC3E}">
        <p14:creationId xmlns:p14="http://schemas.microsoft.com/office/powerpoint/2010/main" val="1481982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CBDCB-7B2B-48F6-B27D-1A5F02A7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1E5E5-2E8E-43C7-B632-65CDE459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8089E-D321-44EA-BC9C-0C0203CB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IDEAS CLAVE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DFD07-747A-4D9A-8803-436F9A46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D8E66-F55D-4C15-AC7A-5FA6E942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08FEA-5BFA-42BA-B208-852FF78B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DB6DA-6514-453E-8246-16BAED38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INVESTIGACIÓN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FC2EE-541E-4C3C-92C7-50C44519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Conceptos centrales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25652-745C-4FC1-BDBF-2DC7844A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Expresar qué necesita el sistema y representar sus vistas con modelos UML.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EE39D-3A3F-4F9E-A223-A16C3323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CD991-1E03-4048-84C0-B3C8C4B0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Necesidad y requisito: Una necesidad expresa un problema u objetivo de una persona interesada. El análisis la convierte en requisitos con alcance claro, una fuente identificable y una forma de comprobar su cumplimiento. NASA recomienda conservar la trazabilidad hacia la fuente y planificar la verificación.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3552F-4143-42B3-A606-875161C7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7DCE8-3B82-4D40-944E-34137734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90925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UML como lenguaje de modelado: El Lenguaje Unificado de Modelado (UML) define una notación para especificar, visualizar y documentar modelos de sistemas. No es por sí mismo un método completo de desarrollo. Cada diagrama muestra una perspectiva distinta; no se deben incluir todos si no responden a una pregunta del análisis.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391C7-554A-4885-BD88-C8009541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99D90-7386-485B-B81A-7958B9C9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1002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Ejemplo aplicado a la biblioteca: Escenario didáctico, no tema asignado del proyecto final: un estudiante necesita localizar un libro. La búsqueda del catálogo es una función; un tiempo de respuesta acordado y verificable puede ser un requisito de desempeño.</a:t>
            </a:r>
          </a:p>
        </p:txBody>
      </p:sp>
    </p:spTree>
    <p:extLst>
      <p:ext uri="{BB962C8B-B14F-4D97-AF65-F5344CB8AC3E}">
        <p14:creationId xmlns:p14="http://schemas.microsoft.com/office/powerpoint/2010/main" val="869327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68C2F-D237-46AC-88FC-1A9A9373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E8E3F-151E-4C2E-95DC-11966F39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75C01-FABE-4AD9-B85B-C822593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DIAGRAMA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7F53A-1066-4DA4-93A8-85BD2D8C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CF1F7-0FCD-4DDC-BAB7-52C020CC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D14C7-5F60-4E89-B45F-6650B996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DF231-9912-4171-844B-E90C8081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DE NECESIDAD A EVIDENCIA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560E0-0623-4B36-A0B6-DC4D18A4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Requisitos y UML cumplen funciones distintas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D0F54-F28A-4740-9007-A937A5D6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Un requisito expresa lo que se necesita; UML ayuda a describir y comunicar el diseño.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1BA82-DB9F-45AB-907A-A7B161E5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238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D6EAE-1054-47CD-BB2A-A7ABB83F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NECESIDAD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392F2-1CEB-4A09-9301-C8EF7D05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persona + problema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8281-8B75-47ED-91BF-92F59CC7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909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D82C0-EE3A-4A40-B3A6-7DFC081E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194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E8F87-189A-447A-804A-F86274ED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2238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FC73D-684D-404F-B33B-FA70C00C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62275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REQUISITO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018F6-EF0F-4B6B-980C-397B475C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3718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claro + verificable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618C1-38BF-4A20-B48B-F5F7E89B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BB2B0-E238-4345-BF3B-2B9645FB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194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8B32A-262B-4525-808B-2E375FEA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238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409E3-102D-440A-AF8B-5D58A063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62275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MODELO UML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9202E-87F2-47C5-A84F-575CE5F9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vista del sistema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8E779-5C44-4AD4-A987-E8731DE7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909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7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EDF91-FEC3-434A-97AF-1C9CEBB4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194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F475B-B0C0-4BA6-A9F8-D398E3BF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81300"/>
            <a:ext cx="2238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B7E3C4"/>
          </a:solidFill>
          <a:ln xmlns:a="http://schemas.openxmlformats.org/drawingml/2006/main" w="14288">
            <a:solidFill>
              <a:srgbClr val="007C7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95A12-09CA-4BC5-A2D0-924C976B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62275"/>
            <a:ext cx="1971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VERIFICACIÓN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3649F-573F-426F-B86E-F079E156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371850"/>
            <a:ext cx="1971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evidencia de cumplimiento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92C62-A45C-44F0-AD9B-61828C48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76300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02B3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606F08-E36F-4B95-B620-57091B2A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7202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E3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E3C4"/>
                </a:solidFill>
                <a:latin typeface="Arial"/>
                <a:ea typeface="Arial"/>
                <a:cs typeface="Arial"/>
              </a:rPr>
              <a:t>RF-01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6A6F07-1A62-447E-A2AE-D744D709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244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Buscar ejemplares por título o autor.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8FD2CD-823D-4F0C-A59C-3AE80617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95875"/>
            <a:ext cx="704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8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8D6"/>
                </a:solidFill>
                <a:latin typeface="Arial"/>
                <a:ea typeface="Arial"/>
                <a:cs typeface="Arial"/>
              </a:rPr>
              <a:t>Comprobación: caso de prueba con resultados esperados.</a:t>
            </a:r>
          </a:p>
        </p:txBody>
      </p:sp>
    </p:spTree>
    <p:extLst>
      <p:ext uri="{BB962C8B-B14F-4D97-AF65-F5344CB8AC3E}">
        <p14:creationId xmlns:p14="http://schemas.microsoft.com/office/powerpoint/2010/main" val="1464536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0806A-DFAC-42A8-ADF8-608646C2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7A064-3594-4C3D-9B48-9FB6D5B7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E24EB-5005-4B7C-8EB8-E28CFB0A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EJEMPLO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BD143-4721-41C1-8C3E-8BB13EDD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EF81E-4D15-4CFA-9A30-C8C2C35A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A8E39-4FC4-4BF8-BA51-CE087268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FEC08-B560-45C0-B623-487B9091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97A05-C95C-4260-8667-BFC7E615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Un ejemplo paso a paso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8B42A-06FD-4136-9541-997B3899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Caso ilustrativo de una biblioteca; validar las reglas antes de aplicarlas a un sistema real.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1D5D2-6D66-49F2-9979-8CDE98EF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92F31-BDE7-4141-8D35-1ED3C862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RF-01: el sistema permitirá buscar ejemplares por título o autor.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FD70D-921F-4901-978A-48E6B3F0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A56F9-C10E-46A0-994D-B056768F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RNF-01: bajo una carga y conjunto de datos acordados, el sistema responderá dentro de un tiempo objetivo definido por el cliente.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D2B2F-F9A1-4534-AD4C-9F72BAAC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031B3-57AA-4910-AC56-80CBF0C6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Relación: RF-01 se representa en un caso de uso y se comprueba con una prueba de búsqueda. El objetivo temporal no se inventa: debe acordarse.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B7EBF-2927-4287-B2ED-DDCCBC7A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14925"/>
            <a:ext cx="10191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378FA-E507-4BA7-9682-68481F2D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Pregunta para el curso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9014D-CF41-4876-810E-84034FB4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38775"/>
            <a:ext cx="960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¿Qué dato, regla o evidencia faltaría para validar este modelo?</a:t>
            </a:r>
          </a:p>
        </p:txBody>
      </p:sp>
    </p:spTree>
    <p:extLst>
      <p:ext uri="{BB962C8B-B14F-4D97-AF65-F5344CB8AC3E}">
        <p14:creationId xmlns:p14="http://schemas.microsoft.com/office/powerpoint/2010/main" val="454662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711CF2-E18C-48AF-B505-DBEAB971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F993E-7614-4E5C-A546-32BA1EBC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3DF84-34DA-4B96-8DC2-D1E2F272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GUION DE EXPOSICIÓN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891B-E448-470C-B54C-A777A365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9C06E-7C10-4AD7-B11A-064C62F2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3B5E0-27DA-4CA4-A0B5-372D938B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E2F22-ADE3-4893-832E-EF5395E2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PRESENTACIÓN ORAL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C594C-1B36-4721-8045-44464E82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Diez minutos, cinco partes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5F7BF-2CD0-49DA-935B-E08A1553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Reemplacen “Integrante” por los nombres del equipo. Cada parte dura dos minutos.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0F961-6F48-4BB9-BDB3-497886C4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D1ADA-E1F4-41E1-9E8A-7078610B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C7F50-3E76-4A65-B973-E79D2DFD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669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1  ·  2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C0DC0-3E29-4EC2-92ED-EA9CC55A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669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Planteamiento y requisito — Presentar la consigna, la necesidad y la diferencia entre necesidad y requisito.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3619C-B0C5-4D4E-937F-995FC08D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0F5FA-F1F4-4D0B-9A89-8F8176C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3DB3C-9F2B-4CBA-87EA-FF00F661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527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2  ·  2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6AB60-BB2D-4FB7-8C44-D205FF9F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527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Funciones y condiciones — Explicar requisitos funcionales frente a condiciones de calidad, con los ejemplos RF-01 y RNF-01.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ED53B-C1EC-4AB2-B1E5-1B26F2B0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586FE-C150-4264-85E6-897DD8D8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A38C4-1F67-492E-A048-FD6157E4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3  ·  2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6BA4F-9FA4-4BA6-8D9F-7A6A9BF9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385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UML y sus vistas — Definir UML y mostrar qué pregunta responden los diagramas de comportamiento y estructura.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F82C5-12FF-4436-AE10-82632534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47054-2D72-4F6D-9EB3-CB323590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D1BA5-A354-49FC-BA37-3939208E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24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4  ·  2 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DFB9B8-D14A-435C-9FF3-14E6C417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Trazabilidad — Recorrer el ejemplo desde una necesidad hasta requisito, modelo y forma de verificación.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EEB41F-4FFD-48A1-9B24-A12ECE31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0BE441-EB34-4A77-ADB2-4F2A0AEC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837C07-4F13-4AB9-96A5-C7A0CE1F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01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Integrante 5  ·  2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80076D-C9A3-45E6-9490-FE4F6F11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10175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C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C3A"/>
                </a:solidFill>
                <a:latin typeface="Arial"/>
                <a:ea typeface="Arial"/>
                <a:cs typeface="Arial"/>
              </a:rPr>
              <a:t>Hallazgo y conclusión — Resumir por qué los requisitos necesitan ser claros y comprobables; presentar las fuentes.</a:t>
            </a:r>
          </a:p>
        </p:txBody>
      </p:sp>
    </p:spTree>
    <p:extLst>
      <p:ext uri="{BB962C8B-B14F-4D97-AF65-F5344CB8AC3E}">
        <p14:creationId xmlns:p14="http://schemas.microsoft.com/office/powerpoint/2010/main" val="612939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86073-DF2F-43EF-9AE1-7DF26F93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75D20-1E3E-454B-9D49-26AC374F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B2A22-420E-4244-910B-5DF6B4AD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EVIDENCIA BIBLIOGRÁFICA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7193C-1603-486E-875B-518F1AE3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AB26E-ACAE-45AD-9164-7C9547BC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B4437-27E6-404F-9FDE-12754209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4FD76-DADD-4CCE-B1ED-C675ECD0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TRABAJO CON FUENTE FÍSICA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F3797-BB65-4201-8635-FC8AACB9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Registrar dos evidencias del libro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747E9-8658-49A7-89E0-5F8EF9E5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Fotografíen una página útil por fuente y completen título, autor, edición y página.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05F1B-7072-40B8-BFB7-29AC8352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8577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D9148-D138-4AAE-A23A-8AFDE5FE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4552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9B58D-4727-4D97-B88B-FB1B4987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6EA63-4076-46BE-ADA5-7C55E477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LIBRO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1D1C7-E478-4B97-979A-3F4FCF98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29175"/>
            <a:ext cx="451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Título · autor · edición · página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0B829-FD3D-4F20-9126-8A9DB11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8577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A5F00-22D0-4A40-8E90-05D689D3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90800"/>
            <a:ext cx="4552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9EFEC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2659A-9A57-49E3-914E-A9B94A40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95700"/>
            <a:ext cx="432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FOTO PENDIENTE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84EE0-7071-4808-9BC4-7DEF3AFF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38675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FOTO DEL LIBRO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3106A-B7DE-4D70-B90E-B5A5087C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29175"/>
            <a:ext cx="451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Título · autor · edición · página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350F8-EF1E-45F4-96BE-56A2B0B6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439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14288">
            <a:solidFill>
              <a:srgbClr val="E8AA5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E83F5-6E0D-411A-B68B-D039C605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1005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Pendiente: insertar fotos reales y confirmar la referencia bibliográfica antes de exponer.</a:t>
            </a:r>
          </a:p>
        </p:txBody>
      </p:sp>
    </p:spTree>
    <p:extLst>
      <p:ext uri="{BB962C8B-B14F-4D97-AF65-F5344CB8AC3E}">
        <p14:creationId xmlns:p14="http://schemas.microsoft.com/office/powerpoint/2010/main" val="613545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E5CE9-4642-468A-835F-A372149D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E5293-2796-407F-94B7-F030DFB4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SISTEMAS DE INFORMACIÓN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37597-2B8A-4DEC-9A23-68354B16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FUENTES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61905-B0CE-407D-A076-03BCF3F9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B9196-C9C0-455F-B630-0108AF21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E6F76"/>
                </a:solidFill>
                <a:latin typeface="Arial"/>
                <a:ea typeface="Arial"/>
                <a:cs typeface="Arial"/>
              </a:rPr>
              <a:t>ACTIVIDAD 1  ·  TEMA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AE305-C9BF-437C-8D82-FAAAFAEA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CEBD5-9B7F-42BF-9E2D-7C5D2A85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7C78"/>
                </a:solidFill>
                <a:latin typeface="Arial"/>
                <a:ea typeface="Arial"/>
                <a:cs typeface="Arial"/>
              </a:rPr>
              <a:t>BIBLIOGRAFÍA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F9EA8-5A78-4C5A-A57F-D51DC2BF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Fuentes consultadas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AFBC1-7800-49DC-B4C4-3CA536D4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Normas APA 7: revisar autor institucional, fecha, título y datos de publicación al entregar.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B14CF-FD53-4800-B1FF-CE2FF47B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439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8099C-1D6E-464C-A7AD-ED8793BE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Object Management Group. (2017). Unified Modeling Language (UML), Version 2.5.1.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2A331-FE94-4250-B24C-CDCA3699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86075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https://www.omg.org/spec/UML/2.5.1/PDF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69123-FE03-42DD-8D2F-10532EE4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0439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18D31-4044-40D9-A8BE-701EAF61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9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NASA. (2016). NASA Systems Engineering Handbook (NASA/SP-2016-6105 Rev. 2), Appendix C: How to Write a Good Requirement.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442C3-CC73-4B89-A7E5-F1C6D03C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https://www.nasa.gov/reference/system-engineering-handbook-appendix/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8DDEB-A8C7-480D-B928-97B966BB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10439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D3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FFE21-0AF4-47DA-8106-93B65F1F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B3A"/>
                </a:solidFill>
                <a:latin typeface="Arial"/>
                <a:ea typeface="Arial"/>
                <a:cs typeface="Arial"/>
              </a:rPr>
              <a:t>NASA Software Engineering Handbook. (s. f.). SWE-109: Software Requirements Specification.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08380-0DAF-40F1-B494-4EDCDC75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7C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07C78"/>
                </a:solidFill>
                <a:latin typeface="Arial"/>
                <a:ea typeface="Arial"/>
                <a:cs typeface="Arial"/>
              </a:rPr>
              <a:t>https://swehb.nasa.gov/spaces/7150/pages/16449740/SWE-109%2B-%2BSoftware%2BRequirements%2BSpecification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AB9D6-5001-473C-8362-DCFF29F6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2EFE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D133A-9828-4F2B-802A-CAF02D3B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57875"/>
            <a:ext cx="1013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F7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F76"/>
                </a:solidFill>
                <a:latin typeface="Arial"/>
                <a:ea typeface="Arial"/>
                <a:cs typeface="Arial"/>
              </a:rPr>
              <a:t>Modelo, diagrama y caso de biblioteca: recursos didácticos elaborados para explicar la investigación.</a:t>
            </a:r>
          </a:p>
        </p:txBody>
      </p:sp>
    </p:spTree>
    <p:extLst>
      <p:ext uri="{BB962C8B-B14F-4D97-AF65-F5344CB8AC3E}">
        <p14:creationId xmlns:p14="http://schemas.microsoft.com/office/powerpoint/2010/main" val="883704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2026-10-06T13:13:15.1700000Z</dcterms:created>
  <dcterms:modified xsi:type="dcterms:W3CDTF">2026-10-06T13:13:15.1700000Z</dcterms:modified>
</coreProperties>
</file>