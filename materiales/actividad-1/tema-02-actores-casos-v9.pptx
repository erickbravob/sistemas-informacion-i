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Relationship Id="rId3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ACTORES Y CASOS DE USO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  <p:sp>
        <p:nvSpPr>
          <p:cNvPr id="22" name="Rounded Rectangle 21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5230368" y="2084831"/>
            <a:ext cx="1828800" cy="1426464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53228" y="2107692"/>
            <a:ext cx="1783080" cy="1380744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oto-grup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0096" y="2139696"/>
            <a:ext cx="1609344" cy="12070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actor representa un rol externo con un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ACTORES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LÍMITE DEL SISTEMA Y METAS OBSERVABLES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993392" y="1755648"/>
            <a:ext cx="5888736" cy="3200400"/>
          </a:xfrm>
          <a:prstGeom prst="rect">
            <a:avLst/>
          </a:prstGeom>
          <a:noFill/>
          <a:ln w="13970">
            <a:solidFill>
              <a:srgbClr val="41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49424" y="1481328"/>
            <a:ext cx="539496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416CBB"/>
                </a:solidFill>
                <a:latin typeface="Calibri"/>
              </a:rPr>
              <a:t>SISTEMA DE BIBLIOTECA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005840" y="2377440"/>
            <a:ext cx="1755648" cy="21031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6940296" y="2377440"/>
            <a:ext cx="1664208" cy="21031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005840" y="2587752"/>
            <a:ext cx="1755648" cy="1527048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6940296" y="2587752"/>
            <a:ext cx="1664208" cy="1527048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77824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05840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676656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6" name="Connector 15"/>
          <p:cNvCxnSpPr/>
          <p:nvPr/>
        </p:nvCxnSpPr>
        <p:spPr>
          <a:xfrm flipH="1">
            <a:off x="704088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05840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02336" y="3264408"/>
            <a:ext cx="132588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Usuario lector</a:t>
            </a:r>
          </a:p>
        </p:txBody>
      </p:sp>
      <p:sp>
        <p:nvSpPr>
          <p:cNvPr id="19" name="Oval 18"/>
          <p:cNvSpPr/>
          <p:nvPr/>
        </p:nvSpPr>
        <p:spPr>
          <a:xfrm>
            <a:off x="8476488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604504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8275320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2" name="Connector 21"/>
          <p:cNvCxnSpPr/>
          <p:nvPr/>
        </p:nvCxnSpPr>
        <p:spPr>
          <a:xfrm flipH="1">
            <a:off x="830275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8604504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8001000" y="3264408"/>
            <a:ext cx="10058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Personal bibliotecario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61488" y="1938528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1938528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catálogo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65776" y="1938528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1938528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Solicitar reserva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61488" y="3675887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6352" y="3675887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Registrar préstamo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65776" y="3675887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675887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Emitir reportes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lector consulta o reserva; el personal registra préstamos y emite reportes. Cada actor representa un rol, no una persona concreta.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Casos de uso de una biblioteca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frontera del sistema separa actores y 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ALCANCE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EL MODELO ACLARA QUÉ OFRECE EL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536192"/>
            <a:ext cx="33375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ENTORNO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74336" y="1536192"/>
            <a:ext cx="33375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16CBB"/>
                </a:solidFill>
                <a:latin typeface="Calibri"/>
              </a:rPr>
              <a:t>SISTEMA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011680"/>
            <a:ext cx="3310128" cy="21579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10912" y="2011680"/>
            <a:ext cx="3310128" cy="215798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88720" y="2651760"/>
            <a:ext cx="2423160" cy="7863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651760"/>
            <a:ext cx="2313432" cy="7863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Actor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rol que inicia o participa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04688" y="2651760"/>
            <a:ext cx="2423160" cy="7863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59551" y="2651760"/>
            <a:ext cx="2313432" cy="7863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Caso de uso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resultado observable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96511" y="3090672"/>
            <a:ext cx="877825" cy="0"/>
          </a:xfrm>
          <a:prstGeom prst="line">
            <a:avLst/>
          </a:prstGeom>
          <a:ln w="22860">
            <a:solidFill>
              <a:srgbClr val="0075A9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4096512" y="2340864"/>
            <a:ext cx="9144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INTERACCIÓN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498848"/>
            <a:ext cx="7360920" cy="56692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La frontera delimita lo que realiza el software. Los actores permanecen fuera y se relacionan con sus servicios.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Object Management Group, UML 2.5.1, cláusula 18  ·  as of 6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Include y extend expresan relaciones con significados distintos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DIRECCIÓN Y CONDICIÓN CAMBIAN LA LECTURA DEL MODELO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2962656" y="2779776"/>
            <a:ext cx="493775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 flipH="1">
            <a:off x="5724144" y="2779776"/>
            <a:ext cx="411480" cy="0"/>
          </a:xfrm>
          <a:prstGeom prst="line">
            <a:avLst/>
          </a:prstGeom>
          <a:ln w="19050">
            <a:solidFill>
              <a:srgbClr val="0075A9"/>
            </a:solidFill>
            <a:prstDash val="dash"/>
            <a:tailEnd type="triangle" w="med" len="med"/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2240280" y="1938528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«include»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0992" y="1938528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«extend»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Validar solicitud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comportamiento requerido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Registrar préstamo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caso 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Aplicar excepción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amplía bajo condición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«include» ejecuta una conducta obligatoria; «extend» agrega una conducta opcional bajo condición.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Diagrama esquemático de notación  ·  as of 6 de octubre de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funciones visibles del catálogo UPDS se modelan como casos de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INTERACCIONES VISIBLES EN EL CATÁLOGO PÚBLICO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773936"/>
            <a:ext cx="6144768" cy="3246120"/>
          </a:xfrm>
          <a:prstGeom prst="rect">
            <a:avLst/>
          </a:prstGeom>
          <a:noFill/>
          <a:ln w="13970">
            <a:solidFill>
              <a:srgbClr val="41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1472184"/>
            <a:ext cx="566928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416CBB"/>
                </a:solidFill>
                <a:latin typeface="Calibri"/>
              </a:rPr>
              <a:t>CATÁLOGO PÚBLICO DE BIBLIOTECA UPDS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987552" y="2542032"/>
            <a:ext cx="1417320" cy="4572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7406640" y="2542032"/>
            <a:ext cx="1014984" cy="4572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87552" y="2587752"/>
            <a:ext cx="1417320" cy="167335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87552" y="2587752"/>
            <a:ext cx="768096" cy="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755648" y="2587752"/>
            <a:ext cx="0" cy="2295144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755648" y="4882896"/>
            <a:ext cx="4572000" cy="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327648" y="4791456"/>
            <a:ext cx="0" cy="9144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859536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87552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58368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9" name="Connector 18"/>
          <p:cNvCxnSpPr/>
          <p:nvPr/>
        </p:nvCxnSpPr>
        <p:spPr>
          <a:xfrm flipH="1">
            <a:off x="685800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98755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384048" y="3264408"/>
            <a:ext cx="1261872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Visitante del catálogo</a:t>
            </a:r>
          </a:p>
        </p:txBody>
      </p:sp>
      <p:sp>
        <p:nvSpPr>
          <p:cNvPr id="22" name="Oval 21"/>
          <p:cNvSpPr/>
          <p:nvPr/>
        </p:nvSpPr>
        <p:spPr>
          <a:xfrm>
            <a:off x="8293608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421624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8092440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5" name="Connector 24"/>
          <p:cNvCxnSpPr/>
          <p:nvPr/>
        </p:nvCxnSpPr>
        <p:spPr>
          <a:xfrm flipH="1">
            <a:off x="811987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8421624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7818120" y="3264408"/>
            <a:ext cx="118872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Visitante que reserva*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04872" y="2011680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59736" y="2011680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Buscar registros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48656" y="2011680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0" y="2011680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ficha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04872" y="3730752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59736" y="3730752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Revisar ejemplares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48656" y="3730752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730752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disponibilidad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modelo representa interacciones públicas del catálogo. Los procesos internos de biblioteca quedan fuera del alcance.</a:t>
            </a:r>
          </a:p>
        </p:txBody>
      </p:sp>
      <p:sp>
        <p:nvSpPr>
          <p:cNvPr id="38" name="TextBox 37">
            <a:hlinkClick r:id="rId2"/>
          </p:cNvPr>
          <p:cNvSpPr txBox="1"/>
          <p:nvPr/>
        </p:nvSpPr>
        <p:spPr>
          <a:xfrm>
            <a:off x="713232" y="5138928"/>
            <a:ext cx="27432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funciones observables en sus registros · modelo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flujo textual desarrolla el comportamiento del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FLUJO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SECUENCIA DE INTERACCIÓN COMPLEMENTA EL DIAGRAMA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1 · 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plantea el objetivo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del caso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2 · PRECONDICIÓN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condición necesaria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antes de empezar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3 · FLUJO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acciones y respuestas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del sistema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93392" y="3419856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57984" y="3639312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4 · ALTERNATIVA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3986784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excepción o ruta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condicional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28032" y="3419856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3639312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5 · RESULTADO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2624" y="3986784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estado alcanzado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al finalizar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caso de uso nombra el resultado de valor; su flujo detalla cómo actor y sistema llegan a ese resultado.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Bibliografía digital UCB  ·  as of 6 de octubre de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Cada elemento del diagrama responde una pregunta del análisis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ACTOR · CASO DE USO · FRONTERA · ASOCIACIÓN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554480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73936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67128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Rol externo que usa o interactúa con el sistema.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73168" y="1554480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6048" y="1773936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CASO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2167128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Servicio que entrega un resultado de valor al 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3310128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529584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FRONTERA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922776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Delimita las funciones que pertenecen al software.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73168" y="3310128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6048" y="3529584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ASOCIACIÓN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922776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Vínculo que indica quién participa en una función.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Integrar UML en los proyectos, UCB Santa Cruz  ·  as of 6 de octubre de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Actores y casos de uso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64008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LIBRO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635508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UML con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3550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Gesvin Romero Moreno · Grupo Editorial Megabyte · 1.ª ed., 2004 · pp. 18–19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749808" y="493776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bibliográfica ↗</a:t>
            </a:r>
          </a:p>
        </p:txBody>
      </p:sp>
      <p:sp>
        <p:nvSpPr>
          <p:cNvPr id="22" name="Rounded Rectangle 21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7370064" y="4005072"/>
            <a:ext cx="877824" cy="1133856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92924" y="4027932"/>
            <a:ext cx="832103" cy="1088136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áginas consultadas de UML con Rational Rose sobre actores y casos de uso.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4927" y="4059936"/>
            <a:ext cx="768096" cy="10241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Actores y casos de uso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02</dc:subject>
  <cp:keywords>UPDS, UML, actores, casos de uso, catálogo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