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biblioteca.upds.edu.bo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1392" TargetMode="External"/><Relationship Id="rId3" Type="http://schemas.openxmlformats.org/officeDocument/2006/relationships/hyperlink" Target="https://dspace.scz.ucb.edu.bo/dspace/handle/123456789/1178" TargetMode="External"/><Relationship Id="rId4" Type="http://schemas.openxmlformats.org/officeDocument/2006/relationships/hyperlink" Target="https://biblioteca.upds.edu.bo/biblioteca/index.php?id=2516&amp;lvl=categ_se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0" y="402336"/>
            <a:ext cx="50749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ACTIVIDAD 1 · TEMA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713232"/>
            <a:ext cx="5074920" cy="8503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1D4696"/>
                </a:solidFill>
                <a:latin typeface="Calibri Light"/>
              </a:rPr>
              <a:t>ACTORES Y CASOS DE USO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5887" y="1618488"/>
            <a:ext cx="498348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E293B"/>
                </a:solidFill>
                <a:latin typeface="Calibri"/>
              </a:rPr>
              <a:t>Sistemas de Información 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2148840"/>
            <a:ext cx="489204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905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633472"/>
            <a:ext cx="461772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03320" y="3630168"/>
            <a:ext cx="4800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Ashley Aguilar Perez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03320" y="4151376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Nicolas Soria Yabeta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4151376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Erick Bravo Borges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4718304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0488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Jose Manuel Callecusi Guarachi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4718304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5093208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Ruben Churqui Limachi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3320" y="5285232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5742432"/>
            <a:ext cx="47548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48B"/>
                </a:solidFill>
                <a:latin typeface="Calibri"/>
              </a:rPr>
              <a:t>Universidad Privada Domingo Savio</a:t>
            </a:r>
          </a:p>
        </p:txBody>
      </p:sp>
      <p:pic>
        <p:nvPicPr>
          <p:cNvPr id="21" name="Picture 20" descr="foto-grupa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512" y="2148840"/>
            <a:ext cx="1810512" cy="13578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Un actor representa un rol externo con un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ACTORES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LÍMITE DEL SISTEMA Y METAS OBSERVABLES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993392" y="1755648"/>
            <a:ext cx="5888736" cy="3200400"/>
          </a:xfrm>
          <a:prstGeom prst="rect">
            <a:avLst/>
          </a:prstGeom>
          <a:noFill/>
          <a:ln w="13970">
            <a:solidFill>
              <a:srgbClr val="416C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49424" y="1481328"/>
            <a:ext cx="539496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416CBB"/>
                </a:solidFill>
                <a:latin typeface="Calibri"/>
              </a:rPr>
              <a:t>SISTEMA DE BIBLIOTECA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1005840" y="2377440"/>
            <a:ext cx="1755648" cy="210312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6940296" y="2377440"/>
            <a:ext cx="1664208" cy="210312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005840" y="2587752"/>
            <a:ext cx="1755648" cy="1527048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2" name="Connector 11"/>
          <p:cNvCxnSpPr/>
          <p:nvPr/>
        </p:nvCxnSpPr>
        <p:spPr>
          <a:xfrm flipH="1">
            <a:off x="6940296" y="2587752"/>
            <a:ext cx="1664208" cy="1527048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877824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05840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676656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6" name="Connector 15"/>
          <p:cNvCxnSpPr/>
          <p:nvPr/>
        </p:nvCxnSpPr>
        <p:spPr>
          <a:xfrm flipH="1">
            <a:off x="704088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1005840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402336" y="3264408"/>
            <a:ext cx="132588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Usuario lector</a:t>
            </a:r>
          </a:p>
        </p:txBody>
      </p:sp>
      <p:sp>
        <p:nvSpPr>
          <p:cNvPr id="19" name="Oval 18"/>
          <p:cNvSpPr/>
          <p:nvPr/>
        </p:nvSpPr>
        <p:spPr>
          <a:xfrm>
            <a:off x="8476488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604504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8275320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2" name="Connector 21"/>
          <p:cNvCxnSpPr/>
          <p:nvPr/>
        </p:nvCxnSpPr>
        <p:spPr>
          <a:xfrm flipH="1">
            <a:off x="8302752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8604504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8001000" y="3264408"/>
            <a:ext cx="10058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Personal bibliotecario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61488" y="1938528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1938528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Consultar catálogo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65776" y="1938528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1938528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Solicitar reserva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61488" y="3675887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16352" y="3675887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Registrar préstamo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65776" y="3675887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675887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Emitir reportes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394960"/>
            <a:ext cx="7726679" cy="45720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5468112"/>
            <a:ext cx="743407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lector consulta o reserva; el personal registra préstamos y emite reportes. Cada actor representa un rol, no una persona concreta.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Casos de uso de una biblioteca  ·  as of 6 de octubre de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 frontera del sistema separa actores y servicios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ALCANCE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EL MODELO ACLARA QUÉ OFRECE EL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536192"/>
            <a:ext cx="33375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ENTORNO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74336" y="1536192"/>
            <a:ext cx="33375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16CBB"/>
                </a:solidFill>
                <a:latin typeface="Calibri"/>
              </a:rPr>
              <a:t>SISTEMA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011680"/>
            <a:ext cx="3310128" cy="215798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10912" y="2011680"/>
            <a:ext cx="3310128" cy="215798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88720" y="2651760"/>
            <a:ext cx="2423160" cy="78638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651760"/>
            <a:ext cx="2313432" cy="7863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Actor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rol que inicia o participa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04688" y="2651760"/>
            <a:ext cx="2423160" cy="78638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59551" y="2651760"/>
            <a:ext cx="2313432" cy="7863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Caso de uso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resultado observable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96511" y="3090672"/>
            <a:ext cx="877825" cy="0"/>
          </a:xfrm>
          <a:prstGeom prst="line">
            <a:avLst/>
          </a:prstGeom>
          <a:ln w="22860">
            <a:solidFill>
              <a:srgbClr val="0075A9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4096512" y="2340864"/>
            <a:ext cx="91440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075A9"/>
                </a:solidFill>
                <a:latin typeface="Calibri"/>
              </a:rPr>
              <a:t>INTERACCIÓN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498848"/>
            <a:ext cx="7360920" cy="56692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293B"/>
                </a:solidFill>
                <a:latin typeface="Calibri"/>
              </a:rPr>
              <a:t>La frontera delimita lo que realiza el software. Los actores permanecen fuera y se relacionan con sus servicios.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Object Management Group, UML 2.5.1, cláusula 18  ·  as of 6 de octubre de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Include y extend expresan relaciones con significados distintos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UML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DIRECCIÓN Y CONDICIÓN CAMBIAN LA LECTURA DEL MODELO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2962656" y="2779776"/>
            <a:ext cx="493775" cy="0"/>
          </a:xfrm>
          <a:prstGeom prst="line">
            <a:avLst/>
          </a:prstGeom>
          <a:ln w="19050">
            <a:solidFill>
              <a:srgbClr val="416CBB"/>
            </a:solidFill>
            <a:prstDash val="dash"/>
            <a:tailEnd type="triangle" w="med" len="med"/>
          </a:ln>
          <a:effectLst/>
        </p:spPr>
      </p:cxnSp>
      <p:cxnSp>
        <p:nvCxnSpPr>
          <p:cNvPr id="8" name="Connector 7"/>
          <p:cNvCxnSpPr/>
          <p:nvPr/>
        </p:nvCxnSpPr>
        <p:spPr>
          <a:xfrm flipH="1">
            <a:off x="5724144" y="2779776"/>
            <a:ext cx="411480" cy="0"/>
          </a:xfrm>
          <a:prstGeom prst="line">
            <a:avLst/>
          </a:prstGeom>
          <a:ln w="19050">
            <a:solidFill>
              <a:srgbClr val="0075A9"/>
            </a:solidFill>
            <a:prstDash val="dash"/>
            <a:tailEnd type="triangle" w="med" len="med"/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2240280" y="1938528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«include»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0992" y="1938528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«extend»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86000"/>
            <a:ext cx="2194560" cy="9875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286000"/>
            <a:ext cx="2084831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Validar solicitud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comportamiento requerido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93008" y="2286000"/>
            <a:ext cx="2194560" cy="98755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2286000"/>
            <a:ext cx="2084831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Registrar préstamo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caso base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286000"/>
            <a:ext cx="2194560" cy="98755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2286000"/>
            <a:ext cx="2084831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Aplicar excepción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amplía bajo condición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3949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54681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«include» ejecuta una conducta obligatoria; «extend» agrega una conducta opcional bajo condición.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Diagrama esquemático de notación  ·  as of 6 de octubre de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funciones visibles del catálogo UPDS se modelan como casos de uso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CASO REAL · UPDS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INTERACCIONES VISIBLES EN EL CATÁLOGO PÚBLICO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773936"/>
            <a:ext cx="6144768" cy="3246120"/>
          </a:xfrm>
          <a:prstGeom prst="rect">
            <a:avLst/>
          </a:prstGeom>
          <a:noFill/>
          <a:ln w="13970">
            <a:solidFill>
              <a:srgbClr val="416C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1472184"/>
            <a:ext cx="5669280" cy="2103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416CBB"/>
                </a:solidFill>
                <a:latin typeface="Calibri"/>
              </a:rPr>
              <a:t>CATÁLOGO PÚBLICO DE BIBLIOTECA UPDS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987552" y="2542032"/>
            <a:ext cx="1417320" cy="4572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7406640" y="2542032"/>
            <a:ext cx="1014984" cy="4572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987552" y="2587752"/>
            <a:ext cx="1417320" cy="1673352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87552" y="2587752"/>
            <a:ext cx="768096" cy="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755648" y="2587752"/>
            <a:ext cx="0" cy="2295144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755648" y="4882896"/>
            <a:ext cx="4572000" cy="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327648" y="4791456"/>
            <a:ext cx="0" cy="9144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859536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87552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658368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9" name="Connector 18"/>
          <p:cNvCxnSpPr/>
          <p:nvPr/>
        </p:nvCxnSpPr>
        <p:spPr>
          <a:xfrm flipH="1">
            <a:off x="685800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987552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384048" y="3264408"/>
            <a:ext cx="1261872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Visitante del catálogo</a:t>
            </a:r>
          </a:p>
        </p:txBody>
      </p:sp>
      <p:sp>
        <p:nvSpPr>
          <p:cNvPr id="22" name="Oval 21"/>
          <p:cNvSpPr/>
          <p:nvPr/>
        </p:nvSpPr>
        <p:spPr>
          <a:xfrm>
            <a:off x="8293608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421624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8092440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5" name="Connector 24"/>
          <p:cNvCxnSpPr/>
          <p:nvPr/>
        </p:nvCxnSpPr>
        <p:spPr>
          <a:xfrm flipH="1">
            <a:off x="8119872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8421624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7818120" y="3264408"/>
            <a:ext cx="118872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Visitante que reserva*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04872" y="2011680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59736" y="2011680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Buscar registros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48656" y="2011680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0" y="2011680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Consultar ficha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04872" y="3730752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59736" y="3730752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Revisar ejemplares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48656" y="3730752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0" y="3730752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Consultar disponibilidad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53949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" y="54681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modelo representa interacciones públicas del catálogo. Los procesos internos de biblioteca quedan fuera del alcance.</a:t>
            </a:r>
          </a:p>
        </p:txBody>
      </p:sp>
      <p:sp>
        <p:nvSpPr>
          <p:cNvPr id="38" name="TextBox 37">
            <a:hlinkClick r:id="rId2"/>
          </p:cNvPr>
          <p:cNvSpPr txBox="1"/>
          <p:nvPr/>
        </p:nvSpPr>
        <p:spPr>
          <a:xfrm>
            <a:off x="713232" y="5138928"/>
            <a:ext cx="274320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Abrir catálogo público UPDS 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funciones observables en sus registros · modelo propuesto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flujo textual desarrolla el comportamiento del caso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FLUJO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SECUENCIA DE INTERACCIÓN COMPLEMENTA EL DIAGRAMA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17904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37360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1 · 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084831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plantea el objetivo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del caso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1517904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737360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2 · PRECONDICIÓN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084831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condición necesaria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antes de empezar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1517904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1737360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3 · FLUJO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2084831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acciones y respuestas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del sistema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93392" y="3419856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57984" y="3639312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4 · ALTERNATIVA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984" y="3986784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excepción o ruta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condicional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28032" y="3419856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3639312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5 · RESULTADO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2624" y="3986784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estado alcanzado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al finalizar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394960"/>
            <a:ext cx="7726679" cy="45720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5468112"/>
            <a:ext cx="743407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caso de uso nombra el resultado de valor; su flujo detalla cómo actor y sistema llegan a ese resultado.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Bibliografía digital UCB  ·  as of 6 de octubre de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Cada elemento del diagrama responde una pregunta del análisis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ACTOR · CASO DE USO · FRONTERA · ASOCIACIÓN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554480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73936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67128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Rol externo que usa o interactúa con el sistema.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73168" y="1554480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6048" y="1773936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CASO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048" y="2167128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Servicio que entrega un resultado de valor al actor.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3310128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529584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FRONTERA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922776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Delimita las funciones que pertenecen al software.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73168" y="3310128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56048" y="3529584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ASOCIACIÓN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922776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Vínculo que indica quién participa en una función.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Integrar UML en los proyectos, UCB Santa Cruz  ·  as of 6 de octubre de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Tres libros en español disponibles en catálogos bolivianos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Actores y casos de uso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BIBLIOTECA UCB · LIBRO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Integrar UML en los proyectos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Nathalie Lopez · Jorge Migueis · Emmanuel Pichon · 1.ª ed.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BIBLIOTECA UCB · LIBRO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El proceso unificado de desarrollo de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Ivar Jacobson · Grady Booch · James Rumbaugh · 1.ª ed.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IMPRESO · CATÁLOGO UPDS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Análisis y diseño orientado a objetos con UML y Rational Rose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Sergio Matsukawa · Empresa Editora Macro · 2004 · 520 p.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6903720" y="4937760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UPDS 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Catálogo digital UCB Santa Cruz · Catálogo UPDS · referencias registradas por tema  ·  as of 6 de octubre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Actores y casos de uso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02</dc:subject>
  <cp:keywords>UPDS, UML, actores, casos de uso, catálogo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