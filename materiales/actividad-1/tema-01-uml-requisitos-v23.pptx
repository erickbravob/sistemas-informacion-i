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UML Y REQUISITOS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  <p:sp>
        <p:nvSpPr>
          <p:cNvPr id="22" name="Rounded Rectangle 21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5230368" y="2084831"/>
            <a:ext cx="1828800" cy="1426464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3228" y="2107692"/>
            <a:ext cx="1783080" cy="1380744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oto-grupa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6" y="2139696"/>
            <a:ext cx="1609344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Cliente y usuario aportan perspectivas distintas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INTERESADOS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DOS FUENTES COMPLEMENTARIAS PARA DEFINIR 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28032" y="1554480"/>
            <a:ext cx="3703320" cy="19659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CLIENTE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objetivos y prioridades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883664"/>
            <a:ext cx="1353312" cy="731520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7" y="1883664"/>
            <a:ext cx="1243584" cy="73152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USUARIO FINAL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tareas y experiencia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Define el valor esperado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Aprueba alcance y criterios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1883664"/>
            <a:ext cx="1700784" cy="10515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Describe el trabajo real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 i="0">
                <a:solidFill>
                  <a:srgbClr val="1E293B"/>
                </a:solidFill>
                <a:latin typeface="Calibri"/>
              </a:rPr>
              <a:t>Aporta contexto de operación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44952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5641848" y="4215384"/>
            <a:ext cx="45720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941832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problema u objetivo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Requisito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función o condición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5624" y="3794760"/>
            <a:ext cx="2066544" cy="841248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3794760"/>
            <a:ext cx="1956816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Criterio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evidencia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92040"/>
            <a:ext cx="7726679" cy="3840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4965192"/>
            <a:ext cx="743407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Una misma persona puede asumir ambos roles cuando quien define el sistema también lo utiliza.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Investigación de la materia  ·  as of 6 de octubre de 2026</a:t>
            </a:r>
          </a:p>
        </p:txBody>
      </p:sp>
      <p:sp>
        <p:nvSpPr>
          <p:cNvPr id="26" name="Rounded Rectangle 25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requisito convierte una necesidad en algo verificable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TRAZABILIDAD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DE LA SOLICITUD AL RESULTADO COMPROBADO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7732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4480560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6533388" y="2596896"/>
            <a:ext cx="182880" cy="0"/>
          </a:xfrm>
          <a:prstGeom prst="line">
            <a:avLst/>
          </a:prstGeom>
          <a:ln w="22860">
            <a:solidFill>
              <a:srgbClr val="0075A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594360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Necesidad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localizar una obra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7188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2052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RF-01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buscar por título o autor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0016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Modelo UML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caso de uso de búsqueda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4" y="1920240"/>
            <a:ext cx="1796795" cy="135331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905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7708" y="1920240"/>
            <a:ext cx="1687067" cy="13533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esperado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94760"/>
            <a:ext cx="365760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fuente explica por qué existe la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794760"/>
            <a:ext cx="370332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El criterio determina qué evidencia confirma su cumplimiento.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trazabilidad conecta cada cambio con su modelo y prueba, conserva el origen y facilita la verificación.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NASA, guía de requisitos  ·  as of 6 de octubre de 2026</a:t>
            </a:r>
          </a:p>
        </p:txBody>
      </p:sp>
      <p:sp>
        <p:nvSpPr>
          <p:cNvPr id="23" name="Rounded Rectangle 22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Una función y su cualidad se especifican con criterios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QUÉ OFRECE EL SISTEMA Y BAJO QUÉ CONDICIONES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7780">
            <a:solidFill>
              <a:srgbClr val="416CB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73168" y="1481328"/>
            <a:ext cx="3749039" cy="329184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778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REQUISITO FUNCIONAL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Buscar ejemplares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El sistema busca por título o autor y devuelve coincidencias. La función describe una capacidad observable del catálogo.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746504"/>
            <a:ext cx="320040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REQUISITO DE CALIDAD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21408"/>
            <a:ext cx="320040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D4696"/>
                </a:solidFill>
                <a:latin typeface="Calibri"/>
              </a:rPr>
              <a:t>Tiempo de respuesta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70048"/>
            <a:ext cx="318211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93B"/>
                </a:solidFill>
                <a:latin typeface="Calibri"/>
              </a:rPr>
              <a:t>Define cuánto puede tardar esa búsqueda bajo carga y datos acordados. El valor se mide; no se supone.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función indica qué hace el sistema; el requisito de calidad precisa con qué nivel debe hacerlo.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NASA Systems Engineering Handbook · Ejemplo de análisis  ·  as of 6 de octubre de 2026</a:t>
            </a:r>
          </a:p>
        </p:txBody>
      </p:sp>
      <p:sp>
        <p:nvSpPr>
          <p:cNvPr id="18" name="Rounded Rectangle 17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componentes organizan una vista conceptual del 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MODELO CONCEPTUAL DEL CATÁLOGO PÚBLICO UPDS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Interfaz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acceso a los servicios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Aplicación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Interfaz de consulta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901952"/>
            <a:ext cx="210312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48256"/>
            <a:ext cx="1773936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«componente» · C3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368296"/>
            <a:ext cx="1847087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D4696"/>
                </a:solidFill>
                <a:latin typeface="Calibri"/>
              </a:rPr>
              <a:t>Base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807208"/>
            <a:ext cx="18470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E293B"/>
                </a:solidFill>
                <a:latin typeface="Calibri"/>
              </a:rPr>
              <a:t>Registros y disponibilidad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52928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5650992" y="2578608"/>
            <a:ext cx="621792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804672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1 · La interfaz presenta los registros consultables.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3749039"/>
            <a:ext cx="3749039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2 · La ficha muestra los datos publicados y sus ejemplares.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97680"/>
            <a:ext cx="71323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Rectángulo: bloque conceptual     Flecha: relación entre funciones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736592"/>
            <a:ext cx="7726679" cy="51206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809744"/>
            <a:ext cx="7434071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La vista organiza la consulta de registros y ejemplares; no representa la arquitectura interna de UPDS.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OMG, UML 2.5.1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catálogo UPDS permite buscar y revisar registros bibliográficos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DISPONIBLES EN EL CATÁLOGO PÚBLICO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2112" y="1975104"/>
            <a:ext cx="2788920" cy="1207008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36976" y="1975104"/>
            <a:ext cx="2679191" cy="12070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CATÁLOGO PÚBLICO
Biblioteca UPDS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2809" y="2079704"/>
            <a:ext cx="403117" cy="59421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 flipV="1">
            <a:off x="2741511" y="2799906"/>
            <a:ext cx="406394" cy="127977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 flipH="1">
            <a:off x="6007203" y="2081951"/>
            <a:ext cx="357425" cy="53584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 flipH="1" flipV="1">
            <a:off x="5981837" y="2800076"/>
            <a:ext cx="384129" cy="123026"/>
          </a:xfrm>
          <a:prstGeom prst="line">
            <a:avLst/>
          </a:prstGeom>
          <a:ln w="16510">
            <a:solidFill>
              <a:srgbClr val="416CBB"/>
            </a:solidFill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987552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Fichas bibliográficas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572768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1572768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834640"/>
            <a:ext cx="1719072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34640"/>
            <a:ext cx="1609343" cy="7498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Disponibilidad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886200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DATOS Y FUNCIONES OBSERVABLES EN LAS FICHAS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por título o autor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75304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Búsqueda
registros bibliográficos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45936" y="4315968"/>
            <a:ext cx="1965960" cy="8229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315968"/>
            <a:ext cx="1856231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Ejemplares
disponibilidad consultable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28" name="TextBox 27">
            <a:hlinkClick r:id="rId2"/>
          </p:cNvPr>
          <p:cNvSpPr txBox="1"/>
          <p:nvPr/>
        </p:nvSpPr>
        <p:spPr>
          <a:xfrm>
            <a:off x="822960" y="5303520"/>
            <a:ext cx="292608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búsqueda, fichas y ejemplares visibles · modelo analítico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calidad del catálogo se expresa con criterios verificables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CALIDAD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MÉTODOS QUE LA FICHA DE LA INVESTIGACIÓN DECLARA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6584" y="2542032"/>
            <a:ext cx="448056" cy="0"/>
          </a:xfrm>
          <a:prstGeom prst="line">
            <a:avLst/>
          </a:prstGeom>
          <a:ln w="21590">
            <a:solidFill>
              <a:srgbClr val="0075A9"/>
            </a:solidFill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V="1">
            <a:off x="4735398" y="2101065"/>
            <a:ext cx="733907" cy="192214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4735368" y="2794007"/>
            <a:ext cx="733967" cy="194725"/>
          </a:xfrm>
          <a:prstGeom prst="line">
            <a:avLst/>
          </a:prstGeom>
          <a:ln w="19050">
            <a:solidFill>
              <a:srgbClr val="416CBB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49808" y="2011680"/>
            <a:ext cx="1600200" cy="106070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011680"/>
            <a:ext cx="14904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Sistema
catálogo público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6" y="2011680"/>
            <a:ext cx="1828800" cy="1060704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011680"/>
            <a:ext cx="1719072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Calidad
criterios de consulta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141732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1" y="141732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Estructura interna
no publicada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04688" y="283464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1" y="2834640"/>
            <a:ext cx="1828800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Prueba propuesta
búsqueda y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criterios de aceptación son propuestas académicas; el catálogo público no expone resultados de pruebas internas ni métricas de desempeño.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métricas y pruebas propuestas para este análisis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UML y requisitos del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LIBRO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sp>
        <p:nvSpPr>
          <p:cNvPr id="23" name="Rounded Rectangle 22"/>
          <p:cNvSpPr/>
          <p:nvPr/>
        </p:nvSpPr>
        <p:spPr>
          <a:gradFill rotWithShape="1">
            <a:gsLst>
              <a:gs pos="0">
                <a:srgbClr val="16B9B0"/>
              </a:gs>
              <a:gs pos="42000">
                <a:srgbClr val="F5C66A"/>
              </a:gs>
              <a:gs pos="72000">
                <a:srgbClr val="6D7BF7"/>
              </a:gs>
              <a:gs pos="100000">
                <a:srgbClr val="16B9B0"/>
              </a:gs>
            </a:gsLst>
            <a:lin ang="2700000" scaled="1"/>
          </a:gradFill>
          <a:xfrm>
            <a:off x="8266175" y="6245352"/>
            <a:ext cx="768096" cy="576072"/>
          </a:xfrm>
          <a:prstGeom prst="roundRect">
            <a:avLst/>
          </a:prstGeom>
          <a:ln w="139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89036" y="6268212"/>
            <a:ext cx="722375" cy="530352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6286500"/>
            <a:ext cx="658368" cy="493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UML y requisitos del sistema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01</dc:subject>
  <cp:keywords>UPDS, UML, requisitos, catálogo bibliográfico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