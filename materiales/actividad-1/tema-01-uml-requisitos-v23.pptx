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repositorio.upea.bo/jspui/handle/123456789/91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dspace.scz.ucb.edu.bo/dspace/handle/123456789/1392" TargetMode="External"/><Relationship Id="rId3" Type="http://schemas.openxmlformats.org/officeDocument/2006/relationships/hyperlink" Target="https://dspace.scz.ucb.edu.bo/dspace/handle/123456789/1178" TargetMode="External"/><Relationship Id="rId4" Type="http://schemas.openxmlformats.org/officeDocument/2006/relationships/hyperlink" Target="https://biblioteca.upds.edu.bo/biblioteca/index.php?id=2516&amp;lvl=categ_se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0" y="402336"/>
            <a:ext cx="50749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ACTIVIDAD 1 · TEMA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713232"/>
            <a:ext cx="5074920" cy="8503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D4696"/>
                </a:solidFill>
                <a:latin typeface="Calibri Light"/>
              </a:rPr>
              <a:t>UML Y REQUISITOS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1618488"/>
            <a:ext cx="498348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Calibri"/>
              </a:rPr>
              <a:t>Sistemas de Información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148840"/>
            <a:ext cx="489204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905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633472"/>
            <a:ext cx="461772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D4696"/>
                </a:solidFill>
                <a:latin typeface="Calibri"/>
              </a:rPr>
              <a:t>FOTOGRAFÍA DEL GRUPO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630168"/>
            <a:ext cx="4800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4151376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4151376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718304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4718304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5093208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5285232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5742432"/>
            <a:ext cx="47548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Universidad Privada Domingo Savio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Cliente y usuario aportan perspectivas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01 · INTERESADOS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DOS FUENTES COMPLEMENTARIAS PARA DEFINIR EL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8032" y="155448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83664"/>
            <a:ext cx="1353312" cy="7315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83664"/>
            <a:ext cx="1243584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objetivos y prioridades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883664"/>
            <a:ext cx="1353312" cy="7315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7" y="1883664"/>
            <a:ext cx="1243584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USUARIO FINAL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tareas y experiencia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883664"/>
            <a:ext cx="1700784" cy="10515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Define el valor esperado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Aprueba alcance y criterios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883664"/>
            <a:ext cx="1700784" cy="10515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Describe el trabajo real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Aporta contexto de operación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44952" y="4215384"/>
            <a:ext cx="45720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5641848" y="4215384"/>
            <a:ext cx="45720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941832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problema u objetivo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8728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Requisito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función o condición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4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Criterio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evidencia observable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92040"/>
            <a:ext cx="7726679" cy="3840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965192"/>
            <a:ext cx="7434071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Una misma persona puede asumir ambos roles cuando quien define el sistema también lo utiliza.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NASA Systems Engineering Handbook · Investigación de la materia  ·  as of 6 de octubre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 requisito convierte una necesidad en algo verificable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02 · 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DE LA SOLICITUD AL RESULTADO COMPROBADO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7732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480560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6533388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594360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localizar una obra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7188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905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2052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RF-01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buscar por título o autor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Modelo UML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caso de uso de búsqueda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2844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7708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Prueba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resultado esperado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65760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La fuente explica por qué existe la función.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94760"/>
            <a:ext cx="370332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El criterio determina qué evidencia confirma su cumplimiento.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394960"/>
            <a:ext cx="7726679" cy="56692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5468112"/>
            <a:ext cx="7434071" cy="42062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trazabilidad conecta cada cambio con su modelo y prueba, conserva el origen y facilita la verificación.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NASA, guía de requisitos  ·  as of 6 de octubre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Una función y su cualidad se especifican con criterios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03 ·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QUÉ OFRECE EL SISTEMA Y BAJO QUÉ CONDICIONES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7780">
            <a:solidFill>
              <a:srgbClr val="416C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481328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778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46504"/>
            <a:ext cx="3200400" cy="2103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16CBB"/>
                </a:solidFill>
                <a:latin typeface="Calibri"/>
              </a:rPr>
              <a:t>REQUISITO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21408"/>
            <a:ext cx="3200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4696"/>
                </a:solidFill>
                <a:latin typeface="Calibri"/>
              </a:rPr>
              <a:t>Buscar ejemplares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70048"/>
            <a:ext cx="318211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El sistema busca por título o autor y devuelve coincidencias. La función describe una capacidad observable del catálogo.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46504"/>
            <a:ext cx="3200400" cy="2103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REQUISITO DE CALIDAD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21408"/>
            <a:ext cx="3200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4696"/>
                </a:solidFill>
                <a:latin typeface="Calibri"/>
              </a:rPr>
              <a:t>Tiempo de 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70048"/>
            <a:ext cx="318211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Define cuánto puede tardar esa búsqueda bajo carga y datos acordados. El valor se mide; no se supone.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función indica qué hace el sistema; el requisito de calidad precisa con qué nivel debe hacerlo.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NASA Systems Engineering Handbook · Ejemplo de análisis  ·  as of 6 de octubre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UML representa la arquitectura en 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04 ·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VISTA CONCEPTUAL BASADA EN LA TESIS DE LA BIBLIOTECA CENTRAL UPEA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Interfaz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acceso a los servicios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PHP · lógica bibliotecaria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PostgreSQL · información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52928" y="2578608"/>
            <a:ext cx="621792" cy="0"/>
          </a:xfrm>
          <a:prstGeom prst="line">
            <a:avLst/>
          </a:prstGeom>
          <a:ln w="19050">
            <a:solidFill>
              <a:srgbClr val="416CBB"/>
            </a:solidFill>
            <a:prstDash val="dash"/>
            <a:tail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5650992" y="2578608"/>
            <a:ext cx="621792" cy="0"/>
          </a:xfrm>
          <a:prstGeom prst="line">
            <a:avLst/>
          </a:prstGeom>
          <a:ln w="19050">
            <a:solidFill>
              <a:srgbClr val="416CBB"/>
            </a:solidFill>
            <a:prstDash val="dash"/>
            <a:tail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04672" y="3749039"/>
            <a:ext cx="3749039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1 · La interfaz solicita servicios a la aplicación.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749039"/>
            <a:ext cx="3749039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2 · La aplicación consulta o registra datos.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71323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416CBB"/>
                </a:solidFill>
                <a:latin typeface="Calibri"/>
              </a:rPr>
              <a:t>Rectángulo: componente de software     Flecha discontinua: dependencia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736592"/>
            <a:ext cx="7726679" cy="51206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809744"/>
            <a:ext cx="7434071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tesis reporta web, PHP y PostgreSQL; UML organiza esa arquitectura en componentes.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Tintaya Villavicencio, R. (2013). Repositorio Institucional UPEA · OMG, UML 2.5.1  ·  as of 6 de octubre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 UPEA documenta préstamos, reservas, reportes y estadísticas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05 · CASO UPEA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BIBLIOTECA CENTRAL · SISTEMA DE INFORMACIÓN CON INTERFAZ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975104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6976" y="1975104"/>
            <a:ext cx="2679191" cy="12070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SISTEMA WEB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Biblioteca Central UPEA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2809" y="2079704"/>
            <a:ext cx="403117" cy="59421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2741511" y="2799906"/>
            <a:ext cx="406394" cy="127977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6007203" y="2081951"/>
            <a:ext cx="357425" cy="53584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5981837" y="2800076"/>
            <a:ext cx="384129" cy="123026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987552" y="1572768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572768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Préstamos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2834640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834640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Reservas remotas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72768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572768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Reportes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34640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34640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Estadísticas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862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MÉTODO Y TECNOLOGÍA DECLARADOS EN EL REGISTRO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UWE / UML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análisis y modelado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5304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PHP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lógica de la aplicación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PostgreSQL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almacenamiento de datos</a:t>
            </a:r>
          </a:p>
        </p:txBody>
      </p:sp>
      <p:sp>
        <p:nvSpPr>
          <p:cNvPr id="28" name="TextBox 27">
            <a:hlinkClick r:id="rId2"/>
          </p:cNvPr>
          <p:cNvSpPr txBox="1"/>
          <p:nvPr/>
        </p:nvSpPr>
        <p:spPr>
          <a:xfrm>
            <a:off x="822960" y="5303520"/>
            <a:ext cx="292608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416CBB"/>
                </a:solidFill>
                <a:latin typeface="Calibri"/>
              </a:rPr>
              <a:t>Abrir registro institucional UPEA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Tintaya Villavicencio, R. (2013). Repositorio Institucional UPEA, ficha PG-0015  ·  as of 6 de octubre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 tesis registra evaluación con McCall y pruebas de caja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06 ·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MÉTODOS QUE LA FICHA DE LA INVESTIGACIÓN DECLARA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6584" y="2542032"/>
            <a:ext cx="448056" cy="0"/>
          </a:xfrm>
          <a:prstGeom prst="line">
            <a:avLst/>
          </a:prstGeom>
          <a:ln w="2159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4735398" y="2101065"/>
            <a:ext cx="733907" cy="192214"/>
          </a:xfrm>
          <a:prstGeom prst="line">
            <a:avLst/>
          </a:prstGeom>
          <a:ln w="19050">
            <a:solidFill>
              <a:srgbClr val="416CBB"/>
            </a:solidFill>
            <a:tailEnd type="triangle" w="med" len="med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4735368" y="2794007"/>
            <a:ext cx="733967" cy="194725"/>
          </a:xfrm>
          <a:prstGeom prst="line">
            <a:avLst/>
          </a:prstGeom>
          <a:ln w="19050">
            <a:solidFill>
              <a:srgbClr val="416CBB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49808" y="2011680"/>
            <a:ext cx="1600200" cy="1060704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011680"/>
            <a:ext cx="1490472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Sistema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biblioteca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011680"/>
            <a:ext cx="1828800" cy="1060704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1719072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Calidad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factores del modelo McCall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1417320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1" y="1417320"/>
            <a:ext cx="1828800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Caja blanca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estructura y rutas internas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2834640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1" y="2834640"/>
            <a:ext cx="1828800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Caja negra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entradas y respuestas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tesis declara McCall y ambas pruebas. Su resumen no publica resultados ni métricas de evaluación.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Tintaya Villavicencio, R. (2013). Resumen del proyecto de grado, UPEA  ·  as of 6 de octubre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Tres libros en español disponibles en catálogos bolivianos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TEMA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955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Calibri"/>
              </a:rPr>
              <a:t>Referencias para profundizar · UML y requisitos del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BIBLIOTECA UCB · LIBRO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Integrar UML en los proyectos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6903720" y="2157984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1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BIBLIOTECA UCB · LIBRO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El proceso unificado de desarrollo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6903720" y="3547872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2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IMPRESO · CATÁLOGO UPDS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Análisis y diseño orientado a objetos con UML y Rational Rose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54296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Sergio Matsukawa · Empresa Editora Macro · 2004 · 520 p.</a:t>
            </a:r>
          </a:p>
        </p:txBody>
      </p:sp>
      <p:sp>
        <p:nvSpPr>
          <p:cNvPr id="21" name="TextBox 20">
            <a:hlinkClick r:id="rId4"/>
          </p:cNvPr>
          <p:cNvSpPr txBox="1"/>
          <p:nvPr/>
        </p:nvSpPr>
        <p:spPr>
          <a:xfrm>
            <a:off x="6903720" y="4937760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Consultar ficha UPDS 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Catálogo digital UCB Santa Cruz · Catálogo UPDS · referencias registradas por tema  ·  as of 6 de octubre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y requisitos del sistema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 · Tema 01</dc:subject>
  <cp:keywords>UPDS, UML, requisitos, biblioteca UPEA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