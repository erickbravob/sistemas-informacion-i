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72d368ad2145ec" /><Relationship Type="http://schemas.openxmlformats.org/officeDocument/2006/relationships/extended-properties" Target="/docProps/app.xml" Id="R6dfacf1a38474a72" /><Relationship Type="http://schemas.openxmlformats.org/officeDocument/2006/relationships/officeDocument" Target="/ppt/presentation.xml" Id="Rdb9d5fae726148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22887f1594790"/>
  </p:sldMasterIdLst>
  <p:notesMasterIdLst>
    <p:notesMasterId xmlns:r="http://schemas.openxmlformats.org/officeDocument/2006/relationships" r:id="R7af813415d6c46e0"/>
  </p:notesMasterIdLst>
  <p:sldIdLst>
    <p:sldId xmlns:r="http://schemas.openxmlformats.org/officeDocument/2006/relationships" id="256" r:id="Rbbddfe462ea84073"/>
    <p:sldId xmlns:r="http://schemas.openxmlformats.org/officeDocument/2006/relationships" id="257" r:id="R359bd80022e0475e"/>
    <p:sldId xmlns:r="http://schemas.openxmlformats.org/officeDocument/2006/relationships" id="258" r:id="R1b4d23f167bf4dae"/>
    <p:sldId xmlns:r="http://schemas.openxmlformats.org/officeDocument/2006/relationships" id="259" r:id="R1409b2db703e4cfe"/>
    <p:sldId xmlns:r="http://schemas.openxmlformats.org/officeDocument/2006/relationships" id="260" r:id="Rf6ddb76d62894bb6"/>
    <p:sldId xmlns:r="http://schemas.openxmlformats.org/officeDocument/2006/relationships" id="261" r:id="Rf1356da13a79492f"/>
    <p:sldId xmlns:r="http://schemas.openxmlformats.org/officeDocument/2006/relationships" id="262" r:id="R8f149cfcd1c44041"/>
    <p:sldId xmlns:r="http://schemas.openxmlformats.org/officeDocument/2006/relationships" id="263" r:id="R37294a651ad24a1a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4856478c1a4dde" /><Relationship Type="http://schemas.openxmlformats.org/officeDocument/2006/relationships/slideMaster" Target="/ppt/slideMasters/slideMaster1.xml" Id="R47122887f1594790" /><Relationship Type="http://schemas.openxmlformats.org/officeDocument/2006/relationships/notesMaster" Target="/ppt/notesMasters/notesMaster1.xml" Id="R7af813415d6c46e0" /><Relationship Type="http://schemas.openxmlformats.org/officeDocument/2006/relationships/presProps" Target="/ppt/presProps.xml" Id="R5c81a9aa684049b4" /><Relationship Type="http://schemas.openxmlformats.org/officeDocument/2006/relationships/viewProps" Target="/ppt/viewProps.xml" Id="Rf03f59f30d1f4a00" /><Relationship Type="http://schemas.openxmlformats.org/officeDocument/2006/relationships/tableStyles" Target="/ppt/tableStyles.xml" Id="R5d733e1a421c43c2" /><Relationship Type="http://schemas.openxmlformats.org/officeDocument/2006/relationships/slide" Target="/ppt/slides/slide1.xml" Id="Rbbddfe462ea84073" /><Relationship Type="http://schemas.openxmlformats.org/officeDocument/2006/relationships/slide" Target="/ppt/slides/slide2.xml" Id="R359bd80022e0475e" /><Relationship Type="http://schemas.openxmlformats.org/officeDocument/2006/relationships/slide" Target="/ppt/slides/slide3.xml" Id="R1b4d23f167bf4dae" /><Relationship Type="http://schemas.openxmlformats.org/officeDocument/2006/relationships/slide" Target="/ppt/slides/slide4.xml" Id="R1409b2db703e4cfe" /><Relationship Type="http://schemas.openxmlformats.org/officeDocument/2006/relationships/slide" Target="/ppt/slides/slide5.xml" Id="Rf6ddb76d62894bb6" /><Relationship Type="http://schemas.openxmlformats.org/officeDocument/2006/relationships/slide" Target="/ppt/slides/slide6.xml" Id="Rf1356da13a79492f" /><Relationship Type="http://schemas.openxmlformats.org/officeDocument/2006/relationships/slide" Target="/ppt/slides/slide7.xml" Id="R8f149cfcd1c44041" /><Relationship Type="http://schemas.openxmlformats.org/officeDocument/2006/relationships/slide" Target="/ppt/slides/slide8.xml" Id="R37294a651ad2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98e346e83a4b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499f2bba8a4a3d" /><Relationship Type="http://schemas.openxmlformats.org/officeDocument/2006/relationships/notesMaster" Target="/ppt/notesMasters/notesMaster1.xml" Id="R30a07c2c929b4d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f69b527caa49fa" /><Relationship Type="http://schemas.openxmlformats.org/officeDocument/2006/relationships/notesMaster" Target="/ppt/notesMasters/notesMaster1.xml" Id="R56c5b6c2cbd540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f7f84c5be842f7" /><Relationship Type="http://schemas.openxmlformats.org/officeDocument/2006/relationships/notesMaster" Target="/ppt/notesMasters/notesMaster1.xml" Id="Rf633a054dfd2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553842aa864aee" /><Relationship Type="http://schemas.openxmlformats.org/officeDocument/2006/relationships/notesMaster" Target="/ppt/notesMasters/notesMaster1.xml" Id="Rec044d43b22b46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782631c8bd4104" /><Relationship Type="http://schemas.openxmlformats.org/officeDocument/2006/relationships/notesMaster" Target="/ppt/notesMasters/notesMaster1.xml" Id="Rbf2499a64e584e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9fde3b97bf4954" /><Relationship Type="http://schemas.openxmlformats.org/officeDocument/2006/relationships/notesMaster" Target="/ppt/notesMasters/notesMaster1.xml" Id="Rc06e775d90c849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1989a969f4582" /><Relationship Type="http://schemas.openxmlformats.org/officeDocument/2006/relationships/notesMaster" Target="/ppt/notesMasters/notesMaster1.xml" Id="Rff1dafb1487146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98e62dd9c044ad" /><Relationship Type="http://schemas.openxmlformats.org/officeDocument/2006/relationships/notesMaster" Target="/ppt/notesMasters/notesMaster1.xml" Id="R980698d0ac494c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66bc1d8394f08" /><Relationship Type="http://schemas.openxmlformats.org/officeDocument/2006/relationships/image" Target="/ppt/media/image.jpeg" Id="R562cfe59ff2645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159d965ce4d34" /><Relationship Type="http://schemas.openxmlformats.org/officeDocument/2006/relationships/image" Target="/ppt/media/image2.jpeg" Id="R2091b82a530f4c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18287964b412e" /><Relationship Type="http://schemas.openxmlformats.org/officeDocument/2006/relationships/image" Target="/ppt/media/image3.jpeg" Id="R5d7f24a19a2449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8061829ee42ce" /><Relationship Type="http://schemas.openxmlformats.org/officeDocument/2006/relationships/image" Target="/ppt/media/image4.jpeg" Id="R1c05614fb87345c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9148d43da94b2e" /><Relationship Type="http://schemas.openxmlformats.org/officeDocument/2006/relationships/image" Target="/ppt/media/image5.jpeg" Id="Re74587cb3191484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198c2d03e427c" /><Relationship Type="http://schemas.openxmlformats.org/officeDocument/2006/relationships/image" Target="/ppt/media/image6.jpeg" Id="R9a104e477ed24d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a4061bb4c4da7" /><Relationship Type="http://schemas.openxmlformats.org/officeDocument/2006/relationships/image" Target="/ppt/media/image7.jpeg" Id="Rf4487fddb8ac494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b3773c1334064" /><Relationship Type="http://schemas.openxmlformats.org/officeDocument/2006/relationships/image" Target="/ppt/media/image8.jpeg" Id="R2a6f6271f2ba43e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a22ddc75be4ee1" /><Relationship Type="http://schemas.openxmlformats.org/officeDocument/2006/relationships/image" Target="/ppt/media/image9.jpeg" Id="R26907812deb5418b" /></Relationships>
</file>

<file path=ppt/slideLayouts/slideLayout1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2cfe59ff2645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"/>
            <a:ext cx="9144000" cy="685525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F7FBBB3-DAD5-43F6-96A2-26C350263CE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85800" y="2493817"/>
            <a:ext cx="7772400" cy="10161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rgbClr val="0085C0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1b82a530f4c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2F2ABC67-EDA6-4A9E-80BC-23AB577FE8B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50126" y="2876550"/>
            <a:ext cx="1114698" cy="11049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88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1</a:t>
            </a:r>
            <a:endParaRPr/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0E57E0F8-4B22-4E3B-831E-97CEED03003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405155" y="2876550"/>
            <a:ext cx="3779416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40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f24a19a2449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DBFF9F-6806-438D-B64B-050F3344E35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402080"/>
            <a:ext cx="8577840" cy="4702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9F663FC0-6287-4B0F-B22E-883861C93C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872605"/>
            <a:ext cx="7130039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DE56A52D-CE16-4940-A557-BDBB0E628C4B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280410" y="2036693"/>
            <a:ext cx="8618537" cy="4552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5614fb87345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1E36F1-8F78-4C64-A8CA-FB73EFD2B7D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4894217"/>
            <a:ext cx="8577840" cy="166926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4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54D02E0B-1AF7-486A-8CFF-167A772A4CA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86760" y="914400"/>
            <a:ext cx="8577840" cy="38322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587cb319148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B0C8FA-87AF-4D3E-B055-BB3AC7F079CF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201785"/>
            <a:ext cx="8577840" cy="46590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C8D53F7-EFBC-45E6-8A51-7D0AB5036CC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2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B0C652BA-A0D3-4C30-A42E-41416123037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2140" y="760130"/>
            <a:ext cx="8386109" cy="289818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3" name="Triángulo isósceles 12">
            <a:extLst xmlns:a="http://schemas.openxmlformats.org/drawingml/2006/main">
              <a:ext uri="{FF2B5EF4-FFF2-40B4-BE49-F238E27FC236}">
                <a16:creationId xmlns:a16="http://schemas.microsoft.com/office/drawing/2014/main" id="{658F9897-E07C-4255-AB2F-73485BE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020" y="844174"/>
            <a:ext cx="214509" cy="1217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5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104e477ed24d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63BCAF0-2A26-49DE-9F4D-55AF2C1D5796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757647"/>
            <a:ext cx="8577840" cy="51032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0B2E21D-50E6-47A5-A32D-4B11A79A29FC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87fddb8ac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AA9D06F7-B922-4098-833B-84A6C100B07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8538" y="-3436"/>
            <a:ext cx="4282676" cy="6876499"/>
          </a:xfrm>
          <a:custGeom xmlns:a="http://schemas.openxmlformats.org/drawingml/2006/main"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>
                <a:highlight>
                  <a:srgbClr val="FFFF00"/>
                </a:highlight>
              </a:defRPr>
            </a:lvl1pPr>
          </a:lstStyle>
          <a:p xmlns:a="http://schemas.openxmlformats.org/drawingml/2006/main">
            <a:r>
              <a:t>IMAGEN AQUI</a:t>
            </a:r>
            <a:endParaRPr/>
          </a:p>
        </p:txBody>
      </p:sp>
      <p:sp>
        <p:nvSpPr>
          <p:cNvPr id="13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79415159-151D-443A-9A29-91617693009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571998" y="718457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4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B822C07A-75EB-4B18-BC96-B154924C7DA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71997" y="1265001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A44758BE-AE37-4974-8DA3-BC7258EA93E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72000" y="1973263"/>
            <a:ext cx="4238625" cy="45418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00"/>
                </a:solidFill>
              </a:defRPr>
            </a:lvl1pPr>
            <a:lvl2pPr>
              <a:buNone/>
              <a:defRPr>
                <a:solidFill>
                  <a:srgbClr val="000000"/>
                </a:solidFill>
              </a:defRPr>
            </a:lvl2pPr>
            <a:lvl3pPr>
              <a:buNone/>
              <a:defRPr>
                <a:solidFill>
                  <a:srgbClr val="000000"/>
                </a:solidFill>
              </a:defRPr>
            </a:lvl3pPr>
            <a:lvl4pPr>
              <a:buNone/>
              <a:defRPr>
                <a:solidFill>
                  <a:srgbClr val="000000"/>
                </a:solidFill>
              </a:defRPr>
            </a:lvl4pPr>
            <a:lvl5pPr>
              <a:buNone/>
              <a:defRPr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f6271f2ba43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" y="0"/>
            <a:ext cx="914339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Marcador de posición de imagen 22">
            <a:extLst xmlns:a="http://schemas.openxmlformats.org/drawingml/2006/main">
              <a:ext uri="{FF2B5EF4-FFF2-40B4-BE49-F238E27FC236}">
                <a16:creationId xmlns:a16="http://schemas.microsoft.com/office/drawing/2014/main" id="{E06A54F9-A5F2-45D5-825A-C1E7727411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9526" y="-9526"/>
            <a:ext cx="9144000" cy="6870074"/>
          </a:xfrm>
          <a:custGeom xmlns:a="http://schemas.openxmlformats.org/drawingml/2006/main"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Imagen aquí</a:t>
            </a: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37EAFB67-82B7-4724-9B86-1C3C0D9FF4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3699" y="2230520"/>
            <a:ext cx="3276600" cy="23899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07812deb541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DA24A097-E872-41B1-AA6D-9E8BDE06E18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91124" y="3015915"/>
            <a:ext cx="6761750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54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¡GRACIAS!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4749034f2741b9" /><Relationship Type="http://schemas.openxmlformats.org/officeDocument/2006/relationships/slideLayout" Target="/ppt/slideLayouts/slideLayout1.xml" Id="Rbf8066d82a324dc4" /><Relationship Type="http://schemas.openxmlformats.org/officeDocument/2006/relationships/slideLayout" Target="/ppt/slideLayouts/slideLayout2.xml" Id="Rf9d3d595627b4e10" /><Relationship Type="http://schemas.openxmlformats.org/officeDocument/2006/relationships/slideLayout" Target="/ppt/slideLayouts/slideLayout3.xml" Id="R0f1ab8f1252a43f3" /><Relationship Type="http://schemas.openxmlformats.org/officeDocument/2006/relationships/slideLayout" Target="/ppt/slideLayouts/slideLayout4.xml" Id="Ra4d9cada1006445c" /><Relationship Type="http://schemas.openxmlformats.org/officeDocument/2006/relationships/slideLayout" Target="/ppt/slideLayouts/slideLayout5.xml" Id="R507454d1743e4e97" /><Relationship Type="http://schemas.openxmlformats.org/officeDocument/2006/relationships/slideLayout" Target="/ppt/slideLayouts/slideLayout6.xml" Id="Rfd17fc86700945c7" /><Relationship Type="http://schemas.openxmlformats.org/officeDocument/2006/relationships/slideLayout" Target="/ppt/slideLayouts/slideLayout7.xml" Id="R45dec7e880cd4458" /><Relationship Type="http://schemas.openxmlformats.org/officeDocument/2006/relationships/slideLayout" Target="/ppt/slideLayouts/slideLayout8.xml" Id="R9e1f090884024fd5" /><Relationship Type="http://schemas.openxmlformats.org/officeDocument/2006/relationships/slideLayout" Target="/ppt/slideLayouts/slideLayout9.xml" Id="R16f85be60abb49f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0834193-E377-4378-BFD3-E7D262C5E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17E1EF6-3640-4669-BDF2-78A3780D79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4370C1-B26C-4216-8C37-19B2422F96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475B63D-E972-45BF-A693-820FC9EC888F}" type="datetimeFigureOut">
              <a:t>05/10/2026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47CFAE-A4E6-4EE6-825C-2843E56D5E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9634B2-4A29-42F9-B822-1D9ADD52C7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1181F41-F723-4400-B87F-3A7D3AC75E0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8066d82a324dc4"/>
    <p:sldLayoutId xmlns:r="http://schemas.openxmlformats.org/officeDocument/2006/relationships" id="2147483650" r:id="Rf9d3d595627b4e10"/>
    <p:sldLayoutId xmlns:r="http://schemas.openxmlformats.org/officeDocument/2006/relationships" id="2147483651" r:id="R0f1ab8f1252a43f3"/>
    <p:sldLayoutId xmlns:r="http://schemas.openxmlformats.org/officeDocument/2006/relationships" id="2147483652" r:id="Ra4d9cada1006445c"/>
    <p:sldLayoutId xmlns:r="http://schemas.openxmlformats.org/officeDocument/2006/relationships" id="2147483653" r:id="R507454d1743e4e97"/>
    <p:sldLayoutId xmlns:r="http://schemas.openxmlformats.org/officeDocument/2006/relationships" id="2147483654" r:id="Rfd17fc86700945c7"/>
    <p:sldLayoutId xmlns:r="http://schemas.openxmlformats.org/officeDocument/2006/relationships" id="2147483655" r:id="R45dec7e880cd4458"/>
    <p:sldLayoutId xmlns:r="http://schemas.openxmlformats.org/officeDocument/2006/relationships" id="2147483656" r:id="R9e1f090884024fd5"/>
    <p:sldLayoutId xmlns:r="http://schemas.openxmlformats.org/officeDocument/2006/relationships" id="2147483657" r:id="R16f85be60abb49f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d3000869364be8" /><Relationship Type="http://schemas.openxmlformats.org/officeDocument/2006/relationships/image" Target="/ppt/media/image10.jpeg" Id="R2c491ee532804bef" /><Relationship Type="http://schemas.openxmlformats.org/officeDocument/2006/relationships/notesSlide" Target="/ppt/notesSlides/notesSlide1.xml" Id="Raaf0d0b4e0b449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1540ca1e64cc8" /><Relationship Type="http://schemas.openxmlformats.org/officeDocument/2006/relationships/notesSlide" Target="/ppt/notesSlides/notesSlide2.xml" Id="R99642fb859fc4b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eb895f3c6a4e5f" /><Relationship Type="http://schemas.openxmlformats.org/officeDocument/2006/relationships/notesSlide" Target="/ppt/notesSlides/notesSlide3.xml" Id="Ra7d91ee26edf43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daa8488136482f" /><Relationship Type="http://schemas.openxmlformats.org/officeDocument/2006/relationships/notesSlide" Target="/ppt/notesSlides/notesSlide4.xml" Id="Rcc67789ade534c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b64ca455d44e7" /><Relationship Type="http://schemas.openxmlformats.org/officeDocument/2006/relationships/notesSlide" Target="/ppt/notesSlides/notesSlide5.xml" Id="R0a21cb8f490247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a8190aa04c4091" /><Relationship Type="http://schemas.openxmlformats.org/officeDocument/2006/relationships/notesSlide" Target="/ppt/notesSlides/notesSlide6.xml" Id="Rbb8b0e4f414345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e3f7c28993442f" /><Relationship Type="http://schemas.openxmlformats.org/officeDocument/2006/relationships/hyperlink" Target="https://biblioteca.upds.edu.bo/" TargetMode="External" Id="R22e6eff3ec98453a" /><Relationship Type="http://schemas.openxmlformats.org/officeDocument/2006/relationships/notesSlide" Target="/ppt/notesSlides/notesSlide7.xml" Id="Rbf4329e58487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aebbd4b664e15" /><Relationship Type="http://schemas.openxmlformats.org/officeDocument/2006/relationships/hyperlink" Target="https://dspace.scz.ucb.edu.bo/dspace/handle/123456789/449" TargetMode="External" Id="Ra5a41469dfe9422e" /><Relationship Type="http://schemas.openxmlformats.org/officeDocument/2006/relationships/hyperlink" Target="https://dspace.scz.ucb.edu.bo/dspace/handle/123456789/10114" TargetMode="External" Id="Rb30460e7657947bb" /><Relationship Type="http://schemas.openxmlformats.org/officeDocument/2006/relationships/hyperlink" Target="https://biblioteca.upds.edu.bo/biblioteca/index.php?lvl=more_results&amp;mode=keyword&amp;tags=ok&amp;user_query=Base+de+datos" TargetMode="External" Id="Rcf892c92e4ef430f" /><Relationship Type="http://schemas.openxmlformats.org/officeDocument/2006/relationships/image" Target="/ppt/media/image11.jpeg" Id="R8ed894a3938f4a1f" /><Relationship Type="http://schemas.openxmlformats.org/officeDocument/2006/relationships/notesSlide" Target="/ppt/notesSlides/notesSlide8.xml" Id="R6028842ed3b34c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31BCCA6-F1B3-4C43-9E77-EC4D9EF48FE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12FEBEB-6FFA-4A87-9EAA-0A1C5338E79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CC6526-FC62-448B-8A15-99AFDE4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8912"/>
            <a:ext cx="5989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22303C"/>
                </a:solidFill>
              </a:rPr>
              <a:t>ACTIVIDAD 1 · TEMA 04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EBBB38-1332-4DA6-BA08-0CD968D2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768096"/>
            <a:ext cx="59893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900" b="1" i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DATOS, MODELOS Y DIAGRAMAS DE CLASES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4E9F8DD-0F60-4A54-9BD9-1AFD4D88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90472"/>
            <a:ext cx="5989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2303C"/>
                </a:solidFill>
              </a:rPr>
              <a:t>SISTEMAS DE INFORMACIÓN I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5AD705-7DC7-45A8-BE14-B3F24B8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4747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/>
              <a:t>INTEGRANTES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76BEA8B-1AF8-41F2-ABEC-DE85326C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633472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Ashley Aguilar Perez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72F29BF-2F74-4E33-B11D-F2B1E769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54096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Nicolas Soria Yabeta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36191A-8467-4A0D-A787-23F0DBC4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474720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Erick Bravo Borges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CE24933-4F00-4122-AC1E-0E09E3A0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95344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Jose Manuel Callecusi Guarachi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25B45F6-EADB-4818-87E3-D97FF051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315968"/>
            <a:ext cx="3566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Ruben Churqui Limachi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7833104-884A-4C4B-A964-A4698FB6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623560"/>
            <a:ext cx="5989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9144" rIns="18288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22303C"/>
                </a:solidFill>
              </a:rPr>
              <a:t>UNIVERSIDAD PRIVADA DOMINGO SAVIO</a:t>
            </a:r>
          </a:p>
        </p:txBody>
      </p:sp>
      <p:pic>
        <p:nvPicPr>
          <p:cNvPr id="34" name="Foto grupal · orientación corregid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91ee532804bef"/>
          <a:stretch xmlns:a="http://schemas.openxmlformats.org/drawingml/2006/main"/>
        </p:blipFill>
        <p:spPr>
          <a:xfrm xmlns:a="http://schemas.openxmlformats.org/drawingml/2006/main" rot="0">
            <a:off x="609600" y="1943100"/>
            <a:ext cx="3429000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614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BC9342EC-8E01-486A-BEC6-FD245EE394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30C25D1-8528-476D-BB73-93674FA30895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ADCDCD2-E3B9-4649-9A2C-CDE3D66D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Cada nivel de modelo responde una pregunta distinta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4D6DBDE-7AF0-4915-874B-E8C32706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NIVELES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C9FEE-2522-4E06-98B8-DA7F8267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50976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EL DISEÑO PASA DE LOS CONCEPTOS DEL DOMINIO A LA IMPLEMENTACIÓN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00B6645-30F6-48E9-AF94-42DB7C11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28800"/>
            <a:ext cx="2432304" cy="19019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C292EC4-B9D5-4402-8C32-9E34AE3B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56816"/>
            <a:ext cx="21396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CONCEPTUAL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E38BF59-327D-4311-BB32-68B4DD49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67712"/>
            <a:ext cx="213969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¿Qué conceptos existen?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Usuario · Préstamo · Ejemplar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1ADFFFA-F65D-414A-84E6-037F372E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828800"/>
            <a:ext cx="2432304" cy="19019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0EF08C7-5410-4BBA-859C-299D19EA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1956816"/>
            <a:ext cx="21396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LÓGICO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5B4ADF-5E03-40AD-96E4-C81D4D8D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296" y="2267712"/>
            <a:ext cx="213969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¿Qué atributos y reglas los unen?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Claves · cardinalidades · relaciones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6D96B12-3C8C-4251-AAE4-33EB5814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1828800"/>
            <a:ext cx="2432304" cy="19019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235466B-5BE9-4027-99BB-CB0B8EB4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956816"/>
            <a:ext cx="21396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FÍSICO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6F839C7-100E-4F75-9B32-79FF1AD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2267712"/>
            <a:ext cx="213969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¿Cómo se implementan?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Tipos · índices · restricciones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A4E1E5A1-8687-47BB-B569-A901293D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2779776"/>
            <a:ext cx="237743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5A168806-0A39-480C-89D7-9082550D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2779776"/>
            <a:ext cx="237744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0075A9"/>
            </a:solidFill>
            <a:tailEnd type="triangle" w="med" len="med"/>
          </a:ln>
        </p:spPr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3106B47-9ED4-4B79-8E66-362DDA8D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43400"/>
            <a:ext cx="7726679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E5E1BBA-16A2-4613-B484-77040E2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16552"/>
            <a:ext cx="7434071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nivel conceptual evita decidir el motor antes de entender los datos y las reglas del sistema.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0D9998B0-300A-45F2-8BEE-E17A94B4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Oracle, SQL Developer Data Modeler Concepts · Elmasri y Navathe, Fundamentos de bases de datos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5429774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8A5AB79E-971C-46F5-A670-3E4F0D3E2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C83E28D-36FA-4B3B-A4E6-292B9BA8C7B2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6E761A-8DAC-432E-8DB4-F31A6D82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Las clases describen estructura y vínculos entre objetos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FED0FEF-36DF-41F2-A528-C579EFCA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UML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8127B0-C843-4280-800B-63A8AD4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UNA VISTA ORIENTADA A OBJETOS PUEDE INCLUIR PROPIEDADES Y OPERACIONES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57BCF6-E369-41D2-A12C-547054A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01952"/>
            <a:ext cx="202996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C5EED2-3853-4D1B-B149-AD653743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19" y="1975104"/>
            <a:ext cx="18836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AUTOR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291DD6B-A199-428A-B069-E0516EF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295144"/>
            <a:ext cx="1773936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idAutor: entero
nombre: texto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69BC791-0C10-4492-A4B0-0E05DBD8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901952"/>
            <a:ext cx="202996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D99F359-E294-45E1-AD4D-3A9CCF30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" y="1975104"/>
            <a:ext cx="18836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OBRA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AE8037B-BC4D-48C9-B778-E8EE0163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7" y="2295144"/>
            <a:ext cx="1773936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idObra: entero
título: texto
isbn: texto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4D5570A-B478-488C-817E-D1AC4C43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901952"/>
            <a:ext cx="2029968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E031672-E26D-477A-A6FC-577E0D27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975104"/>
            <a:ext cx="18836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06945D2-354D-4F72-9803-EC456ACC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295144"/>
            <a:ext cx="1773936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idEjemplar: entero
ubicación · disponibilidad: Estado
cambiarEstado()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B796F1C8-5ED2-4BA2-B82F-441F959A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578608"/>
            <a:ext cx="786384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16CBB"/>
            </a:solidFill>
          </a:ln>
        </p:spPr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E51C363A-9E1E-4B1D-94BB-CA75F67C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2578608"/>
            <a:ext cx="786384" cy="0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16CBB"/>
            </a:solidFill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567AC9-3AA1-48AD-844C-2F6AA2B8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60934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0..*  —  0..*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E5734E7-9910-4FD8-8D63-3EA2B571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432" y="1609344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1  —  0..*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CCAF28-B150-4F87-BDD6-46502E6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85615"/>
            <a:ext cx="747979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Las clases agrupan objetos; las asociaciones relacionan tipos y su multiplicidad cuenta cuántas instancias participan. Una asociación no equivale por sí sola a una tabla.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1B493BE-E9B8-45D4-86D5-BEB002D6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OMG, UML 2.5.1, cláusula 11 · ejemplo de análisis bibliotecario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013763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36C06DE1-72C3-416F-A3C8-3EB1484318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45A01B-B081-4E80-AA95-372E439E3379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CE9884-8F6D-42D3-B3B7-C18E9470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modelo lógico ordena entidades, atributos y claves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B2E1053-520E-4857-989F-07CEF3FE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LÓGICO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68AFE6-FE4C-4E63-BC94-4E3BBD8B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1440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MODELO CONCEPTUAL DEL CATÁLOGO PÚBLICO; ESQUEMA INTERNO NO OBSERVABLE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3DE1C3-153C-42CE-B251-A8D2D011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" y="1682496"/>
            <a:ext cx="1920240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953F8ED-76C5-47A3-A2BB-1FFC4E9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755648"/>
            <a:ext cx="1773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AUTOR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438C162-2004-44E3-8E00-8069DD69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075688"/>
            <a:ext cx="166420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PK id_autor
nombre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6247DC-145F-4052-93CF-D5C19849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1682496"/>
            <a:ext cx="1920240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AC72C8-3CAE-4DBE-A6FE-2E56906D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755648"/>
            <a:ext cx="1773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EDITORIAL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76614B-7F26-4BA4-87C6-20857DCE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075688"/>
            <a:ext cx="166420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PK id_editorial
nombre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5991C2A-99EC-474B-A4A8-DDD1FD8A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682496"/>
            <a:ext cx="1920240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69AB8F9-6190-4862-9D83-A086210E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755648"/>
            <a:ext cx="1773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F8089E-D67A-46A0-BC96-743D2495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075688"/>
            <a:ext cx="166420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PK id_ejemplar
FK id_obra
ubicación · disponibilidad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2E597F6-F382-44E3-BB88-2C25FD40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682496"/>
            <a:ext cx="1920240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0CB95D5-6846-48B3-9943-61A63E0E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1755648"/>
            <a:ext cx="17739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OBRA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AF85A7E-8548-4251-A6F8-E6E956BD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075688"/>
            <a:ext cx="166420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PK id_obra
isbn · título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8373A452-323A-4627-B22C-9434A94B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304288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FC92B047-4A8B-43B0-A37A-7AEFF93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304288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2E51E6AC-5CBA-4621-AE50-C5AE77E1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304288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DE48FB4-C7C0-4529-90BB-E7E2FBC8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139903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1 : 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E0344EF-46E9-40DF-A47B-815EFDF0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903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 : 1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5E96502-66B8-4FC0-BEAC-609B518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399032"/>
            <a:ext cx="457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9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 : 1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8D4D592-5CA0-4BE4-B11F-874A30EA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886200"/>
            <a:ext cx="2011680" cy="1069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397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B67BA0-F135-4962-96EA-BFF8A6A4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3959352"/>
            <a:ext cx="18653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RESERVA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3A6CAF9-EAB3-4896-AD54-643E716B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279392"/>
            <a:ext cx="1755648" cy="6126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PK id_reserva
FK id_ejemplar · fecha · estado</a:t>
            </a:r>
          </a:p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9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9F15AC06-29F4-4684-894F-8FEFA03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926080"/>
            <a:ext cx="0" cy="530352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BAE1D451-A33E-42C7-90D6-AD4BD34A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56432"/>
            <a:ext cx="2569464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7A719078-42B8-4F45-B8C7-EF987F66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456432"/>
            <a:ext cx="0" cy="429768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917EC6BD-997C-4DBE-8EE8-FCB288F2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26080"/>
            <a:ext cx="0" cy="621792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F4A8BBA5-153A-4774-B1CC-46539983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212080" y="3547872"/>
            <a:ext cx="502920" cy="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E983B94E-4EB4-42AD-9DBC-0333FBF5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547872"/>
            <a:ext cx="0" cy="338328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416CBB"/>
            </a:solidFill>
          </a:ln>
        </p:spPr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1E94368-D8F4-4D1E-AFBB-B68B9355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3255264"/>
            <a:ext cx="5669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1 : 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5E2598F-22E2-4B6F-B582-C776D611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3319272"/>
            <a:ext cx="566928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1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1 : N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ABFE7C3-9D4C-45B4-8FA7-693B26E8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5193792"/>
            <a:ext cx="75895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Las relaciones vinculan la obra con autor, editorial y ejemplares; la reserva se asocia a una copia. El modelo no describe la base interna de UPDS.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934B50F-2E91-47C3-B6E5-C567D0A2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Modelo conceptual derivado de los datos visibles en el catálogo UPDS · Elmasri y Navathe · diagrama propuesto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833396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F0D95B8E-FDE4-4B59-92A0-062ACC8930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452E0E8-D2F0-4974-811A-4CB8AC69179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085578F-0224-4D20-ACDB-4B7C6592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Las claves y cardinalidades sostienen el modelo relacional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F6DC63-DB73-4DB5-B588-FFDB5C9B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CLAVES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158BED5-8B91-4007-BEE6-20831473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LAS RELACIONES DEL DOMINIO SE TRADUCEN A REFERENCIAS VERIFICABLES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E3746DB-103F-4F2E-88B1-0EA729DC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81328"/>
            <a:ext cx="782726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DF9AF1A-33F8-4E07-A337-2795C0BB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91056"/>
            <a:ext cx="2816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AUTOR N : M OBRA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248C7A-06A2-420C-B68E-2D73C435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1591056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Se representa con OBRA_AUTOR (id_obra, id_autor)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8751AD1-5154-4D54-9523-8552617B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86000"/>
            <a:ext cx="782726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424AD8E-75A4-47F0-BD60-33069C40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395728"/>
            <a:ext cx="2816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EDITORIAL 1 : N OBRA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BD7676-4F61-479D-B6FA-E14C0364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3957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id_editorial se referencia desde OBRA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8439E83-75A1-4250-9C94-DF1E1750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782726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A06AC1-621B-4345-A150-1F45EC19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200400"/>
            <a:ext cx="2816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OBRA 1 : N EJEMPLAR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A78AF4A-A9BF-4D93-A1A3-21630662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200400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id_obra se referencia desde EJEMPLAR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DE25A3F-6570-4C6A-9549-0665B3CD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95344"/>
            <a:ext cx="7827264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E0732D-67B6-4F7F-B2EC-A8E58AD1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05072"/>
            <a:ext cx="281635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EJEMPLAR 1 : N RESERVA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AC6A614-39EE-4E96-A660-1FB672A3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4005072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4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id_ejemplar se referencia desde RESERVA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9B519A6-6543-4244-929B-0CEB016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919472"/>
            <a:ext cx="7726679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690E0D0-DF16-4913-98AB-7CC2794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992624"/>
            <a:ext cx="743407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Una clave primaria identifica un registro; una clave foránea referencia otro registro y permite aplicar integridad referencial.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349D227-2717-4204-B9F4-18E2A003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Microsoft Learn, restricciones de claves · Elmasri y Navathe, diseño relacional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9206605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9A14478F-A005-4047-A2DE-1D35F51116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20C217D-79BF-4D7E-9147-D4F6FA4F39B7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2ADDE0-6ECA-4F6B-ACC3-86C22A68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Separar título y ejemplar reduce datos repetidos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90E8284-C38A-4865-A742-76A64392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NORMAL.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93699E-D0F1-44B2-B0E0-2FD93F94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32688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UNA OBRA BIBLIOGRÁFICA PUEDE CONTAR CON VARIAS COPIAS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4F3544F-B671-41F7-9097-B05B2742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3547872" cy="21762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B6877BF-06B5-4911-B211-B320BE75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792224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REGISTRO REPETIDO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B481C93-41BD-47BA-B4C8-0856BDFD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03120"/>
            <a:ext cx="3255264" cy="1645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 E-104 · obra · autor
Ejemplar E-105 · obra · autor
Ejemplar E-106 · obra · autor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C12FDF6-D9FB-481D-8849-7229B44E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664208"/>
            <a:ext cx="3547872" cy="21762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E71A7E-FD10-4044-AB49-1C57F267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1792224"/>
            <a:ext cx="32552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ESTRUCTURA SEPARADA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CBDEF59-1D7F-4FC0-9885-C311FAA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776" y="2103120"/>
            <a:ext cx="3255264" cy="16459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OBRA: ISBN · nombre · autor
EJEMPLAR: código · ubicación · disponibilidad · id_titulo
Cada copia referencia un único título.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E23C73A8-21A7-4E2D-B66A-03C706F0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706624"/>
            <a:ext cx="13716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75A9"/>
            </a:solidFill>
            <a:tailEnd type="triangle" w="med" len="med"/>
          </a:ln>
        </p:spPr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872B6F7-C301-4DB2-B88D-B7D75E6D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70832"/>
            <a:ext cx="7726679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016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039BE07-1596-4082-99DD-FD21812E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443984"/>
            <a:ext cx="743407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separación reduce redundancia y evita que una corrección bibliográfica deba repetirse en cada copia.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73125B5-860C-4D02-A64D-65CD708E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Elmasri y Navathe, Fundamentos de sistemas de bases de datos · Microsoft, normalización  ·  as of 6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427492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2C5B18EA-19C1-4813-A2FC-C6D11A21C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40F8C5-94AC-4DC1-8B53-ADF3DD8328B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68C9A1C-F1CA-4380-99C6-999BC41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675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Propuesta de modelo de datos para el catálogo UPDS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A0E1AB-C620-4175-9040-3DA90BA2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UPDS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B7EE6C4-F7BD-4D0E-83D4-5EB80FD3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14400"/>
            <a:ext cx="7863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DATOS INSTITUCIONALES PUBLICADOS Y DECISIONES DEL MODELO SE PRESENTAN POR SEPARADO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9477C33-4CE8-479B-BBFE-82FE1496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1901952" cy="10972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EF882A-F998-4988-9EB4-0D0524FB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45920"/>
            <a:ext cx="17922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OBRAS
fichas públicas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8DD3C5E-2E12-4E04-A8D4-251E62B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645920"/>
            <a:ext cx="1901952" cy="10972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E6F7291-69D2-4C00-B8BD-9729F9D7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1645920"/>
            <a:ext cx="17922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EJEMPLARES
datos consultables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9234735-D4BF-4CBC-8919-3B73E43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1645920"/>
            <a:ext cx="1901952" cy="10972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A8A6C79-7E3C-4D65-86A0-FB878A3F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645920"/>
            <a:ext cx="17922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DISPONIBILIDAD
visible en fichas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9233C7F-F980-4298-8B0F-42C0054B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984" y="1645920"/>
            <a:ext cx="1737360" cy="109728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5240">
            <a:solidFill>
              <a:srgbClr val="0075A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91ACABD-C635-43FD-AB06-56B0283E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1645920"/>
            <a:ext cx="1627631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RESERVA
opción en registro</a:t>
            </a:r>
          </a:p>
          <a:p xmlns:a="http://schemas.openxmlformats.org/drawingml/2006/main"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95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E8FAD85-8B7E-47C5-8518-888B164F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18688"/>
            <a:ext cx="3520440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21699E7-3158-429C-8886-47BF354B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346704"/>
            <a:ext cx="3227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OBSERVABLE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C305C83-A897-4EC3-898B-9B60D120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3657600"/>
            <a:ext cx="3227832" cy="731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70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Fichas · ejemplares · disponibilidad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337B156-5F1B-4D7F-A99B-406D2DAE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218688"/>
            <a:ext cx="3520440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5FA"/>
          </a:solidFill>
          <a:ln xmlns:a="http://schemas.openxmlformats.org/drawingml/2006/main" w="1143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0EBBB06-8D46-4B49-95EC-A047C8AE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346704"/>
            <a:ext cx="3227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6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MODELO PROPUESTO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A963A4-E726-49A7-8D2A-1B218622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657600"/>
            <a:ext cx="3227832" cy="7315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9" b="0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Obra · autor · editorial · ejemplar · reserva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7962D81-FF78-4C0D-9D44-3A5CE570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681728"/>
            <a:ext cx="3840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El catálogo muestra datos bibliográficos y ejemplares.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FA085F3-405A-42A4-BA81-998907C1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4681728"/>
            <a:ext cx="38404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El diagrama propone entidades y relaciones para representarlos.</a:t>
            </a:r>
          </a:p>
        </p:txBody>
      </p:sp>
      <p:sp>
        <p:nvSpPr>
          <p:cNvPr id="23" name="TextBox 22">
            <a:hlinkClick xmlns:r="http://schemas.openxmlformats.org/officeDocument/2006/relationships" xmlns:a="http://schemas.openxmlformats.org/drawingml/2006/main" r:id="R22e6eff3ec98453a"/>
            <a:extLst xmlns:a="http://schemas.openxmlformats.org/drawingml/2006/main">
              <a:ext uri="{FF2B5EF4-FFF2-40B4-BE49-F238E27FC236}">
                <a16:creationId xmlns:a16="http://schemas.microsoft.com/office/drawing/2014/main" id="{154FD7B9-43BC-43C3-9ABA-B5CE8412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084064"/>
            <a:ext cx="2880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Abrir catálogo público UPDS ↗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0338CF4-6B3B-4942-9236-5B27AFF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053328"/>
            <a:ext cx="6720840" cy="2201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Fuente: Catálogo público de Biblioteca UPDS · estructura conceptual propuesta</a:t>
            </a:r>
            <a:r>
              <a:rPr sz="76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9065255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Placeholder 1">
            <a:extLst xmlns:a="http://schemas.openxmlformats.org/drawingml/2006/main">
              <a:ext uri="{FF2B5EF4-FFF2-40B4-BE49-F238E27FC236}">
                <a16:creationId xmlns:a16="http://schemas.microsoft.com/office/drawing/2014/main" id="{A6B55854-0B0F-4EB9-A6A0-170B0BFF46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A045D4-7FB8-4207-B359-D7182B8522D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BCA81D-5850-409F-BBA0-C30ED43B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64592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50" b="1" i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5A446B3-E8C0-4E7E-9C50-164CBF82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0312"/>
            <a:ext cx="74980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TEMA 04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3BF75A2-08EE-487F-864F-4D981E99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68096"/>
            <a:ext cx="795527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44546A"/>
                </a:solidFill>
                <a:latin typeface="Calibri"/>
                <a:ea typeface="Calibri"/>
                <a:cs typeface="Calibri"/>
              </a:rPr>
              <a:t>Referencias para profundizar · Datos, modelos y diagramas de clases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2AD457C-8308-4BAB-9590-B885EF8B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70432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25B5C51-BAAC-4166-8FF3-F703C05A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80160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DIGITAL · BIBLIOTECA UCB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B7B10A6-6CAE-4076-9A6E-CD5B2EB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527048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Fundamentos de sistemas de bases de datos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EB20FDC-5F5D-40A0-8AE0-E5CF450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74519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Shamkant B. Navathe · 3.ª edición</a:t>
            </a:r>
          </a:p>
        </p:txBody>
      </p:sp>
      <p:sp>
        <p:nvSpPr>
          <p:cNvPr id="11" name="TextBox 10">
            <a:hlinkClick xmlns:r="http://schemas.openxmlformats.org/officeDocument/2006/relationships" xmlns:a="http://schemas.openxmlformats.org/drawingml/2006/main" r:id="Ra5a41469dfe9422e"/>
            <a:extLst xmlns:a="http://schemas.openxmlformats.org/drawingml/2006/main">
              <a:ext uri="{FF2B5EF4-FFF2-40B4-BE49-F238E27FC236}">
                <a16:creationId xmlns:a16="http://schemas.microsoft.com/office/drawing/2014/main" id="{82345CD7-9BFB-452C-BF9F-C5DB9382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157984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Ver libro digital 1 ↗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EB3FEEB-4685-4D93-8FA6-55E2A85B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60320"/>
            <a:ext cx="8010144" cy="126187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3606BAC-A335-4A18-BACF-625FCB0A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70048"/>
            <a:ext cx="7589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DIGITAL · BIBLIOTECA UCB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26885DE-0CFC-47CC-A6CB-01103890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916936"/>
            <a:ext cx="7543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Tecnología y diseño de bases de datos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120513D-4242-444A-89C5-FA931684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64408"/>
            <a:ext cx="6583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Mario Piattini Velthuis · 1.ª edición</a:t>
            </a:r>
          </a:p>
        </p:txBody>
      </p:sp>
      <p:sp>
        <p:nvSpPr>
          <p:cNvPr id="16" name="TextBox 15">
            <a:hlinkClick xmlns:r="http://schemas.openxmlformats.org/officeDocument/2006/relationships" xmlns:a="http://schemas.openxmlformats.org/drawingml/2006/main" r:id="Rb30460e7657947bb"/>
            <a:extLst xmlns:a="http://schemas.openxmlformats.org/drawingml/2006/main">
              <a:ext uri="{FF2B5EF4-FFF2-40B4-BE49-F238E27FC236}">
                <a16:creationId xmlns:a16="http://schemas.microsoft.com/office/drawing/2014/main" id="{7656E98A-3835-4618-9652-57E93373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547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Ver libro digital 2 ↗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E706F71-4D75-4326-B6F0-0AFCA2CA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50208"/>
            <a:ext cx="8010144" cy="1645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0160">
            <a:solidFill>
              <a:srgbClr val="B8C9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4090B0D-2937-4031-A6B5-9C0B0991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59936"/>
            <a:ext cx="6400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r>
              <a:t>IMPRESO · EJEMPLAR CONSULTADO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6F8D7F4-5652-487E-873A-D17E24BE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306824"/>
            <a:ext cx="6355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Fundamentos de bases de datos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CD2A0B0-F845-434C-BED3-DDDE554F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6355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Abraham Silberschatz, Henry F. Korth y S. Sudarshan · McGraw-Hill · 6.ª ed., 2014 · ISBN 978-84-481-9033-0</a:t>
            </a:r>
          </a:p>
        </p:txBody>
      </p:sp>
      <p:sp>
        <p:nvSpPr>
          <p:cNvPr id="21" name="TextBox 20">
            <a:hlinkClick xmlns:r="http://schemas.openxmlformats.org/officeDocument/2006/relationships" xmlns:a="http://schemas.openxmlformats.org/drawingml/2006/main" r:id="Rcf892c92e4ef430f"/>
            <a:extLst xmlns:a="http://schemas.openxmlformats.org/drawingml/2006/main">
              <a:ext uri="{FF2B5EF4-FFF2-40B4-BE49-F238E27FC236}">
                <a16:creationId xmlns:a16="http://schemas.microsoft.com/office/drawing/2014/main" id="{BAD49DBF-DE7D-4F29-900A-441AB9BA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37760"/>
            <a:ext cx="2286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00" tIns="25400" rIns="25400" bIns="2540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60" b="1" i="0">
                <a:solidFill>
                  <a:srgbClr val="416CBB"/>
                </a:solidFill>
                <a:latin typeface="Calibri"/>
                <a:ea typeface="Calibri"/>
                <a:cs typeface="Calibri"/>
              </a:rPr>
              <a:t>Consultar ficha bibliográfica ↗</a:t>
            </a:r>
          </a:p>
        </p:txBody>
      </p:sp>
      <p:pic>
        <p:nvPicPr>
          <p:cNvPr id="43" name="Foto del libro impreso · tema 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d894a3938f4a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08" y="4014215"/>
            <a:ext cx="1097280" cy="14630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980222"/>
      </p:ext>
    </p:extLst>
  </p:cSld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2026-10-07T13:54:23.2500000Z</dcterms:created>
  <dcterms:modified xsi:type="dcterms:W3CDTF">2026-10-07T13:54:23.2500000Z</dcterms:modified>
</coreProperties>
</file>