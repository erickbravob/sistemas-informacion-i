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43eb8e51d04d7d" /><Relationship Type="http://schemas.openxmlformats.org/officeDocument/2006/relationships/extended-properties" Target="/docProps/app.xml" Id="R3da6bd9b281f46c2" /><Relationship Type="http://schemas.openxmlformats.org/officeDocument/2006/relationships/officeDocument" Target="/ppt/presentation.xml" Id="R0d8ce6fc9abc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31315464943ac"/>
  </p:sldMasterIdLst>
  <p:notesMasterIdLst>
    <p:notesMasterId xmlns:r="http://schemas.openxmlformats.org/officeDocument/2006/relationships" r:id="Rff56dcbcb7d14357"/>
  </p:notesMasterIdLst>
  <p:sldIdLst>
    <p:sldId xmlns:r="http://schemas.openxmlformats.org/officeDocument/2006/relationships" id="256" r:id="Ra9a1e9e9613f40cd"/>
    <p:sldId xmlns:r="http://schemas.openxmlformats.org/officeDocument/2006/relationships" id="257" r:id="R2c29984bb7eb458d"/>
    <p:sldId xmlns:r="http://schemas.openxmlformats.org/officeDocument/2006/relationships" id="258" r:id="R6f76aac441894532"/>
    <p:sldId xmlns:r="http://schemas.openxmlformats.org/officeDocument/2006/relationships" id="259" r:id="R7f02827875514146"/>
    <p:sldId xmlns:r="http://schemas.openxmlformats.org/officeDocument/2006/relationships" id="260" r:id="R4b83dd019d114257"/>
    <p:sldId xmlns:r="http://schemas.openxmlformats.org/officeDocument/2006/relationships" id="261" r:id="R054d6b83d36543c5"/>
    <p:sldId xmlns:r="http://schemas.openxmlformats.org/officeDocument/2006/relationships" id="262" r:id="R3a56946cad754f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2987ce4b3e49ce" /><Relationship Type="http://schemas.openxmlformats.org/officeDocument/2006/relationships/slideMaster" Target="/ppt/slideMasters/slideMaster1.xml" Id="R2ae31315464943ac" /><Relationship Type="http://schemas.openxmlformats.org/officeDocument/2006/relationships/notesMaster" Target="/ppt/notesMasters/notesMaster1.xml" Id="Rff56dcbcb7d14357" /><Relationship Type="http://schemas.openxmlformats.org/officeDocument/2006/relationships/presProps" Target="/ppt/presProps.xml" Id="R434f97540ba54d5a" /><Relationship Type="http://schemas.openxmlformats.org/officeDocument/2006/relationships/tableStyles" Target="/ppt/tableStyles.xml" Id="R423bf233e26647dd" /><Relationship Type="http://schemas.openxmlformats.org/officeDocument/2006/relationships/slide" Target="/ppt/slides/slide1.xml" Id="Ra9a1e9e9613f40cd" /><Relationship Type="http://schemas.openxmlformats.org/officeDocument/2006/relationships/slide" Target="/ppt/slides/slide2.xml" Id="R2c29984bb7eb458d" /><Relationship Type="http://schemas.openxmlformats.org/officeDocument/2006/relationships/slide" Target="/ppt/slides/slide3.xml" Id="R6f76aac441894532" /><Relationship Type="http://schemas.openxmlformats.org/officeDocument/2006/relationships/slide" Target="/ppt/slides/slide4.xml" Id="R7f02827875514146" /><Relationship Type="http://schemas.openxmlformats.org/officeDocument/2006/relationships/slide" Target="/ppt/slides/slide5.xml" Id="R4b83dd019d114257" /><Relationship Type="http://schemas.openxmlformats.org/officeDocument/2006/relationships/slide" Target="/ppt/slides/slide6.xml" Id="R054d6b83d36543c5" /><Relationship Type="http://schemas.openxmlformats.org/officeDocument/2006/relationships/slide" Target="/ppt/slides/slide7.xml" Id="R3a56946cad75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0a3ca82f35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33f1b7e24a47fe" /><Relationship Type="http://schemas.openxmlformats.org/officeDocument/2006/relationships/notesMaster" Target="/ppt/notesMasters/notesMaster1.xml" Id="R433b6e8f4a5f47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3d961e411040b0" /><Relationship Type="http://schemas.openxmlformats.org/officeDocument/2006/relationships/notesMaster" Target="/ppt/notesMasters/notesMaster1.xml" Id="Ra98fb477afbc4c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491dcc4ff499f" /><Relationship Type="http://schemas.openxmlformats.org/officeDocument/2006/relationships/notesMaster" Target="/ppt/notesMasters/notesMaster1.xml" Id="Rab3aa73a085e41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b9afe476e149b6" /><Relationship Type="http://schemas.openxmlformats.org/officeDocument/2006/relationships/notesMaster" Target="/ppt/notesMasters/notesMaster1.xml" Id="Rde47bb04ee48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cd5adb4a1740c2" /><Relationship Type="http://schemas.openxmlformats.org/officeDocument/2006/relationships/notesMaster" Target="/ppt/notesMasters/notesMaster1.xml" Id="R811438df3803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f73ac0c4a64c1f" /><Relationship Type="http://schemas.openxmlformats.org/officeDocument/2006/relationships/notesMaster" Target="/ppt/notesMasters/notesMaster1.xml" Id="Ra8b54bd2b22d4e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998d12d8c54685" /><Relationship Type="http://schemas.openxmlformats.org/officeDocument/2006/relationships/notesMaster" Target="/ppt/notesMasters/notesMaster1.xml" Id="Rc7cc4923bae9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tema asignado al grupo, los nombres completos de los cinco integrantes y la pregunta guía. La fotografía del grupo debe agregarse cuando esté disponible. La exposición dura diez minutos, dos minutos por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Actores y roles: Un actor es un rol desempeñado por una persona, organización o sistema externo; no equivale necesariamente a una persona específica. La misma persona puede desempeñar roles distintos. Un actor se encuentra fuera del límite del sistema que se analiza. Actor primario: inicia una interacción para obtener un resultado. Actor de apoyo: otro sistema o servicio que participa en una interacción. Los nombres de actores deben indicar roles, como Estudiante o Bibliotecario.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 y límite: Un caso de uso representa una meta alcanzable mediante interacciones con el sistema y debe producir un resultado observable de valor. El rectángulo de límite indica qué funciones pertenecen al sistema; los actores se ubican fuera y los casos de uso dentro. Nombra cada caso con una acción y su objeto: Buscar libro, Reservar ejemplar. Une el actor con los casos en los que participa. “include” modela comportamiento requerido reutilizado; “extend” añade comportamiento condicionado u opcional. Úsalos solo si la relación aporta claridad.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aplicado a la biblioteca: Escenario didáctico: el estudiante busca y reserva un ejemplar. El bibliotecario registra un préstamo y una devolución. El catálogo puede ofrecer resultados, pero las reglas de reserva pertenecen al sistema de biblioteca que se está delimitando. Estudiante → Buscar libro; Consultar disponibilidad; Reservar ejemplar. Bibliotecario → Registrar préstamo; Registrar devolución. El diagrama no prueba que el proceso sea correcto: cada caso necesita su flujo principal, alternativas y reglas en una especificación textual.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 18: UseCases.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IBM. (s. f.). The use-case model.</a:t>
            </a:r>
          </a:p>
          <a:p xmlns:a="http://schemas.openxmlformats.org/drawingml/2006/main">
            <a:r>
              <a:t>  https://www.ibm.com/docs/en/rsas/7.5.0?topic=model-use-case</a:t>
            </a:r>
          </a:p>
          <a:p xmlns:a="http://schemas.openxmlformats.org/drawingml/2006/main">
            <a:r>
              <a:t>• IBM. (s. f.). Use cases in modeling diagrams.</a:t>
            </a:r>
          </a:p>
          <a:p xmlns:a="http://schemas.openxmlformats.org/drawingml/2006/main">
            <a:r>
              <a:t>  https://www.ibm.com/docs/en/dma?topic=diagrams-use-cases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diagrama de izquierda a derecha. Señalar que el ejemplo de biblioteca es didáctico y no constituye un requisito del proyecto final. Fuentes:</a:t>
            </a:r>
          </a:p>
          <a:p xmlns:a="http://schemas.openxmlformats.org/drawingml/2006/main">
            <a:r>
              <a:t>• Object Management Group. (2017). Unified Modeling Language (UML), Version 2.5.1, Clause 18: UseCases.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IBM. (s. f.). The use-case model.</a:t>
            </a:r>
          </a:p>
          <a:p xmlns:a="http://schemas.openxmlformats.org/drawingml/2006/main">
            <a:r>
              <a:t>  https://www.ibm.com/docs/en/rsas/7.5.0?topic=model-use-case</a:t>
            </a:r>
          </a:p>
          <a:p xmlns:a="http://schemas.openxmlformats.org/drawingml/2006/main">
            <a:r>
              <a:t>• IBM. (s. f.). Use cases in modeling diagrams.</a:t>
            </a:r>
          </a:p>
          <a:p xmlns:a="http://schemas.openxmlformats.org/drawingml/2006/main">
            <a:r>
              <a:t>  https://www.ibm.com/docs/en/dma?topic=diagrams-use-cases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Escenario didáctico: el estudiante busca y reserva un ejemplar. El bibliotecario registra un préstamo y una devolución. El catálogo puede ofrecer resultados, pero las reglas de reserva pertenecen al sistema de biblioteca que se está delimitando.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Estudiante → Buscar libro; Consultar disponibilidad; Reservar ejemplar.</a:t>
            </a:r>
          </a:p>
          <a:p xmlns:a="http://schemas.openxmlformats.org/drawingml/2006/main">
            <a:r>
              <a:t>Bibliotecario → Registrar préstamo; Registrar devolución.</a:t>
            </a:r>
          </a:p>
          <a:p xmlns:a="http://schemas.openxmlformats.org/drawingml/2006/main">
            <a:r>
              <a:t>El diagrama no prueba que el proceso sea correcto: cada caso necesita su flujo principal, alternativas y reglas en una especificación textual.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 18: UseCases.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IBM. (s. f.). The use-case model.</a:t>
            </a:r>
          </a:p>
          <a:p xmlns:a="http://schemas.openxmlformats.org/drawingml/2006/main">
            <a:r>
              <a:t>  https://www.ibm.com/docs/en/rsas/7.5.0?topic=model-use-case</a:t>
            </a:r>
          </a:p>
          <a:p xmlns:a="http://schemas.openxmlformats.org/drawingml/2006/main">
            <a:r>
              <a:t>• IBM. (s. f.). Use cases in modeling diagrams.</a:t>
            </a:r>
          </a:p>
          <a:p xmlns:a="http://schemas.openxmlformats.org/drawingml/2006/main">
            <a:r>
              <a:t>  https://www.ibm.com/docs/en/dma?topic=diagrams-use-cases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de exposición de diez minutos. Asignar una parte de dos minutos a cada integrante. Cada persona puede desarrollar la explicación que aparece en pantalla con una idea principal y un ejemplo; eviten leer literalmente las diapositivas.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consigna exige investigación en fuentes físicas y digitales y al menos un libro físico consultado en biblioteca. Reemplazar estos espacios por fotos auténticas de las páginas consultadas. Registrar el título del libro y número de página visible; citar las fuentes utilizadas según APA 7. No presentar los espacios vacíos como evidencia cumplida.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consultadas para preparar el material. Ajustar el formato final a la guía APA 7 entregada por 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Object Management Group. (2017). Unified Modeling Language (UML), Version 2.5.1, Clause 18: UseCases.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IBM. (s. f.). The use-case model.</a:t>
            </a:r>
          </a:p>
          <a:p xmlns:a="http://schemas.openxmlformats.org/drawingml/2006/main">
            <a:r>
              <a:t>  https://www.ibm.com/docs/en/rsas/7.5.0?topic=model-use-case</a:t>
            </a:r>
          </a:p>
          <a:p xmlns:a="http://schemas.openxmlformats.org/drawingml/2006/main">
            <a:r>
              <a:t>• IBM. (s. f.). Use cases in modeling diagrams.</a:t>
            </a:r>
          </a:p>
          <a:p xmlns:a="http://schemas.openxmlformats.org/drawingml/2006/main">
            <a:r>
              <a:t>  https://www.ibm.com/docs/en/dma?topic=diagrams-use-cases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977dcdea446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af54b7dd7480d" /><Relationship Type="http://schemas.openxmlformats.org/officeDocument/2006/relationships/slideLayout" Target="/ppt/slideLayouts/slideLayout1.xml" Id="R99b8ee702d4a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8ee702d4a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089618e6f4559" /><Relationship Type="http://schemas.openxmlformats.org/officeDocument/2006/relationships/notesSlide" Target="/ppt/notesSlides/notesSlide1.xml" Id="R29d5a17aef1a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a6275fdb24dcc" /><Relationship Type="http://schemas.openxmlformats.org/officeDocument/2006/relationships/notesSlide" Target="/ppt/notesSlides/notesSlide2.xml" Id="R5504f56c4fb0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370aeb8eb4cb9" /><Relationship Type="http://schemas.openxmlformats.org/officeDocument/2006/relationships/notesSlide" Target="/ppt/notesSlides/notesSlide3.xml" Id="R31c240eabb5a40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695d4372e43fd" /><Relationship Type="http://schemas.openxmlformats.org/officeDocument/2006/relationships/notesSlide" Target="/ppt/notesSlides/notesSlide4.xml" Id="R9da30a5c08484b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f55207b74d7c" /><Relationship Type="http://schemas.openxmlformats.org/officeDocument/2006/relationships/notesSlide" Target="/ppt/notesSlides/notesSlide5.xml" Id="R7dbcf8a6c76a45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4c4b100d64473" /><Relationship Type="http://schemas.openxmlformats.org/officeDocument/2006/relationships/notesSlide" Target="/ppt/notesSlides/notesSlide6.xml" Id="R016686abe7804d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ad34fbdbc4fa4" /><Relationship Type="http://schemas.openxmlformats.org/officeDocument/2006/relationships/notesSlide" Target="/ppt/notesSlides/notesSlide7.xml" Id="R0f7ccf1ab60946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D5738-6E08-4CA0-8D90-BE6DE0C4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E5E10-C4E2-4CAF-A0D9-EB673808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ACTIVIDAD 1  /  INVESTIGACIÓN Y EXPOSICIÓN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DBE84-89A8-4F57-9B83-B959D72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Actores y casos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CF868-D41A-492C-B9BB-137CA824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723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4E4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4E1"/>
                </a:solidFill>
                <a:latin typeface="Arial"/>
                <a:ea typeface="Arial"/>
                <a:cs typeface="Arial"/>
              </a:rPr>
              <a:t>¿Quién se comunica con el sistema y qué resultado valioso busca?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02510-8451-4DBA-8990-559C39DA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C8"/>
                </a:solidFill>
                <a:latin typeface="Arial"/>
                <a:ea typeface="Arial"/>
                <a:cs typeface="Arial"/>
              </a:rPr>
              <a:t>10 minutos  ·  5 integrantes  ·  Ejemplo didáctico: biblioteca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4F88B-1961-4CB5-9BE0-551D4C96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800350" cy="30289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CCABA-319C-4D5A-ABBA-D9ED1D03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495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35583-2D15-4385-A31B-B948FD1C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A918D-9BC2-4178-B6C5-FF7B717C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0D8C0-0EEB-40DC-B48B-D2FF7B37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2457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Agregar foto real del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D1142-CF94-4D5D-B551-293B0EA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Universidad  /  Sistemas de Información I</a:t>
            </a:r>
          </a:p>
        </p:txBody>
      </p:sp>
    </p:spTree>
    <p:extLst>
      <p:ext uri="{BB962C8B-B14F-4D97-AF65-F5344CB8AC3E}">
        <p14:creationId xmlns:p14="http://schemas.microsoft.com/office/powerpoint/2010/main" val="1246482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A7C8B-A42C-4319-B0C1-B81492E4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5ED04-C0E4-47ED-9AD4-011B4D7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9E2E0-4B05-453F-891A-8EE907C4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E2A6E-69CD-4E66-B3F2-E8ABBBE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E8CB7-5077-4294-8B2B-265368D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28779-FE0A-406B-A358-B783EBE5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40F7E-5F93-4AC3-8FB4-A795D8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812C9-B12D-495C-93A7-C3EEFC3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Conceptos centrales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31402-AC9E-4285-ADB2-E2E6B3A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Delimitar quién interactúa con el sistema y qué objetivos espera alcanzar.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8083E-9F58-4F89-9B89-D4AB375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37239-3B6B-4ED4-8469-9F8446D6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Actores y roles: Un actor es un rol desempeñado por una persona, organización o sistema externo; no equivale necesariamente a una persona específica. La misma persona puede desempeñar roles distintos. Un actor se encuentra fuera del límite del sistema que se analiza.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19740-8CB5-4DBE-A750-31B57FF9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B8D15-7B54-4DF4-A0F4-54E5EF14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Casos de uso y límite: Un caso de uso representa una meta alcanzable mediante interacciones con el sistema y debe producir un resultado observable de valor. El rectángulo de límite indica qué funciones pertenecen al sistema; los actores se ubican fuera y los casos de uso dentro.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91175-9BEC-47EE-A90C-93ABE48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0D2BD-FA1B-430B-A8D5-F284C4A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Ejemplo aplicado a la biblioteca: Escenario didáctico: el estudiante busca y reserva un ejemplar. El bibliotecario registra un préstamo y una devolución. El catálogo puede ofrecer resultados, pero las reglas de reserva pertenecen al sistema de biblioteca que se está delimitando.</a:t>
            </a:r>
          </a:p>
        </p:txBody>
      </p:sp>
    </p:spTree>
    <p:extLst>
      <p:ext uri="{BB962C8B-B14F-4D97-AF65-F5344CB8AC3E}">
        <p14:creationId xmlns:p14="http://schemas.microsoft.com/office/powerpoint/2010/main" val="1803735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3E4C7-7716-41F2-97CF-2494C6E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CF370-082B-4351-9F1C-83CD6EB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1698C-BB25-422F-8F4D-2AEC77E5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DIAGRAMA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255B5-DF63-48F8-84BD-E54B39C6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6A263-793F-4C67-A090-7A6AC12D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C1000-7D61-4723-B0AD-75CAC378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A61C2-2CBE-4CC3-B6CC-E3A5CB2E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DIAGRAMA DE INTERACCIÓN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E67A8-B8BB-43BF-BC34-DCBC8E5A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El actor busca un 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53F7C-2774-42C6-9470-FD50E18D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El rectángulo define el alcance; los roles quedan fuera y los objetivos dentro.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5E9BB-CE73-478D-A42A-6E7FD01D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56197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0AC51-0FAE-48B9-81BD-1F81361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146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 DE BIBLIOTECA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6390B-B3D9-4DAD-BF6B-32C2E9B0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31432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B2CC0-923A-4E01-83CA-6D02A9AB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87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Buscar libro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64F55-F693-49DA-95B5-0F6F07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31432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841B9-17FF-4637-A7F9-AF478C94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87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Consultar disponibilidad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413A2-2BAF-4B9D-934F-7488ACCD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31432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2F0FF-E982-44CB-9E71-437F0887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87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Reservar ejemplar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BD9C9-BC94-445C-AB1C-7089A22B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1A32D-D39E-43EA-88B5-70B46CDA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ESTUDIANTE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4E01C-84A5-44C3-9D0E-E952A39F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19450"/>
            <a:ext cx="21145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63ACD-8761-4F1A-A823-438D3431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24275"/>
            <a:ext cx="211455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5EAD0-4907-44FE-AD6A-80DC492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24275"/>
            <a:ext cx="21145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ECD72-ABB2-4F48-8D41-9D37B07C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400425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4D71B-F67D-4E3F-A0F6-79418F57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524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75F10-3416-4313-9B83-85D32D2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1971675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AA5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68747-7E21-49B9-A932-8AC0A698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Actor primario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35907-6F1A-4F20-BEC9-065DB45E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1624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Servicio externo</a:t>
            </a:r>
          </a:p>
        </p:txBody>
      </p:sp>
    </p:spTree>
    <p:extLst>
      <p:ext uri="{BB962C8B-B14F-4D97-AF65-F5344CB8AC3E}">
        <p14:creationId xmlns:p14="http://schemas.microsoft.com/office/powerpoint/2010/main" val="208346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63A4E-4103-4900-8BBC-3BFA33E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1CB0E-CBF5-4013-9AF5-B232489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C3F29-737D-4B54-B38F-8B7C657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EJEMPLO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1EB8-CB75-4B0C-9556-D685829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90C2D-5511-46F6-9FAF-1EC5699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A5A8-19C4-4ED6-801B-DD61F55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1BE60-3A11-4A62-BA44-4B14142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DE95F-CE36-4314-A381-AD457D1F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Un ejemplo paso a paso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AA424-BEFD-40C2-AD6A-8DFDC80E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Caso ilustrativo de una biblioteca; validar las reglas antes de aplicarlas a un sistema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35910-5657-468D-B1CF-709B450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66586-71A5-490F-B1DB-D4A0AEF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Estudiante → Buscar libro; Consultar disponibilidad; Reservar ejemplar.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B7F26-8A45-4C2D-922E-83761888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22632-9812-4484-AF34-35216774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Bibliotecario → Registrar préstamo; Registrar devolución.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EDB20-CFB0-43E1-B6CD-923A8CA1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E6DF1-748B-4F66-A8E9-682C4923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El diagrama no prueba que el proceso sea correcto: cada caso necesita su flujo principal, alternativas y reglas en una especificación textual.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C4ED8-29C4-4991-BC92-6CEEE157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19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2471A-39F5-4721-B2AD-5DC98723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Pregunta para el curso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9BF0F-EC5C-48BF-B9F3-952E95B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¿Qué dato, regla o evidencia faltaría para validar este modelo?</a:t>
            </a:r>
          </a:p>
        </p:txBody>
      </p:sp>
    </p:spTree>
    <p:extLst>
      <p:ext uri="{BB962C8B-B14F-4D97-AF65-F5344CB8AC3E}">
        <p14:creationId xmlns:p14="http://schemas.microsoft.com/office/powerpoint/2010/main" val="1519773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819DC-8699-471F-8144-C8E9FF58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05C80-3C44-4F38-91FF-5B9955A9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878A7-E86C-46A6-B4D4-5F2428B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GUION DE EXPOSICIÓN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7C48E-4E08-468A-924B-04A24CC0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7B43A-7239-4ADA-BCC6-5A9DDAB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1345A-0A34-420B-B3B6-C5B54F08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74B9F-A251-4936-8C3E-D5E86899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PRESENTACIÓN 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8B96B-424F-4CB9-AF36-52FD39A8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Diez minutos, cinco partes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CAABD-AB06-4EF6-90C6-DBA3AB2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Reemplacen “Integrante” por los nombres del equipo. Cada parte dura dos minutos.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5E9F8-C000-4CFE-B6E9-A8CEF4A7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AF85A-0B09-4F73-8D5D-0C6A1F9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20395-3143-4244-A66B-9D49765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66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1  ·  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FEE99-586F-4B0A-8CCF-371701E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669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Situación y propósito — Presentar la necesidad de identificar personas y sistemas que interactúan con una solución.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C231A-7873-41BF-81F6-7261187E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716FC-3E27-481B-9C99-B222C44D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5DFC0-BC0A-41F8-A8EB-B6ECC6A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52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2  ·  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085DC-48EF-4575-93CC-E9420858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527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Actores — Explicar qué es un actor y diferenciar rol, persona y sistema externo.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62668-8028-4258-988D-8DD7689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398CC-F1AE-4B7E-92C4-C20B5044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A4DE2-89DE-4E5E-BD21-BDC306B1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3  ·  2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59EEC-8D53-4D0B-A24D-CE03155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385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Casos de uso y límite — Explicar objetivos, el límite del sistema y la posición de actores y funciones.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CBE63-98B3-483E-A9BA-7BBC54A2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37704-724D-4817-9DB1-AB9193A2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BA9F2-8FB7-4A23-83D5-02181876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4  ·  2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4696E-189E-4948-8821-4DD15456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Diagrama de ejemplo — Recorrer las interacciones de búsqueda, reserva, préstamo y devolución.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A6516-A825-4B6A-B5C1-324734BE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E1BD9-2046-4085-8A5B-E99EB2F2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3F19B-FE45-4DB6-B6AE-EB6C8D9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0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5  ·  2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4C4C1-8D82-4BC6-9B94-E1F1EFE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01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Hallazgo y conclusión — Explicar cómo los casos de uso ayudan a precisar funciones y preparar pruebas.</a:t>
            </a:r>
          </a:p>
        </p:txBody>
      </p:sp>
    </p:spTree>
    <p:extLst>
      <p:ext uri="{BB962C8B-B14F-4D97-AF65-F5344CB8AC3E}">
        <p14:creationId xmlns:p14="http://schemas.microsoft.com/office/powerpoint/2010/main" val="408663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FB067-6679-44F5-9A1C-B869ADA8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46134-9EFE-4D3C-9862-75E3696C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619BB-6AB5-4D69-A33D-AF3624F3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EVIDENCIA BIBLIOGRÁFICA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8F1C3-96AF-4DE8-BA34-F6032BA2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E9516-17DE-47CC-81A5-A31EB7F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8C87C-390E-43D2-9E88-E8C03669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B3DE7-EFC9-485E-85F3-5EF7594A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TRABAJO CON FUENTE FÍSICA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1CB8D-3EF8-4447-9CDF-547FFBC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Registrar dos evidencias del libro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C50D9-0E79-4381-B8A6-7640CB0B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Fotografíen una página útil por fuente y completen título, autor, edición y página.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FAB16-F9BF-4279-8869-946A5900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6CCEA-FADC-42FB-90A2-A7BA79EA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598E2-759B-4821-9005-5315FB3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956FB-3337-4253-BFF0-06C8BD1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083F0-6A21-4F12-B2CA-8B74C59D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1865E-F451-435F-B3C6-E9BB2AA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656FA-438D-443F-B3DB-79BB2647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60C3C-ABE8-4D93-AC67-BA71B4D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0BAA1-60BB-442A-A80A-A67167C5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AA721-69EB-445E-B63A-30C970F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8F392-B1B9-4AA2-91C0-7A00EF5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39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4288">
            <a:solidFill>
              <a:srgbClr val="E8AA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6123C-1C13-416D-B42C-67934465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Pendiente: insertar fotos reales y confirmar la referencia bibliográfica antes de exponer.</a:t>
            </a:r>
          </a:p>
        </p:txBody>
      </p:sp>
    </p:spTree>
    <p:extLst>
      <p:ext uri="{BB962C8B-B14F-4D97-AF65-F5344CB8AC3E}">
        <p14:creationId xmlns:p14="http://schemas.microsoft.com/office/powerpoint/2010/main" val="1072338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05A63-DCE4-445F-9DA7-5B4B29AA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21CF4-541B-4089-B9AF-60C962C3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83E26-392C-48DD-B774-76D6B26B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FUENTES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85323-8149-4074-AAE0-0205E919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1821E-2EC3-4FEE-8CCF-3879D9B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2AF79-0034-4D3B-89BB-556DD6F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56E36-53C9-4394-B763-ABA8C98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BIBLIOGRAFÍA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58C0A-B670-4C64-9CF8-41A2FB0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Fuentes consultadas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D121F-6E74-4879-B322-B1E8AB9E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Normas APA 7: revisar autor institucional, fecha, título y datos de publicación al entregar.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31E50-BDA2-4DF3-804B-D6BA697E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B82FC-38DB-4CA9-8E51-C48218B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Object Management Group. (2017). Unified Modeling Language (UML), Version 2.5.1, Clause 18: UseCases.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F8E78-4BF5-44DF-9A6B-A99D3D1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https://www.omg.org/spec/UML/2.5.1/PDF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68EB5-3805-487B-818F-D9D85782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94AC-E459-420E-8CB4-77459A10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IBM. (s. f.). The use-case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D8C7D-5AD5-4C78-A8BA-181AE27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https://www.ibm.com/docs/en/rsas/7.5.0?topic=model-use-case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D2293-9FAD-44E9-897C-ED09B8F8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1FC60-E693-46BA-B1C5-585D6A8F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IBM. (s. f.). Use cases in modeling diagrams.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92A5C-12BF-4CC2-B5E1-58F24AB3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https://www.ibm.com/docs/en/dma?topic=diagrams-use-cases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86E6A-76BA-44B6-BBE7-0113FDAA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C5F20-7CE9-4013-B483-871978E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Modelo, diagrama y caso de biblioteca: recursos didácticos elaborados para explicar la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1760366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2026-10-06T13:13:25.3010000Z</dcterms:created>
  <dcterms:modified xsi:type="dcterms:W3CDTF">2026-10-06T13:13:25.3010000Z</dcterms:modified>
</coreProperties>
</file>