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72498dbf5d48c1" /><Relationship Type="http://schemas.openxmlformats.org/officeDocument/2006/relationships/extended-properties" Target="/docProps/app.xml" Id="Rb8419f9d8a2c4465" /><Relationship Type="http://schemas.openxmlformats.org/officeDocument/2006/relationships/officeDocument" Target="/ppt/presentation.xml" Id="R71be7635c72a44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ed017e62c34b1c"/>
  </p:sldMasterIdLst>
  <p:notesMasterIdLst>
    <p:notesMasterId xmlns:r="http://schemas.openxmlformats.org/officeDocument/2006/relationships" r:id="Rd80f2d36a3754f18"/>
  </p:notesMasterIdLst>
  <p:sldIdLst>
    <p:sldId xmlns:r="http://schemas.openxmlformats.org/officeDocument/2006/relationships" id="256" r:id="R540cb26a2fcd4f71"/>
    <p:sldId xmlns:r="http://schemas.openxmlformats.org/officeDocument/2006/relationships" id="257" r:id="R6369e10c732a41b4"/>
    <p:sldId xmlns:r="http://schemas.openxmlformats.org/officeDocument/2006/relationships" id="258" r:id="Rdf52184fbbce47e1"/>
    <p:sldId xmlns:r="http://schemas.openxmlformats.org/officeDocument/2006/relationships" id="259" r:id="R6d2c7e8db6d94163"/>
    <p:sldId xmlns:r="http://schemas.openxmlformats.org/officeDocument/2006/relationships" id="260" r:id="R2551225f4da541fd"/>
    <p:sldId xmlns:r="http://schemas.openxmlformats.org/officeDocument/2006/relationships" id="261" r:id="R094e7e63b4e34443"/>
    <p:sldId xmlns:r="http://schemas.openxmlformats.org/officeDocument/2006/relationships" id="262" r:id="R8550f6f09d8945c7"/>
    <p:sldId xmlns:r="http://schemas.openxmlformats.org/officeDocument/2006/relationships" id="263" r:id="R7637628c9bb244ec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5ad7850fb44438" /><Relationship Type="http://schemas.openxmlformats.org/officeDocument/2006/relationships/slideMaster" Target="/ppt/slideMasters/slideMaster1.xml" Id="R3ded017e62c34b1c" /><Relationship Type="http://schemas.openxmlformats.org/officeDocument/2006/relationships/notesMaster" Target="/ppt/notesMasters/notesMaster1.xml" Id="Rd80f2d36a3754f18" /><Relationship Type="http://schemas.openxmlformats.org/officeDocument/2006/relationships/presProps" Target="/ppt/presProps.xml" Id="R7e4012004b3849b1" /><Relationship Type="http://schemas.openxmlformats.org/officeDocument/2006/relationships/viewProps" Target="/ppt/viewProps.xml" Id="Rda6db0091bdf4824" /><Relationship Type="http://schemas.openxmlformats.org/officeDocument/2006/relationships/tableStyles" Target="/ppt/tableStyles.xml" Id="Re7182baedb7a4b8d" /><Relationship Type="http://schemas.openxmlformats.org/officeDocument/2006/relationships/slide" Target="/ppt/slides/slide1.xml" Id="R540cb26a2fcd4f71" /><Relationship Type="http://schemas.openxmlformats.org/officeDocument/2006/relationships/slide" Target="/ppt/slides/slide2.xml" Id="R6369e10c732a41b4" /><Relationship Type="http://schemas.openxmlformats.org/officeDocument/2006/relationships/slide" Target="/ppt/slides/slide3.xml" Id="Rdf52184fbbce47e1" /><Relationship Type="http://schemas.openxmlformats.org/officeDocument/2006/relationships/slide" Target="/ppt/slides/slide4.xml" Id="R6d2c7e8db6d94163" /><Relationship Type="http://schemas.openxmlformats.org/officeDocument/2006/relationships/slide" Target="/ppt/slides/slide5.xml" Id="R2551225f4da541fd" /><Relationship Type="http://schemas.openxmlformats.org/officeDocument/2006/relationships/slide" Target="/ppt/slides/slide6.xml" Id="R094e7e63b4e34443" /><Relationship Type="http://schemas.openxmlformats.org/officeDocument/2006/relationships/slide" Target="/ppt/slides/slide7.xml" Id="R8550f6f09d8945c7" /><Relationship Type="http://schemas.openxmlformats.org/officeDocument/2006/relationships/slide" Target="/ppt/slides/slide8.xml" Id="R7637628c9bb2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ef728c396046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20801a61b45b4" /><Relationship Type="http://schemas.openxmlformats.org/officeDocument/2006/relationships/notesMaster" Target="/ppt/notesMasters/notesMaster1.xml" Id="R2464211c742442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cf77217b2842ea" /><Relationship Type="http://schemas.openxmlformats.org/officeDocument/2006/relationships/notesMaster" Target="/ppt/notesMasters/notesMaster1.xml" Id="Rcf4d86837e8c4f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cb4656f0d24436" /><Relationship Type="http://schemas.openxmlformats.org/officeDocument/2006/relationships/notesMaster" Target="/ppt/notesMasters/notesMaster1.xml" Id="R2a29c3f9a4a1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e2775f32bb4847" /><Relationship Type="http://schemas.openxmlformats.org/officeDocument/2006/relationships/notesMaster" Target="/ppt/notesMasters/notesMaster1.xml" Id="Rffc4ffb7dbdd49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eba66a4a3b4e43" /><Relationship Type="http://schemas.openxmlformats.org/officeDocument/2006/relationships/notesMaster" Target="/ppt/notesMasters/notesMaster1.xml" Id="Rb391c12fff0348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d1b25f94774339" /><Relationship Type="http://schemas.openxmlformats.org/officeDocument/2006/relationships/notesMaster" Target="/ppt/notesMasters/notesMaster1.xml" Id="Rbdd8bfb0eb3b48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7dd97aa4474fa8" /><Relationship Type="http://schemas.openxmlformats.org/officeDocument/2006/relationships/notesMaster" Target="/ppt/notesMasters/notesMaster1.xml" Id="R768090e7574549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1c3fa2cf694081" /><Relationship Type="http://schemas.openxmlformats.org/officeDocument/2006/relationships/notesMaster" Target="/ppt/notesMasters/notesMaster1.xml" Id="R02b8188708284f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ccba3f00242f2" /><Relationship Type="http://schemas.openxmlformats.org/officeDocument/2006/relationships/image" Target="/ppt/media/image.jpeg" Id="Ra6c29379950143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de26204274494" /><Relationship Type="http://schemas.openxmlformats.org/officeDocument/2006/relationships/image" Target="/ppt/media/image2.jpeg" Id="Rf9be8e2e357f48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c2aba84f645e1" /><Relationship Type="http://schemas.openxmlformats.org/officeDocument/2006/relationships/image" Target="/ppt/media/image3.jpeg" Id="R985ec6b4a82840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70a26433949f6" /><Relationship Type="http://schemas.openxmlformats.org/officeDocument/2006/relationships/image" Target="/ppt/media/image4.jpeg" Id="R87b295cb2cd542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44e3d510c4b1a" /><Relationship Type="http://schemas.openxmlformats.org/officeDocument/2006/relationships/image" Target="/ppt/media/image5.jpeg" Id="R30b88098dbaf4b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c5227218c4f4a" /><Relationship Type="http://schemas.openxmlformats.org/officeDocument/2006/relationships/image" Target="/ppt/media/image6.jpeg" Id="R7e1b381b29ba492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0e9134f524540" /><Relationship Type="http://schemas.openxmlformats.org/officeDocument/2006/relationships/image" Target="/ppt/media/image7.jpeg" Id="Rcc451b7a28624c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d6aa914cc4cf3" /><Relationship Type="http://schemas.openxmlformats.org/officeDocument/2006/relationships/image" Target="/ppt/media/image8.jpeg" Id="R09af98c506754d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ec6eb4181449c" /><Relationship Type="http://schemas.openxmlformats.org/officeDocument/2006/relationships/image" Target="/ppt/media/image9.jpeg" Id="Rc513accf9bd142cd" /></Relationships>
</file>

<file path=ppt/slideLayouts/slideLayout1.xml><?xml version="1.0" encoding="utf-8"?>
<p:sldLayout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29379950143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71"/>
            <a:ext cx="9144000" cy="685525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0415BA-E93A-4F53-81F2-ACDF83AFC36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85800" y="2493817"/>
            <a:ext cx="7772400" cy="101614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rgbClr val="0085C0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e8e2e357f48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696E8B84-96CF-43D2-811A-468415267FC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50126" y="2876550"/>
            <a:ext cx="1114698" cy="11049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88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1</a:t>
            </a:r>
            <a:endParaRPr/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A21064A2-7A91-4D38-A923-25120564166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405155" y="2876550"/>
            <a:ext cx="3779416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40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ec6b4a82840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F99008-4E0E-496D-A291-2B8B2A1879CB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402080"/>
            <a:ext cx="8577840" cy="4702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88B6EFEE-EB1B-4B0A-B62F-A7988541E3A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872605"/>
            <a:ext cx="7130039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8DF01D3C-42C0-4562-9E0B-28B56FBB7EAC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280410" y="2036693"/>
            <a:ext cx="8618537" cy="4552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295cb2cd542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3BBF36-CFB8-43B5-B238-9463298E17E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4894217"/>
            <a:ext cx="8577840" cy="166926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4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A7EF06E6-2F08-4CF4-B17D-6B6E7904932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86760" y="914400"/>
            <a:ext cx="8577840" cy="38322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88098dbaf4b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73D1F5-442C-4419-85B8-1E3017C7EE9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201785"/>
            <a:ext cx="8577840" cy="46590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E72C4104-D95F-45A2-97BC-19DD34DAE13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2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30E821D6-FF56-4C8A-80DB-50DC513D18A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2140" y="760130"/>
            <a:ext cx="8386109" cy="289818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3" name="Triángulo isósceles 12">
            <a:extLst xmlns:a="http://schemas.openxmlformats.org/drawingml/2006/main">
              <a:ext uri="{FF2B5EF4-FFF2-40B4-BE49-F238E27FC236}">
                <a16:creationId xmlns:a16="http://schemas.microsoft.com/office/drawing/2014/main" id="{24BB82C5-E697-4D74-A6B8-DCDA024C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020" y="844174"/>
            <a:ext cx="214509" cy="12173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5C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b381b29ba49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D5A5C5-784A-4F40-89DE-88D867D5FEBE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757647"/>
            <a:ext cx="8577840" cy="51032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218EDA74-50ED-4B16-8AE6-DFF17C0C5B7F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n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51b7a28624c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5B0342B8-4A6B-4887-BE8D-0A9FEE0E670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-8538" y="-3436"/>
            <a:ext cx="4282676" cy="6876499"/>
          </a:xfrm>
          <a:custGeom xmlns:a="http://schemas.openxmlformats.org/drawingml/2006/main"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>
                <a:highlight>
                  <a:srgbClr val="FFFF00"/>
                </a:highlight>
              </a:defRPr>
            </a:lvl1pPr>
          </a:lstStyle>
          <a:p xmlns:a="http://schemas.openxmlformats.org/drawingml/2006/main">
            <a:r>
              <a:t>IMAGEN AQUI</a:t>
            </a:r>
            <a:endParaRPr/>
          </a:p>
        </p:txBody>
      </p:sp>
      <p:sp>
        <p:nvSpPr>
          <p:cNvPr id="13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9B0F5151-775B-4960-B8C2-2D36A023A84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571998" y="718457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4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CC979354-C1F4-4702-9130-E9771C2A7C0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571997" y="1265001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5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D03E5260-69F5-4598-AFBB-D4CE8ECEC89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572000" y="1973263"/>
            <a:ext cx="4238625" cy="45418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0000"/>
                </a:solidFill>
              </a:defRPr>
            </a:lvl1pPr>
            <a:lvl2pPr>
              <a:buNone/>
              <a:defRPr>
                <a:solidFill>
                  <a:srgbClr val="000000"/>
                </a:solidFill>
              </a:defRPr>
            </a:lvl2pPr>
            <a:lvl3pPr>
              <a:buNone/>
              <a:defRPr>
                <a:solidFill>
                  <a:srgbClr val="000000"/>
                </a:solidFill>
              </a:defRPr>
            </a:lvl3pPr>
            <a:lvl4pPr>
              <a:buNone/>
              <a:defRPr>
                <a:solidFill>
                  <a:srgbClr val="000000"/>
                </a:solidFill>
              </a:defRPr>
            </a:lvl4pPr>
            <a:lvl5pPr>
              <a:buNone/>
              <a:defRPr>
                <a:solidFill>
                  <a:srgbClr val="000000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f98c506754d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" y="0"/>
            <a:ext cx="914339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Marcador de posición de imagen 22">
            <a:extLst xmlns:a="http://schemas.openxmlformats.org/drawingml/2006/main">
              <a:ext uri="{FF2B5EF4-FFF2-40B4-BE49-F238E27FC236}">
                <a16:creationId xmlns:a16="http://schemas.microsoft.com/office/drawing/2014/main" id="{DDB26D69-B67D-49FC-AEFD-E56284F28D3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9526" y="-9526"/>
            <a:ext cx="9144000" cy="6870074"/>
          </a:xfrm>
          <a:custGeom xmlns:a="http://schemas.openxmlformats.org/drawingml/2006/main"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Imagen aquí</a:t>
            </a:r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D1406431-D83E-4A6B-BCB6-C9AE3CFB4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33699" y="2230520"/>
            <a:ext cx="3276600" cy="23899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3accf9bd142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105FF21B-2763-41A6-97CD-9EF03C1E4E1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91124" y="3015915"/>
            <a:ext cx="6761750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54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¡GRACIAS!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a87b1efb0e44cb" /><Relationship Type="http://schemas.openxmlformats.org/officeDocument/2006/relationships/slideLayout" Target="/ppt/slideLayouts/slideLayout1.xml" Id="R2058014312a04a8c" /><Relationship Type="http://schemas.openxmlformats.org/officeDocument/2006/relationships/slideLayout" Target="/ppt/slideLayouts/slideLayout2.xml" Id="R2e80c7cd9a234bf7" /><Relationship Type="http://schemas.openxmlformats.org/officeDocument/2006/relationships/slideLayout" Target="/ppt/slideLayouts/slideLayout3.xml" Id="R488d91491bb94393" /><Relationship Type="http://schemas.openxmlformats.org/officeDocument/2006/relationships/slideLayout" Target="/ppt/slideLayouts/slideLayout4.xml" Id="Rc2ed004fac3a4723" /><Relationship Type="http://schemas.openxmlformats.org/officeDocument/2006/relationships/slideLayout" Target="/ppt/slideLayouts/slideLayout5.xml" Id="R9ce52cf4b428449a" /><Relationship Type="http://schemas.openxmlformats.org/officeDocument/2006/relationships/slideLayout" Target="/ppt/slideLayouts/slideLayout6.xml" Id="Rfa9cab5bce864e20" /><Relationship Type="http://schemas.openxmlformats.org/officeDocument/2006/relationships/slideLayout" Target="/ppt/slideLayouts/slideLayout7.xml" Id="R0ea7870d6a064fb2" /><Relationship Type="http://schemas.openxmlformats.org/officeDocument/2006/relationships/slideLayout" Target="/ppt/slideLayouts/slideLayout8.xml" Id="R01827cc44fd1480b" /><Relationship Type="http://schemas.openxmlformats.org/officeDocument/2006/relationships/slideLayout" Target="/ppt/slideLayouts/slideLayout9.xml" Id="R17e67fa630ae44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A3D9F8A-205F-4596-AC1D-5D41CCEA77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FA4967-6476-4B16-A2C1-DDA0CD3EBD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75DD1B-1F28-4F39-835F-B53DCAA144F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475B63D-E972-45BF-A693-820FC9EC888F}" type="datetimeFigureOut">
              <a:t>05/10/2026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6EEFD5-4860-4F21-B357-E0C977D165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053A35-43BC-4A66-8EB5-E379A146713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1181F41-F723-4400-B87F-3A7D3AC75E0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8014312a04a8c"/>
    <p:sldLayoutId xmlns:r="http://schemas.openxmlformats.org/officeDocument/2006/relationships" id="2147483650" r:id="R2e80c7cd9a234bf7"/>
    <p:sldLayoutId xmlns:r="http://schemas.openxmlformats.org/officeDocument/2006/relationships" id="2147483651" r:id="R488d91491bb94393"/>
    <p:sldLayoutId xmlns:r="http://schemas.openxmlformats.org/officeDocument/2006/relationships" id="2147483652" r:id="Rc2ed004fac3a4723"/>
    <p:sldLayoutId xmlns:r="http://schemas.openxmlformats.org/officeDocument/2006/relationships" id="2147483653" r:id="R9ce52cf4b428449a"/>
    <p:sldLayoutId xmlns:r="http://schemas.openxmlformats.org/officeDocument/2006/relationships" id="2147483654" r:id="Rfa9cab5bce864e20"/>
    <p:sldLayoutId xmlns:r="http://schemas.openxmlformats.org/officeDocument/2006/relationships" id="2147483655" r:id="R0ea7870d6a064fb2"/>
    <p:sldLayoutId xmlns:r="http://schemas.openxmlformats.org/officeDocument/2006/relationships" id="2147483656" r:id="R01827cc44fd1480b"/>
    <p:sldLayoutId xmlns:r="http://schemas.openxmlformats.org/officeDocument/2006/relationships" id="2147483657" r:id="R17e67fa630ae44b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77fe0a40e24b82" /><Relationship Type="http://schemas.openxmlformats.org/officeDocument/2006/relationships/image" Target="/ppt/media/image10.jpeg" Id="Ree7d8f820967487f" /><Relationship Type="http://schemas.openxmlformats.org/officeDocument/2006/relationships/notesSlide" Target="/ppt/notesSlides/notesSlide1.xml" Id="Re59b6714a7f64b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116c483284dd2" /><Relationship Type="http://schemas.openxmlformats.org/officeDocument/2006/relationships/notesSlide" Target="/ppt/notesSlides/notesSlide2.xml" Id="Ree7438fde6494a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6564b8168401e" /><Relationship Type="http://schemas.openxmlformats.org/officeDocument/2006/relationships/notesSlide" Target="/ppt/notesSlides/notesSlide3.xml" Id="Rbfd84c0716654b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77bb2f9d24631" /><Relationship Type="http://schemas.openxmlformats.org/officeDocument/2006/relationships/notesSlide" Target="/ppt/notesSlides/notesSlide4.xml" Id="R80a640878e8a42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f2f2931aa7445f" /><Relationship Type="http://schemas.openxmlformats.org/officeDocument/2006/relationships/notesSlide" Target="/ppt/notesSlides/notesSlide5.xml" Id="Rd5de5cf389b14c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ccf3443c94ed3" /><Relationship Type="http://schemas.openxmlformats.org/officeDocument/2006/relationships/hyperlink" Target="https://biblioteca.upds.edu.bo/" TargetMode="External" Id="Raba96697445847e4" /><Relationship Type="http://schemas.openxmlformats.org/officeDocument/2006/relationships/notesSlide" Target="/ppt/notesSlides/notesSlide6.xml" Id="R0521b09107d842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67e60ff8540b0" /><Relationship Type="http://schemas.openxmlformats.org/officeDocument/2006/relationships/notesSlide" Target="/ppt/notesSlides/notesSlide7.xml" Id="Rafef013c830640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c8e938d2d4392" /><Relationship Type="http://schemas.openxmlformats.org/officeDocument/2006/relationships/hyperlink" Target="https://dspace.scz.ucb.edu.bo/dspace/handle/123456789/1392" TargetMode="External" Id="R545b0a05f60f4422" /><Relationship Type="http://schemas.openxmlformats.org/officeDocument/2006/relationships/hyperlink" Target="https://dspace.scz.ucb.edu.bo/dspace/handle/123456789/1178" TargetMode="External" Id="R193aaa9fc35d4fd9" /><Relationship Type="http://schemas.openxmlformats.org/officeDocument/2006/relationships/hyperlink" Target="https://biblioteca.upds.edu.bo/biblioteca/index.php?id=2516&amp;lvl=categ_see" TargetMode="External" Id="R35e45003d09246a5" /><Relationship Type="http://schemas.openxmlformats.org/officeDocument/2006/relationships/image" Target="/ppt/media/image11.jpeg" Id="R228e67d9f78d489d" /><Relationship Type="http://schemas.openxmlformats.org/officeDocument/2006/relationships/notesSlide" Target="/ppt/notesSlides/notesSlide8.xml" Id="Rc687996f35ae41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4B79B265-E8C8-483D-BA8C-2291BAB2B12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CF1A82-790B-43A0-A40B-4FFFF23DFA7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BA006B-0254-4392-A1B5-534FD66F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8912"/>
            <a:ext cx="5989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2303C"/>
                </a:solidFill>
              </a:rPr>
              <a:t>ACTIVIDAD 1 · TEMA 03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826DFB0-9446-42A4-8FB4-B3609A26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68096"/>
            <a:ext cx="59893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OBJETOS Y CICLO DE VIDA DE LOS ESTADOS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62FC646-F3F6-48F9-8343-25ACF179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90472"/>
            <a:ext cx="5989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3C"/>
                </a:solidFill>
              </a:rPr>
              <a:t>SISTEMAS DE INFORMACIÓN 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93BD97-1777-4B6B-BE38-F6570475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474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/>
              <a:t>INTEGRANTES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06D7E66-1E3F-42BD-A7BA-C736544D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3347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Ashley Aguilar Perez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260C97C-509C-4B78-A9E0-AF29CAE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54096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Nicolas Soria Yabeta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0EBAA3B-F1E6-4CAE-8DAC-1BB9DA7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74720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Erick Bravo Borges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D26C2CA-9303-4564-89FD-EA2C2404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95344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Jose Manuel Callecusi Guarachi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6791EC5-A20D-48D1-824D-00868D49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315968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Ruben Churqui Limachi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4CAFA92-E845-4788-B312-16A06613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23560"/>
            <a:ext cx="5989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2303C"/>
                </a:solidFill>
              </a:rPr>
              <a:t>UNIVERSIDAD PRIVADA DOMINGO SAVIO</a:t>
            </a:r>
          </a:p>
        </p:txBody>
      </p:sp>
      <p:pic>
        <p:nvPicPr>
          <p:cNvPr id="34" name="Foto grupal · orientación corregid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d8f820967487f"/>
          <a:stretch xmlns:a="http://schemas.openxmlformats.org/drawingml/2006/main"/>
        </p:blipFill>
        <p:spPr>
          <a:xfrm xmlns:a="http://schemas.openxmlformats.org/drawingml/2006/main" rot="0">
            <a:off x="609600" y="1943100"/>
            <a:ext cx="3429000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15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7C38B25-0217-4719-94F1-43E9227EB9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7D0194-C46B-4852-A1A6-C190F9D46C7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4472A76-2878-4891-A850-98A40742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Un objeto muestra una instancia en un momento concreto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104B624-27B5-47DF-9536-2C9E12C6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OBJETO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140689-680C-4C4B-9903-188986F7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UNA FOTOGRAFÍA ESTRUCTURAL DE LOS DATOS EXISTENTES EN UN ESCENARIO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8236F7-065E-430A-A0FB-0692EC5F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1762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EBDE386-0769-4FF2-BA84-C72BAC06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01952"/>
            <a:ext cx="202996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ESTUDIANTE03 : USUARIO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4EC78D-8CC9-42DF-BCE2-6204798A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21992"/>
            <a:ext cx="192023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 = U-038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nombre = Ana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EA6644-507D-4234-948C-55863BFA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828800"/>
            <a:ext cx="21762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3FF651A-4ED2-4A4C-9C41-068DBF54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901952"/>
            <a:ext cx="202996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PRESTAMO42 : PRÉSTAMO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C5DDD03-709B-47AC-80FC-B1C073E2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2221992"/>
            <a:ext cx="192023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 = P-042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estado = Activo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fecha = 06/10/2026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73495D-59D6-423C-89BC-D630995C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828800"/>
            <a:ext cx="217627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0680EF-3CEA-4B80-AF97-85A8F1AD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01952"/>
            <a:ext cx="2029967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EJEMPLAR01 : EJEMPLAR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0B1E2AC-F891-4DBF-AAFA-2B0A726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221992"/>
            <a:ext cx="1920239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código = E-104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estado = Prestado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014511CD-D908-462F-91B7-B6F4EF83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2491740"/>
            <a:ext cx="493776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416CBB"/>
            </a:solidFill>
          </a:ln>
        </p:spPr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A7B82691-56E7-4BEF-97DF-44633B93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5" y="2491740"/>
            <a:ext cx="493777" cy="0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416CBB"/>
            </a:solidFill>
          </a:ln>
        </p:spPr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8E0AB64-16A0-44BA-9E2D-26D60E1E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310128"/>
            <a:ext cx="34015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i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enlaza a la persona con la copia prestada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86DD6B9-9981-43B1-8FAB-1C0DAB87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96512"/>
            <a:ext cx="7726679" cy="5486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336C2E2-338D-4818-BDE4-9E6FA9E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169664"/>
            <a:ext cx="7434071" cy="4023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notación instancia:Clase nombra un objeto concreto; los valores muestran una situación del sistema.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38B4B00-0E46-45F1-B28A-7749A464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OMG, UML 2.5.1, diagramas de objetos · escenario ilustrativo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6670462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03ECA37B-55D1-4956-BD3C-F2E2CB20D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89D079-A598-4D87-85D4-97F514A0A1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BFDE12-15D5-44F6-9E1C-09CF2B4B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Las instancias unen usuarios, préstamos y ejemplares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83E1FA-2E6B-4940-8D44-B193F1D0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OBJETO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FCA9D94-232B-46E1-BA95-B2E0E9EC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UN MISMO EJEMPLAR CONSERVA SU IDENTIDAD MIENTRAS PARTICIPA EN DISTINTAS OPERACIONES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8C68A2-74CC-4A8F-B671-5D28B6E6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28800"/>
            <a:ext cx="2212848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93E3838-6893-4755-BAEC-BCA5005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1901952"/>
            <a:ext cx="2066543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USUARIO : USUARIO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08C126B-0CEE-4D2E-AC5C-D47A2D33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221992"/>
            <a:ext cx="1956815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id_usuario = U-038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rol = lector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3522C34-A45A-4677-8760-D3A6EECD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828800"/>
            <a:ext cx="2212848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345D272-3B13-4C17-B6B1-0D479AA4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1901952"/>
            <a:ext cx="2066543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PRESTAMO : PRÉSTAMO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E94866B-BD0D-4FCF-9915-6B234252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221992"/>
            <a:ext cx="1956815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 = P-042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fecha = 06/10/2026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estado = activo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93DFC25-B93D-424D-9E79-B3E9CDB1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828800"/>
            <a:ext cx="2212848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7449787-358C-410D-8604-14539966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901952"/>
            <a:ext cx="2066543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 : EJEMPLAR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C6B75F-AFC2-451D-8B61-DD90B3A6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221992"/>
            <a:ext cx="1956815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 = E-104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código = B-104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estado = prestado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DD3121B7-68F0-4F5B-A808-03E1B069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1" y="2505456"/>
            <a:ext cx="512065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416CBB"/>
            </a:solidFill>
          </a:ln>
        </p:spPr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0629AC1A-13D3-4CA0-9ADD-5AA0C5EF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56" y="2505456"/>
            <a:ext cx="512064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416CBB"/>
            </a:solidFill>
          </a:ln>
        </p:spPr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F9AA9FA-F064-4657-890E-03FD01EE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12463"/>
            <a:ext cx="7644383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4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diagrama representa un escenario puntual. El diagrama de clases define el tipo general; el diagrama de objetos muestra valores y enlaces de sus instancias.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1FD1415-E4E1-4306-BCB2-FDF224B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590288"/>
            <a:ext cx="7726679" cy="4389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FC28BAC-21E9-45D7-9F5D-956E1869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663440"/>
            <a:ext cx="7434071" cy="292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Los identificadores y fechas ilustran la notación; no son datos personales ni registros institucionales.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584DF29-8FD8-4270-93B5-80C40F26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OMG, UML 2.5.1 · escena ilustrativa relacionada con la consulta del catálogo UPDS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420593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B71E0878-D112-4291-9131-87FC8EE7FD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299E2C-AFBC-4D3B-BC83-691D0A43EDAB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7DE3E8-6780-4DD1-A9B8-87591D18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Los eventos provocan cambios entre estados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5B7DC43-EBC8-4291-BD13-7B43B5E5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ESTADOS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95EF1A-3650-4728-A845-773582EC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FLUJO ANALÍTICO DE CONSULTA DE UNA FICHA PÚBLICA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3C785B7-88AE-44BA-9F52-3735BE05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49424"/>
            <a:ext cx="1645920" cy="9875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651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F8C174-2085-4282-A35A-93C949FC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249424"/>
            <a:ext cx="1536192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Resultados
coincidencias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C965985-21BA-4CF0-BE75-553CB93D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249424"/>
            <a:ext cx="1645920" cy="9875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651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026476D-1B4F-4EC5-BFF5-C475A0B9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2249424"/>
            <a:ext cx="1536192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Ficha
registro abierto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24767C6-EE09-4B82-AF49-522BD1E2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249424"/>
            <a:ext cx="1645920" cy="9875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651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E481774-AA99-4E9D-88B4-82E0CB97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249424"/>
            <a:ext cx="1536192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Ejemplares
datos consultables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91728D0-3AEA-4BFD-AA46-639F16F5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249424"/>
            <a:ext cx="1353312" cy="9875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651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DB5F6D-03D2-4221-BE74-F9F7AD8A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249424"/>
            <a:ext cx="1243584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Reserva
opción disponible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0B9D2D9E-F832-4A62-A241-C98E812D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743200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0075A9"/>
            </a:solidFill>
            <a:tailEnd type="triangle" w="med" len="med"/>
          </a:ln>
        </p:spPr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542FDF4B-B164-41DD-9CDB-20F8BE5B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743200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0075A9"/>
            </a:solidFill>
            <a:tailEnd type="triangle" w="med" len="med"/>
          </a:ln>
        </p:spPr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1580C55D-E804-4A81-9B30-8E340ABC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743200"/>
            <a:ext cx="402336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0075A9"/>
            </a:solidFill>
            <a:tailEnd type="triangle" w="med" len="med"/>
          </a:ln>
        </p:spPr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275F597-6C55-47EF-9898-89273FC7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1847088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abrir ficha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C0A570C-1986-4501-A023-8E609F6B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47088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revisar ejemplares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3E81C78-AA9C-4306-82DA-963DDFC8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847088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iniciar reserva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719745-9A40-43EF-8258-A2E019FC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95344"/>
            <a:ext cx="7424927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Estado = condición que persiste · transición = cambio producido por un evento · flecha = dirección del cambio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109B64A4-2925-46A1-8502-839A073F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09160"/>
            <a:ext cx="7726679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972A32F-2391-4A83-83D9-AAEE498F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782312"/>
            <a:ext cx="7434071" cy="42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flujo representa las interacciones visibles; la gestión interna de reservas no se deduce de la página pública.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E50642B-B828-42C9-ADDD-E57ED2EC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OMG, UML 2.5.1, cláusula 14 · consulta de fichas, ejemplares y reserva visible en el catálogo público UPDS  ·  as of 6 de octubre de 2026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463748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EC41880-2AA7-49AC-B9CD-E9AAF3A9D9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6A0CAF-86E7-4AB7-803E-18E2E56E2DB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B7D68F-CFA6-44F8-9568-32F7BE33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El evento, la guarda y la acción explican una transición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08149B-BC49-4BCB-B816-A10EBBA0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LECTURA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8F7F8B-3F11-4FA9-B16C-2C1D9AA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LA NOTACIÓN DESCRIBE POR QUÉ Y BAJO QUÉ CONDICIÓN OCURRE EL CAMBIO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47F2F5-DF59-4518-B54B-2017CF79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2395728" cy="14081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5CF1C49-816E-49E8-8BBF-43E4A6C5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55648"/>
            <a:ext cx="2103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EVENTO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046D55-3650-42B6-985E-D47DA205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66543"/>
            <a:ext cx="2103120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devolver(ejemplar)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0B17F95-BC12-4893-9B22-2C8DE93A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627632"/>
            <a:ext cx="2395728" cy="14081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FC39CF3-A3B0-49DD-83FF-76B03B75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1755648"/>
            <a:ext cx="2103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GUARDA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B3559E0-C7FA-4BF7-B04D-24FB2614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066543"/>
            <a:ext cx="2103120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[préstamo corresponde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 esta copia]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A4CF816-DB57-4295-97D4-C5056277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1627632"/>
            <a:ext cx="2395728" cy="14081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B2BF274-76DB-40EA-8456-30BA4BA7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755648"/>
            <a:ext cx="2103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ACCIÓN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2C1191A-5F88-4778-8E06-EF9CEB99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066543"/>
            <a:ext cx="2103120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registrar fecha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y cerrar el préstamo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04C4EC2D-7ABC-48C3-BD30-65C9A0FC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4160520"/>
            <a:ext cx="82296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0075A9"/>
            </a:solidFill>
            <a:tailEnd type="triangle" w="med" len="med"/>
          </a:ln>
        </p:spPr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7B767719-7B97-407E-AB83-A8CCD76A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4160520"/>
            <a:ext cx="822960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0075A9"/>
            </a:solidFill>
            <a:tailEnd type="triangle" w="med" len="med"/>
          </a:ln>
        </p:spPr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3372641-FFD1-49A2-AD44-890A75E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30752"/>
            <a:ext cx="1938528" cy="85953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ACD3F26-226F-4F98-A0FE-55C35683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3730752"/>
            <a:ext cx="182880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Prestado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estado inicial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D63DFE-22DA-4428-967B-93BE9F18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730752"/>
            <a:ext cx="1938528" cy="85953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2863499-2BB8-4A45-AC58-1D344BF5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730752"/>
            <a:ext cx="182880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validar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guarda verdadera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391B00A-97F2-48D4-B484-5D724AE7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730752"/>
            <a:ext cx="1938528" cy="85953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8D93379-596C-4D1E-9A4A-1224D31E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1" y="3730752"/>
            <a:ext cx="182880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Disponible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estado destino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F112618E-32A0-4DDC-B4C7-90683E76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956048"/>
            <a:ext cx="7726679" cy="42062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DC790E6-7AEE-4F12-90C3-19A2480F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029200"/>
            <a:ext cx="7434071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guarda impide registrar una devolución sobre un préstamo que pertenece a otro ejemplar.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288139A-5A54-4082-A3C3-0CBB98DC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OMG, UML 2.5.1 · transición de estado ilustrativa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401441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0A41A163-7849-4AC9-A54F-B567AC97F9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478990-E569-4D96-B6CC-43AEDCAF9C11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AD472D4-D6F3-4266-948E-896A2915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 consulta pública del catálogo UPDS sustenta este escenario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3D3B922-D009-4F8C-B5C0-FACB1745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UPDS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FC75C33-1D0D-479E-BD69-FC6DFF7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VISTAS PÚBLICAS DEL CATÁLOGO Y UN FLUJO ANALÍTICO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0FE8706-A325-475D-9C74-4226BEF9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029968"/>
            <a:ext cx="2761488" cy="11155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07BC32C-E07E-435F-8683-2479A00C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2029968"/>
            <a:ext cx="265176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Catálogo público
Biblioteca UPDS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1CE3AB52-06F5-438A-BC01-47627614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003" y="2170940"/>
            <a:ext cx="623273" cy="127356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16CBB"/>
            </a:solidFill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A46680F-5389-4CF2-A8A0-7A15535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9344"/>
            <a:ext cx="1755648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1996869-828D-481C-96FE-275ADFAF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09344"/>
            <a:ext cx="1645919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Registro encontrado
visible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D6226FA-6A29-4292-89EA-F88163F9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522457" y="2973544"/>
            <a:ext cx="624365" cy="17010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16CBB"/>
            </a:solidFill>
          </a:ln>
        </p:spPr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35A7CF2-1F26-4CB8-AE6C-78DF4F7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1755648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2DEB745-F9BE-4FE3-8625-9565B2A9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017520"/>
            <a:ext cx="1645919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Ficha consultada
visible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F6BC439B-705D-4959-97CD-F0D64CCC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79435" y="2170940"/>
            <a:ext cx="623273" cy="127356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16CBB"/>
            </a:solidFill>
          </a:ln>
        </p:spPr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60D194D-268A-4180-8C46-C7589D95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1609344"/>
            <a:ext cx="1755648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0091CC9-6A67-4AA1-8629-F72EE483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7" y="1609344"/>
            <a:ext cx="1645919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Ejemplares revisados
visible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7A7C32D7-108E-4DFF-B757-432A8BE3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78889" y="2973544"/>
            <a:ext cx="624365" cy="17010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416CBB"/>
            </a:solidFill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7B8BE58-9F07-419F-A866-ED0414DA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3017520"/>
            <a:ext cx="1755648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CBBCC67-7FA5-4A5B-9739-9E28255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7" y="3017520"/>
            <a:ext cx="1645919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Reserva iniciada
opción visible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4725669-5537-4ACC-8881-76A3EF96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187952"/>
            <a:ext cx="747979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70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catálogo muestra fichas, ejemplares y disponibilidad consultable; sus estados internos y reglas de reserva no son públicos.</a:t>
            </a:r>
          </a:p>
        </p:txBody>
      </p:sp>
      <p:sp>
        <p:nvSpPr>
          <p:cNvPr id="22" name="TextBox 21">
            <a:hlinkClick xmlns:r="http://schemas.openxmlformats.org/officeDocument/2006/relationships" xmlns:a="http://schemas.openxmlformats.org/drawingml/2006/main" r:id="Raba96697445847e4"/>
            <a:extLst xmlns:a="http://schemas.openxmlformats.org/drawingml/2006/main">
              <a:ext uri="{FF2B5EF4-FFF2-40B4-BE49-F238E27FC236}">
                <a16:creationId xmlns:a16="http://schemas.microsoft.com/office/drawing/2014/main" id="{8E4335DC-4D0D-43B3-A6FD-D4680DDE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754880"/>
            <a:ext cx="2880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Abrir catálogo público UPDS ↗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BBEFE8B-A0E5-467A-8E30-E0DEDC18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consulta de registros y ejemplares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215198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B1A2E36E-EBE4-47E0-83FE-F5902E29F6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730E1B-582A-4FF6-9D35-B79E8B16DE4B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3663155-2A68-4207-B02B-666217C6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Evidencia del catálogo y reglas propuestas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4BC35C9-7329-407D-8B07-48C4A2A4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06 · ALCANCE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9A6D15-5386-4C08-9609-44759D98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SEPARACIÓN NECESARIA AL ANALIZAR UN SISTEMA REAL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157EB4B-0FD7-4697-8FEA-B458AC09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3749039" cy="2011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D82C7E-15EE-4A39-AC28-0C16F4B5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00784"/>
            <a:ext cx="34564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VISIBLE EN EL CATÁLOGO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42EA31-3742-4436-B636-79A8896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011680"/>
            <a:ext cx="3456432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Registros bibliográficos consultables
Ejemplares y disponibilidad visible
Opción de reserva en determinados registros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6CCE575-5EF8-4749-94B2-2B651BDC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572768"/>
            <a:ext cx="3749039" cy="20116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3F63945-7CED-4C68-9BC0-A1F9AA2F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700784"/>
            <a:ext cx="34564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RECONSTRUCCIÓN ANALÍTICA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821A49-65A7-4D69-AC81-5E266A0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011680"/>
            <a:ext cx="3456432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Resultados → ficha → ejemplares
Disponibilidad consultada
Opción de reserva visible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6B6E33D-BC5A-435C-A612-A3D62A6E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9080"/>
            <a:ext cx="74066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flujo modela lo visible desde la página pública; no atribuye estados ni reglas internas de reserva a UPDS.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53CB0D5-A7AE-4530-9C5C-82AB15CE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estados analíticos propuestos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891926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576FD642-DE8F-4FB2-860E-57D73987E4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D2E98F-DAD8-46C2-8E0F-C7F5FEA1505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7EF1B8-1534-463D-8F51-CC09C99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Referencias bibliográficas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52949-F285-48C7-897A-5E0701FA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TEMA 03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D41F7A-3E35-42C2-9D2C-71FA72D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7955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Referencias para profundizar · Objetos y ciclo de vida de los estados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9272FD5-191B-416B-B362-988F5CB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15D8292-6728-42EC-9169-9910AD6D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80160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DIGITAL · BIBLIOTECA UCB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1F8B61-C346-4A96-B62A-C87EB0E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27048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Integrar UML en los proyectos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8C6C750-7ED2-4B37-A021-407336EE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74519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Nathalie Lopez · Jorge Migueis · Emmanuel Pichon · 1.ª ed.</a:t>
            </a:r>
          </a:p>
        </p:txBody>
      </p:sp>
      <p:sp>
        <p:nvSpPr>
          <p:cNvPr id="11" name="TextBox 10">
            <a:hlinkClick xmlns:r="http://schemas.openxmlformats.org/officeDocument/2006/relationships" xmlns:a="http://schemas.openxmlformats.org/drawingml/2006/main" r:id="R545b0a05f60f4422"/>
            <a:extLst xmlns:a="http://schemas.openxmlformats.org/drawingml/2006/main">
              <a:ext uri="{FF2B5EF4-FFF2-40B4-BE49-F238E27FC236}">
                <a16:creationId xmlns:a16="http://schemas.microsoft.com/office/drawing/2014/main" id="{514AF655-05F4-4D63-A350-12657A2F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57984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Ver libro digital 1 ↗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2859290-8CA2-4AEF-BC01-599BEBB4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0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1E7C753-1F83-4DBE-A838-C3D365C8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70048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DIGITAL · BIBLIOTECA UCB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013B3C6-2561-4C71-92D7-696F518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16936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proceso unificado de desarrollo de software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6DB3031-23B6-416F-9372-F2033028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64408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Ivar Jacobson · Grady Booch · James Rumbaugh · 1.ª ed.</a:t>
            </a:r>
          </a:p>
        </p:txBody>
      </p:sp>
      <p:sp>
        <p:nvSpPr>
          <p:cNvPr id="16" name="TextBox 15">
            <a:hlinkClick xmlns:r="http://schemas.openxmlformats.org/officeDocument/2006/relationships" xmlns:a="http://schemas.openxmlformats.org/drawingml/2006/main" r:id="R193aaa9fc35d4fd9"/>
            <a:extLst xmlns:a="http://schemas.openxmlformats.org/drawingml/2006/main">
              <a:ext uri="{FF2B5EF4-FFF2-40B4-BE49-F238E27FC236}">
                <a16:creationId xmlns:a16="http://schemas.microsoft.com/office/drawing/2014/main" id="{8901069B-65C8-4ACE-ACAC-FD9B228B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Ver libro digital 2 ↗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92854C7-44D8-4DDD-A21A-5D5410CD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0208"/>
            <a:ext cx="8010144" cy="1645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DC3E4E1-0948-486C-9501-F95C60B0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59936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IMPRESO · EJEMPLAR CONSULTADO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837AD3F-AFC6-4FAA-9AE1-C62ECDE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06824"/>
            <a:ext cx="6355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UML con Rational Rose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7C1767-2A09-45F7-A7EB-7C913046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54296"/>
            <a:ext cx="6355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Gesvin Romero Moreno · Grupo Editorial Megabyte · 1.ª ed., 2004 · pp. 24–27</a:t>
            </a:r>
          </a:p>
        </p:txBody>
      </p:sp>
      <p:sp>
        <p:nvSpPr>
          <p:cNvPr id="21" name="TextBox 20">
            <a:hlinkClick xmlns:r="http://schemas.openxmlformats.org/officeDocument/2006/relationships" xmlns:a="http://schemas.openxmlformats.org/drawingml/2006/main" r:id="R35e45003d09246a5"/>
            <a:extLst xmlns:a="http://schemas.openxmlformats.org/drawingml/2006/main">
              <a:ext uri="{FF2B5EF4-FFF2-40B4-BE49-F238E27FC236}">
                <a16:creationId xmlns:a16="http://schemas.microsoft.com/office/drawing/2014/main" id="{F4D541E6-AB8F-4BF8-9185-72F0EABD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37760"/>
            <a:ext cx="2286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Consultar ficha bibliográfica ↗</a:t>
            </a:r>
          </a:p>
        </p:txBody>
      </p:sp>
      <p:pic>
        <p:nvPicPr>
          <p:cNvPr id="43" name="Foto del libro impreso · tema 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e67d9f78d48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08" y="4014215"/>
            <a:ext cx="1097280" cy="1463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91003"/>
      </p:ext>
    </p:extLst>
  </p:cSld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2026-10-07T13:54:17.2830000Z</dcterms:created>
  <dcterms:modified xsi:type="dcterms:W3CDTF">2026-10-07T13:54:17.2830000Z</dcterms:modified>
</coreProperties>
</file>