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4" r:id="rId14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9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biblioteca.upds.edu.bo/" TargetMode="External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ditor.plantuml.com/uml/DOsn3i8m34JtV8N514C7sXrLLFq4sDt4RIsvCKgS2V7lD2fiT_TqTtqsJ5OsSKApWIaaNbQ3m8cyiKQ7tZJ1cAq4ncW4c65qbM9SXE0qeA7eeZ3n9An67XFh2TuEu7mlURTWR4NqKhkFQyq7ZRd8_Wqp-nKFqbRofBI_vvT6dbWuO3XWvpvkXAQvrOMVQF-YSpt5K3Rv0W" TargetMode="External"/><Relationship Id="rId3" Type="http://schemas.openxmlformats.org/officeDocument/2006/relationships/hyperlink" Target="https://app.diagrams.net/" TargetMode="External"/><Relationship Id="rId4" Type="http://schemas.openxmlformats.org/officeDocument/2006/relationships/hyperlink" Target="https://staruml.io/" TargetMode="External"/><Relationship Id="rId5" Type="http://schemas.openxmlformats.org/officeDocument/2006/relationships/hyperlink" Target="https://www.omg.org/spec/UML/2.5.1/PDF" TargetMode="External"/><Relationship Id="rId6" Type="http://schemas.openxmlformats.org/officeDocument/2006/relationships/hyperlink" Target="https://plantuml.com/en/starting" TargetMode="External"/><Relationship Id="rId7" Type="http://schemas.openxmlformats.org/officeDocument/2006/relationships/hyperlink" Target="https://www.drawio.com/docs/diagram-types/uml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dspace.scz.ucb.edu.bo/dspace/handle/123456789/1392" TargetMode="External"/><Relationship Id="rId3" Type="http://schemas.openxmlformats.org/officeDocument/2006/relationships/hyperlink" Target="https://dspace.scz.ucb.edu.bo/dspace/handle/123456789/1178" TargetMode="External"/><Relationship Id="rId4" Type="http://schemas.openxmlformats.org/officeDocument/2006/relationships/hyperlink" Target="https://biblioteca.upds.edu.bo/biblioteca/index.php?id=2516&amp;lvl=categ_see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hyperlink" Target="https://biblioteca.upds.edu.bo/" TargetMode="External"/><Relationship Id="rId8" Type="http://schemas.openxmlformats.org/officeDocument/2006/relationships/hyperlink" Target="https://www.omg.org/spec/UML/2.5.1/PDF" TargetMode="External"/><Relationship Id="rId9" Type="http://schemas.openxmlformats.org/officeDocument/2006/relationships/hyperlink" Target="https://plantuml.com/en/starting" TargetMode="External"/><Relationship Id="rId10" Type="http://schemas.openxmlformats.org/officeDocument/2006/relationships/hyperlink" Target="https://www.drawio.com/docs/diagram-types/uml/" TargetMode="External"/><Relationship Id="rId11" Type="http://schemas.openxmlformats.org/officeDocument/2006/relationships/hyperlink" Target="https://staruml.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0" y="438912"/>
            <a:ext cx="5989320" cy="256032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22303C"/>
                </a:solidFill>
              </a:rPr>
              <a:t>ACTIVIDAD 1 · TEMA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768096"/>
            <a:ext cx="5989320" cy="65836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2303C"/>
                </a:solidFill>
                <a:latin typeface="Calibri Light"/>
              </a:rPr>
              <a:t>UML Y REQUISITOS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90472"/>
            <a:ext cx="5989320" cy="347472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3474720" cy="310896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600" b="1"/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633472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Ashley Aguilar Perez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054096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Nicolas Soria Yabeta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474720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Erick Bravo Borges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895344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Jose Manuel Callecusi Guarachi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315968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Ruben Churqui Limachi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5989320" cy="56692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21" name="Foto grupal · orientación corregid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08710" y="1680210"/>
            <a:ext cx="30861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Cliente y usuario aportan perspectivas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01 · INTERESADOS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DOS FUENTES COMPLEMENTARIAS PARA DEFINIR EL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8032" y="155448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83664"/>
            <a:ext cx="1353312" cy="7315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83664"/>
            <a:ext cx="1243584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objetivos y prioridades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883664"/>
            <a:ext cx="1353312" cy="7315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7" y="1883664"/>
            <a:ext cx="1243584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USUARIO FINAL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tareas y experiencia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883664"/>
            <a:ext cx="1700784" cy="10515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Define el valor esperado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Aprueba alcance y criterios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883664"/>
            <a:ext cx="1700784" cy="10515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Describe el trabajo real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Aporta contexto de operación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44952" y="4215384"/>
            <a:ext cx="45720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5641848" y="4215384"/>
            <a:ext cx="45720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941832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problema u objetivo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8728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Requisito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función o condición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4" y="3794760"/>
            <a:ext cx="2066544" cy="841248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3794760"/>
            <a:ext cx="195681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Criterio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evidencia observable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92040"/>
            <a:ext cx="7726679" cy="3840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965192"/>
            <a:ext cx="7434071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Una misma persona puede asumir ambos roles cuando quien define el sistema también lo utiliza.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Fuente: necesidades y actores del análisis del sistema · investigación de la materia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 requisito convierte una necesidad en algo verificable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02 · 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DE LA SOLICITUD AL RESULTADO COMPROBADO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7732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4480560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6533388" y="2596896"/>
            <a:ext cx="18288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594360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Necesidad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localizar una obra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7188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905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2052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RF-01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buscar por título o autor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Modelo UML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caso de uso de búsqueda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2844" y="1920240"/>
            <a:ext cx="1796795" cy="13533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905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7708" y="1920240"/>
            <a:ext cx="1687067" cy="13533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Prueba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resultado esperado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65760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La fuente explica por qué existe la función.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94760"/>
            <a:ext cx="370332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El criterio determina qué evidencia confirma su cumplimiento.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394960"/>
            <a:ext cx="7726679" cy="56692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5468112"/>
            <a:ext cx="7434071" cy="42062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trazabilidad conecta cada cambio con su modelo y prueba, conserva el origen y facilita la verificación.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Fuentes: OMG, UML 2.5.1 · requisitos y trazabilidad del caso bibliotecario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Una función y su cualidad se especifican con criterios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03 ·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QUÉ OFRECE EL SISTEMA Y BAJO QUÉ CONDICIONES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7780">
            <a:solidFill>
              <a:srgbClr val="416C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481328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778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46504"/>
            <a:ext cx="3200400" cy="2103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16CBB"/>
                </a:solidFill>
                <a:latin typeface="Calibri"/>
              </a:rPr>
              <a:t>REQUISITO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21408"/>
            <a:ext cx="3200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4696"/>
                </a:solidFill>
                <a:latin typeface="Calibri"/>
              </a:rPr>
              <a:t>Buscar ejemplares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70048"/>
            <a:ext cx="318211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El sistema busca por título o autor y devuelve coincidencias. La función describe una capacidad observable del catálogo.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46504"/>
            <a:ext cx="3200400" cy="2103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REQUISITO DE CALIDAD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21408"/>
            <a:ext cx="3200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4696"/>
                </a:solidFill>
                <a:latin typeface="Calibri"/>
              </a:rPr>
              <a:t>Tiempo de 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70048"/>
            <a:ext cx="318211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Define cuánto puede tardar esa búsqueda bajo carga y datos acordados. El valor se mide; no se supone.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función indica qué hace el sistema; el requisito de calidad precisa con qué nivel debe hacerlo.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Fuentes: OMG, UML 2.5.1 · criterios de calidad del caso bibliotecario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Los componentes organizan una vista conceptual del 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04 ·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MODELO CONCEPTUAL DEL CATÁLOGO PÚBLICO UPDS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Interfaz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acceso a los servicios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Interfaz de consulta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01952"/>
            <a:ext cx="210312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48256"/>
            <a:ext cx="1773936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«componente» · 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68296"/>
            <a:ext cx="1847087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D4696"/>
                </a:solidFill>
                <a:latin typeface="Calibri"/>
              </a:rPr>
              <a:t>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07208"/>
            <a:ext cx="18470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293B"/>
                </a:solidFill>
                <a:latin typeface="Calibri"/>
              </a:rPr>
              <a:t>Registros y disponibilidad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52928" y="2578608"/>
            <a:ext cx="621792" cy="0"/>
          </a:xfrm>
          <a:prstGeom prst="line">
            <a:avLst/>
          </a:prstGeom>
          <a:ln w="19050">
            <a:solidFill>
              <a:srgbClr val="416CBB"/>
            </a:solidFill>
            <a:prstDash val="dash"/>
            <a:tail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5650992" y="2578608"/>
            <a:ext cx="621792" cy="0"/>
          </a:xfrm>
          <a:prstGeom prst="line">
            <a:avLst/>
          </a:prstGeom>
          <a:ln w="19050">
            <a:solidFill>
              <a:srgbClr val="416CBB"/>
            </a:solidFill>
            <a:prstDash val="dash"/>
            <a:tail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04672" y="3749039"/>
            <a:ext cx="3749039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1 · La interfaz presenta los registros consultables.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749039"/>
            <a:ext cx="3749039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2 · La ficha muestra los datos publicados y sus ejemplares.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71323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416CBB"/>
                </a:solidFill>
                <a:latin typeface="Calibri"/>
              </a:rPr>
              <a:t>Rectángulo: bloque conceptual     Flecha: relación entre funciones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736592"/>
            <a:ext cx="7726679" cy="51206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809744"/>
            <a:ext cx="7434071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vista organiza la consulta de registros y ejemplares; no representa la arquitectura interna de UPDS.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OMG, UML 2.5.1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El catálogo UPDS permite buscar y revisar registros bibliográficos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05 · CASO REAL · UPDS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INTERACCIONES DISPONIBLES EN EL CATÁLOGO PÚBLICO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975104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6976" y="1975104"/>
            <a:ext cx="2679191" cy="12070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CATÁLOGO PÚBLICO
Biblioteca UPDS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2809" y="2079704"/>
            <a:ext cx="403117" cy="59421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2741511" y="2799906"/>
            <a:ext cx="406394" cy="127977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6007203" y="2081951"/>
            <a:ext cx="357425" cy="53584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5981837" y="2800076"/>
            <a:ext cx="384129" cy="123026"/>
          </a:xfrm>
          <a:prstGeom prst="line">
            <a:avLst/>
          </a:prstGeom>
          <a:ln w="16510">
            <a:solidFill>
              <a:srgbClr val="416CBB"/>
            </a:solidFill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987552" y="1572768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572768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Búsquedas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2834640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2834640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Fichas bibliográficas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72768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572768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Ejemplares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34640"/>
            <a:ext cx="17190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34640"/>
            <a:ext cx="1609343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Disponibilidad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862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DATOS Y FUNCIONES OBSERVABLES EN LAS FICHAS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Búsqueda
por título o autor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5304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Búsqueda
registros bibliográficos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4315968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15968"/>
            <a:ext cx="1856231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Ejemplares
disponibilidad consultable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28" name="TextBox 27">
            <a:hlinkClick r:id="rId2"/>
          </p:cNvPr>
          <p:cNvSpPr txBox="1"/>
          <p:nvPr/>
        </p:nvSpPr>
        <p:spPr>
          <a:xfrm>
            <a:off x="822960" y="5303520"/>
            <a:ext cx="292608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416CBB"/>
                </a:solidFill>
                <a:latin typeface="Calibri"/>
              </a:rPr>
              <a:t>Abrir catálogo público UPDS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búsqueda, fichas y ejemplares visibles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 calidad del catálogo se expresa con criterios verificables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06 ·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MÉTODOS QUE LA FICHA DE LA INVESTIGACIÓN DECLARA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6584" y="2542032"/>
            <a:ext cx="448056" cy="0"/>
          </a:xfrm>
          <a:prstGeom prst="line">
            <a:avLst/>
          </a:prstGeom>
          <a:ln w="2159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4735398" y="2101065"/>
            <a:ext cx="733907" cy="192214"/>
          </a:xfrm>
          <a:prstGeom prst="line">
            <a:avLst/>
          </a:prstGeom>
          <a:ln w="19050">
            <a:solidFill>
              <a:srgbClr val="416CBB"/>
            </a:solidFill>
            <a:tailEnd type="triangle" w="med" len="med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4735368" y="2794007"/>
            <a:ext cx="733967" cy="194725"/>
          </a:xfrm>
          <a:prstGeom prst="line">
            <a:avLst/>
          </a:prstGeom>
          <a:ln w="19050">
            <a:solidFill>
              <a:srgbClr val="416CBB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49808" y="2011680"/>
            <a:ext cx="1600200" cy="1060704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011680"/>
            <a:ext cx="1490472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Sistema
catálogo público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011680"/>
            <a:ext cx="1828800" cy="1060704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1719072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Calidad
criterios de consulta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1417320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1" y="1417320"/>
            <a:ext cx="1828800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Estructura interna
no publicada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2834640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1" y="2834640"/>
            <a:ext cx="1828800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Prueba propuesta
búsqueda y ficha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Los criterios de aceptación son propuestas académicas; el catálogo público no expone resultados de pruebas internas ni métricas de desempeño.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métricas y pruebas propuestas para este análisis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2303C"/>
                </a:solidFill>
                <a:latin typeface="Aptos"/>
              </a:rPr>
              <a:t>UML ofrece vistas distintas y herramientas para modelarlas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95E7F"/>
                </a:solidFill>
                <a:latin typeface="Aptos"/>
              </a:rPr>
              <a:t>CASO APLICADO · CATÁLOGO PÚBLICO UPDS · DIAGRAMA DE 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195E7F"/>
                </a:solidFill>
                <a:latin typeface="Aptos"/>
              </a:rPr>
              <a:t>06 · UML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417320"/>
            <a:ext cx="2880360" cy="2999232"/>
          </a:xfrm>
          <a:prstGeom prst="rect">
            <a:avLst/>
          </a:prstGeom>
          <a:noFill/>
          <a:ln w="22860">
            <a:solidFill>
              <a:srgbClr val="2D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195E7F"/>
                </a:solidFill>
                <a:latin typeface="Aptos"/>
              </a:rPr>
              <a:t>Catálogo bibliotecario</a:t>
            </a:r>
          </a:p>
        </p:txBody>
      </p:sp>
      <p:sp>
        <p:nvSpPr>
          <p:cNvPr id="8" name="Oval 7"/>
          <p:cNvSpPr/>
          <p:nvPr/>
        </p:nvSpPr>
        <p:spPr>
          <a:xfrm>
            <a:off x="2468880" y="1755648"/>
            <a:ext cx="1737360" cy="566928"/>
          </a:xfrm>
          <a:prstGeom prst="ellipse">
            <a:avLst/>
          </a:prstGeom>
          <a:solidFill>
            <a:srgbClr val="E7F4F9"/>
          </a:solidFill>
          <a:ln w="17780">
            <a:solidFill>
              <a:srgbClr val="2D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2303C"/>
                </a:solidFill>
                <a:latin typeface="Aptos"/>
              </a:rPr>
              <a:t>Buscar título</a:t>
            </a:r>
          </a:p>
        </p:txBody>
      </p:sp>
      <p:sp>
        <p:nvSpPr>
          <p:cNvPr id="9" name="Oval 8"/>
          <p:cNvSpPr/>
          <p:nvPr/>
        </p:nvSpPr>
        <p:spPr>
          <a:xfrm>
            <a:off x="2468880" y="2578608"/>
            <a:ext cx="1737360" cy="566928"/>
          </a:xfrm>
          <a:prstGeom prst="ellipse">
            <a:avLst/>
          </a:prstGeom>
          <a:solidFill>
            <a:srgbClr val="E7F4F9"/>
          </a:solidFill>
          <a:ln w="17780">
            <a:solidFill>
              <a:srgbClr val="2D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2303C"/>
                </a:solidFill>
                <a:latin typeface="Aptos"/>
              </a:rPr>
              <a:t>Consultar ficha</a:t>
            </a:r>
          </a:p>
        </p:txBody>
      </p:sp>
      <p:sp>
        <p:nvSpPr>
          <p:cNvPr id="10" name="Oval 9"/>
          <p:cNvSpPr/>
          <p:nvPr/>
        </p:nvSpPr>
        <p:spPr>
          <a:xfrm>
            <a:off x="2468880" y="3401568"/>
            <a:ext cx="1737360" cy="566928"/>
          </a:xfrm>
          <a:prstGeom prst="ellipse">
            <a:avLst/>
          </a:prstGeom>
          <a:solidFill>
            <a:srgbClr val="E7F4F9"/>
          </a:solidFill>
          <a:ln w="17780">
            <a:solidFill>
              <a:srgbClr val="2D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2303C"/>
                </a:solidFill>
                <a:latin typeface="Aptos"/>
              </a:rPr>
              <a:t>Ver disponibilidad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148840"/>
            <a:ext cx="310896" cy="310896"/>
          </a:xfrm>
          <a:prstGeom prst="ellipse">
            <a:avLst/>
          </a:prstGeom>
          <a:noFill/>
          <a:ln w="17780">
            <a:solidFill>
              <a:srgbClr val="22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24127" y="2459736"/>
            <a:ext cx="1" cy="539496"/>
          </a:xfrm>
          <a:prstGeom prst="line">
            <a:avLst/>
          </a:prstGeom>
          <a:ln w="17780">
            <a:solidFill>
              <a:srgbClr val="22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49808" y="2651760"/>
            <a:ext cx="274320" cy="164592"/>
          </a:xfrm>
          <a:prstGeom prst="line">
            <a:avLst/>
          </a:prstGeom>
          <a:ln w="17780">
            <a:solidFill>
              <a:srgbClr val="22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2651760"/>
            <a:ext cx="274320" cy="164592"/>
          </a:xfrm>
          <a:prstGeom prst="line">
            <a:avLst/>
          </a:prstGeom>
          <a:ln w="17780">
            <a:solidFill>
              <a:srgbClr val="22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22960" y="2999232"/>
            <a:ext cx="201168" cy="310896"/>
          </a:xfrm>
          <a:prstGeom prst="line">
            <a:avLst/>
          </a:prstGeom>
          <a:ln w="17780">
            <a:solidFill>
              <a:srgbClr val="22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" y="2999232"/>
            <a:ext cx="201168" cy="310896"/>
          </a:xfrm>
          <a:prstGeom prst="line">
            <a:avLst/>
          </a:prstGeom>
          <a:ln w="17780">
            <a:solidFill>
              <a:srgbClr val="22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336499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303C"/>
                </a:solidFill>
                <a:latin typeface="Aptos"/>
              </a:rPr>
              <a:t>Estudiante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07592" y="2039112"/>
            <a:ext cx="1161288" cy="758952"/>
          </a:xfrm>
          <a:prstGeom prst="line">
            <a:avLst/>
          </a:prstGeom>
          <a:ln w="13970">
            <a:solidFill>
              <a:srgbClr val="5A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07592" y="2798064"/>
            <a:ext cx="1161288" cy="64008"/>
          </a:xfrm>
          <a:prstGeom prst="line">
            <a:avLst/>
          </a:prstGeom>
          <a:ln w="13970">
            <a:solidFill>
              <a:srgbClr val="5A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07592" y="2798064"/>
            <a:ext cx="1161288" cy="886968"/>
          </a:xfrm>
          <a:prstGeom prst="line">
            <a:avLst/>
          </a:prstGeom>
          <a:ln w="13970">
            <a:solidFill>
              <a:srgbClr val="5A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74920" y="1417320"/>
            <a:ext cx="352044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95E7F"/>
                </a:solidFill>
                <a:latin typeface="Aptos"/>
              </a:rPr>
              <a:t>Modelos UML · qué permiten observar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Casos de uso: objetivos de los actores.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Actividad: pasos y decisiones del flujo.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Secuencia: mensajes ordenados en el tiempo.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Clases: estructura, atributos y asociaciones.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Estados: condiciones y transiciones de un objeto.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22303C"/>
                </a:solidFill>
                <a:latin typeface="Aptos"/>
              </a:rPr>
              <a:t>Componentes y despliegue: módulos y entorno de ejecución.</a:t>
            </a:r>
          </a:p>
        </p:txBody>
      </p:sp>
      <p:sp>
        <p:nvSpPr>
          <p:cNvPr id="22" name="Rounded Rectangle 21">
            <a:hlinkClick r:id="rId2"/>
          </p:cNvPr>
          <p:cNvSpPr/>
          <p:nvPr/>
        </p:nvSpPr>
        <p:spPr>
          <a:xfrm>
            <a:off x="621792" y="4709160"/>
            <a:ext cx="2487168" cy="713232"/>
          </a:xfrm>
          <a:prstGeom prst="roundRect">
            <a:avLst/>
          </a:prstGeom>
          <a:solidFill>
            <a:srgbClr val="ECF4F8"/>
          </a:solidFill>
          <a:ln>
            <a:solidFill>
              <a:srgbClr val="B4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PlantUML</a:t>
            </a:r>
          </a:p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Editar este caso de uso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3291840" y="4709160"/>
            <a:ext cx="2487168" cy="713232"/>
          </a:xfrm>
          <a:prstGeom prst="roundRect">
            <a:avLst/>
          </a:prstGeom>
          <a:solidFill>
            <a:srgbClr val="ECF4F8"/>
          </a:solidFill>
          <a:ln>
            <a:solidFill>
              <a:srgbClr val="B4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diagrams.net</a:t>
            </a:r>
          </a:p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Modelado visual UML</a:t>
            </a:r>
          </a:p>
        </p:txBody>
      </p:sp>
      <p:sp>
        <p:nvSpPr>
          <p:cNvPr id="24" name="Rounded Rectangle 23">
            <a:hlinkClick r:id="rId4"/>
          </p:cNvPr>
          <p:cNvSpPr/>
          <p:nvPr/>
        </p:nvSpPr>
        <p:spPr>
          <a:xfrm>
            <a:off x="5961888" y="4709160"/>
            <a:ext cx="2487168" cy="713232"/>
          </a:xfrm>
          <a:prstGeom prst="roundRect">
            <a:avLst/>
          </a:prstGeom>
          <a:solidFill>
            <a:srgbClr val="ECF4F8"/>
          </a:solidFill>
          <a:ln>
            <a:solidFill>
              <a:srgbClr val="B4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StarUML</a:t>
            </a:r>
          </a:p>
          <a:p>
            <a:pPr algn="ctr"/>
            <a:r>
              <a:rPr sz="800" b="0">
                <a:solidFill>
                  <a:srgbClr val="195E7F"/>
                </a:solidFill>
                <a:latin typeface="Aptos"/>
              </a:rPr>
              <a:t>Entorno de modelado UML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559552"/>
            <a:ext cx="79552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195E7F"/>
                </a:solidFill>
                <a:latin typeface="Aptos"/>
                <a:hlinkClick r:id="rId5"/>
              </a:rPr>
              <a:t>OMG, UML 2.5.1</a:t>
            </a:r>
            <a:r>
              <a:rPr sz="800">
                <a:solidFill>
                  <a:srgbClr val="4B5963"/>
                </a:solidFill>
                <a:latin typeface="Aptos"/>
              </a:rPr>
              <a:t> · </a:t>
            </a:r>
            <a:r>
              <a:rPr sz="800">
                <a:solidFill>
                  <a:srgbClr val="195E7F"/>
                </a:solidFill>
                <a:latin typeface="Aptos"/>
                <a:hlinkClick r:id="rId6"/>
              </a:rPr>
              <a:t>PlantUML, quick start</a:t>
            </a:r>
            <a:r>
              <a:rPr sz="800">
                <a:solidFill>
                  <a:srgbClr val="4B5963"/>
                </a:solidFill>
                <a:latin typeface="Aptos"/>
              </a:rPr>
              <a:t> · </a:t>
            </a:r>
            <a:r>
              <a:rPr sz="800">
                <a:solidFill>
                  <a:srgbClr val="195E7F"/>
                </a:solidFill>
                <a:latin typeface="Aptos"/>
                <a:hlinkClick r:id="rId7"/>
              </a:rPr>
              <a:t>diagrams.net, UML diagrams</a:t>
            </a:r>
            <a:r>
              <a:rPr sz="800">
                <a:solidFill>
                  <a:srgbClr val="4B5963"/>
                </a:solidFill>
                <a:latin typeface="Aptos"/>
              </a:rPr>
              <a:t> · </a:t>
            </a:r>
            <a:r>
              <a:rPr sz="800">
                <a:solidFill>
                  <a:srgbClr val="195E7F"/>
                </a:solidFill>
                <a:latin typeface="Aptos"/>
                <a:hlinkClick r:id="rId4"/>
              </a:rPr>
              <a:t>StarUML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TEMA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955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Calibri"/>
              </a:rPr>
              <a:t>Referencias para profundizar · UML y requisitos del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LIBRO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Integrar UML en los proyectos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6903720" y="2157984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  <a:hlinkClick r:id="rId2"/>
              </a:rPr>
              <a:t>Ver libro digital 1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LIBRO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El proceso unificado de desarrollo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6903720" y="3547872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  <a:hlinkClick r:id="rId3"/>
              </a:rPr>
              <a:t>Ver libro digital 2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8010144" cy="164592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64008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IMPRESO · EJEMPLAR CONSULTADO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635508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UML con Rational Rose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54296"/>
            <a:ext cx="63550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Gesvin Romero Moreno · Grupo Editorial Megabyte · 1.ª ed., 2004 · pp. 17–19</a:t>
            </a:r>
          </a:p>
        </p:txBody>
      </p:sp>
      <p:sp>
        <p:nvSpPr>
          <p:cNvPr id="21" name="TextBox 20">
            <a:hlinkClick r:id="rId4"/>
          </p:cNvPr>
          <p:cNvSpPr txBox="1"/>
          <p:nvPr/>
        </p:nvSpPr>
        <p:spPr>
          <a:xfrm>
            <a:off x="749808" y="493776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  <a:hlinkClick r:id="rId7"/>
              </a:rPr>
              <a:t>Consultar ficha bibliográfica ↗</a:t>
            </a:r>
          </a:p>
        </p:txBody>
      </p:sp>
      <p:pic>
        <p:nvPicPr>
          <p:cNvPr id="22" name="Foto del libro impreso · tema 0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014215"/>
            <a:ext cx="1097280" cy="146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808" y="5321808"/>
            <a:ext cx="7543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185274"/>
                </a:solidFill>
                <a:latin typeface="Aptos"/>
                <a:hlinkClick r:id="rId8"/>
              </a:rPr>
              <a:t>OMG · UML 2.5.1</a:t>
            </a:r>
            <a:r>
              <a:rPr sz="800">
                <a:solidFill>
                  <a:srgbClr val="44525E"/>
                </a:solidFill>
                <a:latin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hlinkClick r:id="rId9"/>
              </a:rPr>
              <a:t>PlantUML · Quick start</a:t>
            </a:r>
            <a:r>
              <a:rPr sz="800">
                <a:solidFill>
                  <a:srgbClr val="44525E"/>
                </a:solidFill>
                <a:latin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hlinkClick r:id="rId10"/>
              </a:rPr>
              <a:t>diagrams.net · UML</a:t>
            </a:r>
            <a:r>
              <a:rPr sz="800">
                <a:solidFill>
                  <a:srgbClr val="44525E"/>
                </a:solidFill>
                <a:latin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hlinkClick r:id="rId11"/>
              </a:rPr>
              <a:t>StarUML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y requisitos del sistema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 · Tema 01</dc:subject>
  <cp:keywords>UPDS, UML, requisitos, catálogo bibliográfico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