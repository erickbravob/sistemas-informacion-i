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5"/>
    <p:sldId id="260" r:id="rId4"/>
    <p:sldId id="261" r:id="rId3"/>
    <p:sldId id="262" r:id="rId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396"/>
    <a:srgbClr val="000000"/>
    <a:srgbClr val="008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993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0" y="1371"/>
            <a:ext cx="9144000" cy="6855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493817"/>
            <a:ext cx="7772400" cy="1016145"/>
          </a:xfrm>
        </p:spPr>
        <p:txBody>
          <a:bodyPr anchor="b">
            <a:normAutofit/>
          </a:bodyPr>
          <a:lstStyle>
            <a:lvl1pPr algn="ctr">
              <a:defRPr sz="2800">
                <a:solidFill>
                  <a:srgbClr val="0085C0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1550126" y="2876550"/>
            <a:ext cx="1114698" cy="1104900"/>
          </a:xfrm>
        </p:spPr>
        <p:txBody>
          <a:bodyPr anchor="ctr">
            <a:noAutofit/>
          </a:bodyPr>
          <a:lstStyle>
            <a:lvl1pPr marL="0" indent="0" algn="ctr">
              <a:buNone/>
              <a:defRPr sz="880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1</a:t>
            </a:r>
            <a:endParaRPr lang="es-MX" dirty="0"/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3405155" y="2876550"/>
            <a:ext cx="3779416" cy="1104900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402080"/>
            <a:ext cx="8577840" cy="47026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872605"/>
            <a:ext cx="7130039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sz="quarter" idx="16"/>
          </p:nvPr>
        </p:nvSpPr>
        <p:spPr>
          <a:xfrm>
            <a:off x="280410" y="2036693"/>
            <a:ext cx="8618537" cy="4552950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685"/>
            <a:ext cx="9144000" cy="6856629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4894217"/>
            <a:ext cx="8577840" cy="166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4" name="Marcador de posición de imagen 13"/>
          <p:cNvSpPr>
            <a:spLocks noGrp="1"/>
          </p:cNvSpPr>
          <p:nvPr>
            <p:ph type="pic" sz="quarter" idx="10"/>
          </p:nvPr>
        </p:nvSpPr>
        <p:spPr>
          <a:xfrm>
            <a:off x="286760" y="914400"/>
            <a:ext cx="8577840" cy="3832225"/>
          </a:xfrm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1201785"/>
            <a:ext cx="8577840" cy="465908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2" name="Marcador de texto 13"/>
          <p:cNvSpPr>
            <a:spLocks noGrp="1"/>
          </p:cNvSpPr>
          <p:nvPr>
            <p:ph type="body" sz="quarter" idx="16" hasCustomPrompt="1"/>
          </p:nvPr>
        </p:nvSpPr>
        <p:spPr>
          <a:xfrm>
            <a:off x="472140" y="760130"/>
            <a:ext cx="8386109" cy="289818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3" name="Triángulo isósceles 12"/>
          <p:cNvSpPr/>
          <p:nvPr userDrawn="1"/>
        </p:nvSpPr>
        <p:spPr>
          <a:xfrm rot="5400000">
            <a:off x="234020" y="844174"/>
            <a:ext cx="214509" cy="121730"/>
          </a:xfrm>
          <a:prstGeom prst="triangle">
            <a:avLst/>
          </a:prstGeom>
          <a:solidFill>
            <a:srgbClr val="0085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80410" y="757647"/>
            <a:ext cx="8577840" cy="510322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1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280410" y="158502"/>
            <a:ext cx="8577840" cy="365125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Calibri" panose="020F0502020204030204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2" name="Marcador de posición de imagen 13"/>
          <p:cNvSpPr>
            <a:spLocks noGrp="1"/>
          </p:cNvSpPr>
          <p:nvPr>
            <p:ph type="pic" sz="quarter" idx="13" hasCustomPrompt="1"/>
          </p:nvPr>
        </p:nvSpPr>
        <p:spPr>
          <a:xfrm>
            <a:off x="-8538" y="-3436"/>
            <a:ext cx="4282676" cy="6876499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357" y="connsiteY5-358"/>
              </a:cxn>
            </a:cxn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anchor="ctr"/>
          <a:lstStyle>
            <a:lvl1pPr algn="l">
              <a:defRPr>
                <a:highlight>
                  <a:srgbClr val="FFFF00"/>
                </a:highlight>
              </a:defRPr>
            </a:lvl1pPr>
          </a:lstStyle>
          <a:p>
            <a:r>
              <a:rPr lang="es-ES" dirty="0"/>
              <a:t>IMAGEN AQUI</a:t>
            </a:r>
            <a:endParaRPr lang="es-MX" dirty="0"/>
          </a:p>
        </p:txBody>
      </p:sp>
      <p:sp>
        <p:nvSpPr>
          <p:cNvPr id="13" name="Marcador de texto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1998" y="718457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Título</a:t>
            </a:r>
            <a:endParaRPr lang="es-MX" dirty="0"/>
          </a:p>
        </p:txBody>
      </p:sp>
      <p:sp>
        <p:nvSpPr>
          <p:cNvPr id="14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4571997" y="1265001"/>
            <a:ext cx="3413761" cy="535577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</a:defRPr>
            </a:lvl1pPr>
          </a:lstStyle>
          <a:p>
            <a:pPr lvl="0"/>
            <a:r>
              <a:rPr lang="es-ES" dirty="0"/>
              <a:t>Subtítulo</a:t>
            </a:r>
            <a:endParaRPr lang="es-MX" dirty="0"/>
          </a:p>
        </p:txBody>
      </p:sp>
      <p:sp>
        <p:nvSpPr>
          <p:cNvPr id="15" name="Marcador de texto 2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0" y="1973263"/>
            <a:ext cx="4238625" cy="454183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304" y="0"/>
            <a:ext cx="9143390" cy="6858000"/>
          </a:xfrm>
          <a:prstGeom prst="rect">
            <a:avLst/>
          </a:prstGeom>
        </p:spPr>
      </p:pic>
      <p:sp>
        <p:nvSpPr>
          <p:cNvPr id="8" name="Marcador de posición de imagen 22"/>
          <p:cNvSpPr>
            <a:spLocks noGrp="1"/>
          </p:cNvSpPr>
          <p:nvPr>
            <p:ph type="pic" sz="quarter" idx="10" hasCustomPrompt="1"/>
          </p:nvPr>
        </p:nvSpPr>
        <p:spPr>
          <a:xfrm>
            <a:off x="-9526" y="-9526"/>
            <a:ext cx="9144000" cy="6870074"/>
          </a:xfrm>
          <a:custGeom>
            <a:avLst/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141" y="connsiteY10-142"/>
              </a:cxn>
              <a:cxn ang="0">
                <a:pos x="connsiteX11-275" y="connsiteY11-276"/>
              </a:cxn>
              <a:cxn ang="0">
                <a:pos x="connsiteX12-445" y="connsiteY12-446"/>
              </a:cxn>
              <a:cxn ang="0">
                <a:pos x="connsiteX13-499" y="connsiteY13-500"/>
              </a:cxn>
              <a:cxn ang="0">
                <a:pos x="connsiteX14-529" y="connsiteY14-530"/>
              </a:cxn>
              <a:cxn ang="0">
                <a:pos x="connsiteX15-591" y="connsiteY15-592"/>
              </a:cxn>
              <a:cxn ang="0">
                <a:pos x="connsiteX16-657" y="connsiteY16-658"/>
              </a:cxn>
              <a:cxn ang="0">
                <a:pos x="connsiteX17-727" y="connsiteY17-728"/>
              </a:cxn>
              <a:cxn ang="0">
                <a:pos x="connsiteX18-837" y="connsiteY18-838"/>
              </a:cxn>
              <a:cxn ang="0">
                <a:pos x="connsiteX19-991" y="connsiteY19-992"/>
              </a:cxn>
              <a:cxn ang="0">
                <a:pos x="connsiteX20-1273" y="connsiteY20-1274"/>
              </a:cxn>
              <a:cxn ang="0">
                <a:pos x="connsiteX21-1401" y="connsiteY21-1402"/>
              </a:cxn>
              <a:cxn ang="0">
                <a:pos x="connsiteX22-1667" y="connsiteY22-1668"/>
              </a:cxn>
              <a:cxn ang="0">
                <a:pos x="connsiteX23-1761" y="connsiteY23-1762"/>
              </a:cxn>
              <a:cxn ang="0">
                <a:pos x="connsiteX24-1907" y="connsiteY24-1908"/>
              </a:cxn>
              <a:cxn ang="0">
                <a:pos x="connsiteX25-2059" y="connsiteY25-2060"/>
              </a:cxn>
              <a:cxn ang="0">
                <a:pos x="connsiteX26-2113" y="connsiteY26-2114"/>
              </a:cxn>
            </a:cxn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Imagen aquí</a:t>
            </a:r>
            <a:endParaRPr lang="es-MX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933699" y="2230520"/>
            <a:ext cx="3276600" cy="2389982"/>
          </a:xfrm>
        </p:spPr>
        <p:txBody>
          <a:bodyPr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" y="0"/>
            <a:ext cx="9141562" cy="6858000"/>
          </a:xfrm>
          <a:prstGeom prst="rect">
            <a:avLst/>
          </a:prstGeom>
        </p:spPr>
      </p:pic>
      <p:sp>
        <p:nvSpPr>
          <p:cNvPr id="10" name="Marcador de texto 13"/>
          <p:cNvSpPr>
            <a:spLocks noGrp="1"/>
          </p:cNvSpPr>
          <p:nvPr>
            <p:ph type="body" sz="quarter" idx="15" hasCustomPrompt="1"/>
          </p:nvPr>
        </p:nvSpPr>
        <p:spPr>
          <a:xfrm>
            <a:off x="1191124" y="3015915"/>
            <a:ext cx="6761750" cy="11049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5400">
                <a:solidFill>
                  <a:srgbClr val="264396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es-ES" dirty="0"/>
              <a:t>¡GRACIAS!</a:t>
            </a:r>
            <a:endParaRPr lang="es-MX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5B63D-E972-45BF-A693-820FC9EC888F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81F41-F723-4400-B87F-3A7D3AC75E05}" type="slidenum">
              <a:rPr lang="es-MX" smtClean="0"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biblioteca.upds.edu.bo/" TargetMode="External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dspace.scz.ucb.edu.bo/dspace/handle/123456789/449" TargetMode="External"/><Relationship Id="rId3" Type="http://schemas.openxmlformats.org/officeDocument/2006/relationships/hyperlink" Target="https://dspace.scz.ucb.edu.bo/dspace/handle/123456789/10114" TargetMode="External"/><Relationship Id="rId4" Type="http://schemas.openxmlformats.org/officeDocument/2006/relationships/hyperlink" Target="https://biblioteca.upds.edu.bo/biblioteca/index.php?lvl=more_results&amp;mode=keyword&amp;tags=ok&amp;user_query=Base+de+datos" TargetMode="External"/><Relationship Id="rId5" Type="http://schemas.openxmlformats.org/officeDocument/2006/relationships/image" Target="../media/image10.jpg"/><Relationship Id="rId6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0" y="438912"/>
            <a:ext cx="5989320" cy="256032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22303C"/>
                </a:solidFill>
              </a:rPr>
              <a:t>ACTIVIDAD 1 · TEMA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768096"/>
            <a:ext cx="5989320" cy="65836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2303C"/>
                </a:solidFill>
                <a:latin typeface="Calibri Light"/>
              </a:rPr>
              <a:t>DATOS, MODELOS Y DIAGRAMAS DE CLASES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90472"/>
            <a:ext cx="5989320" cy="347472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22303C"/>
                </a:solidFill>
              </a:rPr>
              <a:t>SISTEMAS DE INFORMACIÓN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148840"/>
            <a:ext cx="3474720" cy="310896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600" b="1"/>
              <a:t>INTEGRANTES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633472"/>
            <a:ext cx="3566160" cy="29260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Ashley Aguilar Perez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3054096"/>
            <a:ext cx="3566160" cy="29260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Nicolas Soria Yabeta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474720"/>
            <a:ext cx="3566160" cy="29260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Erick Bravo Borges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895344"/>
            <a:ext cx="3566160" cy="29260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Jose Manuel Callecusi Guarachi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4315968"/>
            <a:ext cx="3566160" cy="29260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Calibri"/>
              </a:rPr>
              <a:t>Ruben Churqui Limachi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23560"/>
            <a:ext cx="5989320" cy="566928"/>
          </a:xfrm>
          <a:prstGeom prst="rect">
            <a:avLst/>
          </a:prstGeom>
          <a:noFill/>
          <a:ln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22303C"/>
                </a:solidFill>
              </a:rPr>
              <a:t>UNIVERSIDAD PRIVADA DOMINGO SAVIO</a:t>
            </a:r>
          </a:p>
        </p:txBody>
      </p:sp>
      <p:pic>
        <p:nvPicPr>
          <p:cNvPr id="21" name="Foto grupal · orientación corregida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08710" y="1680210"/>
            <a:ext cx="30861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Cada nivel de modelo responde una pregunta distinta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01 · NIVELES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50976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EL DISEÑO PASA DE LOS CONCEPTOS DEL DOMINIO A LA IMPLEMENTACIÓN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28800"/>
            <a:ext cx="2432304" cy="190195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56816"/>
            <a:ext cx="2139696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5A9"/>
                </a:solidFill>
                <a:latin typeface="Calibri"/>
              </a:rPr>
              <a:t>CONCEPTUAL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67712"/>
            <a:ext cx="2139696" cy="1371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D4696"/>
                </a:solidFill>
                <a:latin typeface="Calibri"/>
              </a:rPr>
              <a:t>¿Qué conceptos existen?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D4696"/>
                </a:solidFill>
                <a:latin typeface="Calibri"/>
              </a:rPr>
              <a:t>Usuario · Préstamo · Ejemplar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28800"/>
            <a:ext cx="2432304" cy="190195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1956816"/>
            <a:ext cx="2139696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5A9"/>
                </a:solidFill>
                <a:latin typeface="Calibri"/>
              </a:rPr>
              <a:t>LÓGICO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2267712"/>
            <a:ext cx="2139696" cy="1371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D4696"/>
                </a:solidFill>
                <a:latin typeface="Calibri"/>
              </a:rPr>
              <a:t>¿Qué atributos y reglas los unen?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D4696"/>
                </a:solidFill>
                <a:latin typeface="Calibri"/>
              </a:rPr>
              <a:t>Claves · cardinalidades · relaciones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828800"/>
            <a:ext cx="2432304" cy="190195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956816"/>
            <a:ext cx="2139696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5A9"/>
                </a:solidFill>
                <a:latin typeface="Calibri"/>
              </a:rPr>
              <a:t>FÍSICO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267712"/>
            <a:ext cx="2139696" cy="13716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D4696"/>
                </a:solidFill>
                <a:latin typeface="Calibri"/>
              </a:rPr>
              <a:t>¿Cómo se implementan?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D4696"/>
                </a:solidFill>
                <a:latin typeface="Calibri"/>
              </a:rPr>
              <a:t>Tipos · índices · restricciones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90672" y="2779776"/>
            <a:ext cx="237743" cy="0"/>
          </a:xfrm>
          <a:prstGeom prst="line">
            <a:avLst/>
          </a:prstGeom>
          <a:ln w="20320">
            <a:solidFill>
              <a:srgbClr val="0075A9"/>
            </a:solidFill>
            <a:tailEnd type="triangle" w="med" len="med"/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5833872" y="2779776"/>
            <a:ext cx="237744" cy="0"/>
          </a:xfrm>
          <a:prstGeom prst="line">
            <a:avLst/>
          </a:prstGeom>
          <a:ln w="20320">
            <a:solidFill>
              <a:srgbClr val="0075A9"/>
            </a:solidFill>
            <a:tailEnd type="triangle" w="med" len="med"/>
          </a:ln>
          <a:effectLst/>
        </p:spPr>
      </p:cxnSp>
      <p:sp>
        <p:nvSpPr>
          <p:cNvPr id="18" name="Rounded Rectangle 17"/>
          <p:cNvSpPr/>
          <p:nvPr/>
        </p:nvSpPr>
        <p:spPr>
          <a:xfrm>
            <a:off x="594360" y="4343400"/>
            <a:ext cx="7726679" cy="493776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416552"/>
            <a:ext cx="7434071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El nivel conceptual evita decidir el motor antes de entender los datos y las reglas del sistema.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Oracle, SQL Developer Data Modeler Concepts · Elmasri y Navathe, Fundamentos de bases de datos  ·  as of 6 de octubre de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Las clases describen estructura y vínculos entre objetos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02 · UML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UNA VISTA ORIENTADA A OBJETOS PUEDE INCLUIR PROPIEDADES Y OPERACIONES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01952"/>
            <a:ext cx="2029968" cy="1353312"/>
          </a:xfrm>
          <a:prstGeom prst="rect">
            <a:avLst/>
          </a:prstGeom>
          <a:solidFill>
            <a:srgbClr val="EAF2F8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975104"/>
            <a:ext cx="18836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AUTOR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95144"/>
            <a:ext cx="1773936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idAutor: entero
nombre: texto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547872" y="1901952"/>
            <a:ext cx="2029968" cy="1353312"/>
          </a:xfrm>
          <a:prstGeom prst="rect">
            <a:avLst/>
          </a:prstGeom>
          <a:solidFill>
            <a:srgbClr val="E7F5FA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975104"/>
            <a:ext cx="18836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OBRA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295144"/>
            <a:ext cx="1773936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idObra: entero
título: texto
isbn: texto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6" y="1901952"/>
            <a:ext cx="2029968" cy="1353312"/>
          </a:xfrm>
          <a:prstGeom prst="rect">
            <a:avLst/>
          </a:prstGeom>
          <a:solidFill>
            <a:srgbClr val="EAF2F8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975104"/>
            <a:ext cx="1883664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EJEMPLAR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295144"/>
            <a:ext cx="1773936" cy="89611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idEjemplar: entero
ubicación · disponibilidad: Estado
cambiarEstado()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912" y="2578608"/>
            <a:ext cx="786384" cy="0"/>
          </a:xfrm>
          <a:prstGeom prst="line">
            <a:avLst/>
          </a:prstGeom>
          <a:ln w="20320">
            <a:solidFill>
              <a:srgbClr val="416CBB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5614416" y="2578608"/>
            <a:ext cx="786384" cy="0"/>
          </a:xfrm>
          <a:prstGeom prst="line">
            <a:avLst/>
          </a:prstGeom>
          <a:ln w="20320">
            <a:solidFill>
              <a:srgbClr val="416CBB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2404872" y="1609344"/>
            <a:ext cx="10058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4696"/>
                </a:solidFill>
                <a:latin typeface="Calibri"/>
              </a:rPr>
              <a:t>0..*  —  0..*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1609344"/>
            <a:ext cx="100584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D4696"/>
                </a:solidFill>
                <a:latin typeface="Calibri"/>
              </a:rPr>
              <a:t>1  —  0..*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85615"/>
            <a:ext cx="7479792" cy="51206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E293B"/>
                </a:solidFill>
                <a:latin typeface="Calibri"/>
              </a:rPr>
              <a:t>Las clases agrupan objetos; las asociaciones relacionan tipos y su multiplicidad cuenta cuántas instancias participan. Una asociación no equivale por sí sola a una tabla.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OMG, UML 2.5.1, cláusula 11 · ejemplo de análisis bibliotecario  ·  as of 6 de octubre de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El modelo lógico ordena entidades, atributos y claves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03 · MODELO 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MODELO CONCEPTUAL DEL CATÁLOGO PÚBLICO; ESQUEMA INTERNO NO OBSERVABLE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682496"/>
            <a:ext cx="1920240" cy="1243584"/>
          </a:xfrm>
          <a:prstGeom prst="rect">
            <a:avLst/>
          </a:prstGeom>
          <a:solidFill>
            <a:srgbClr val="EAF2F8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55648"/>
            <a:ext cx="1773936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AUTOR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75688"/>
            <a:ext cx="1664208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PK id_autor
nombre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682496"/>
            <a:ext cx="1920240" cy="1243584"/>
          </a:xfrm>
          <a:prstGeom prst="rect">
            <a:avLst/>
          </a:prstGeom>
          <a:solidFill>
            <a:srgbClr val="E7F5FA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755648"/>
            <a:ext cx="1773936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EDITORIAL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6624" y="2075688"/>
            <a:ext cx="1664208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PK id_editorial
nombre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682496"/>
            <a:ext cx="1920240" cy="1243584"/>
          </a:xfrm>
          <a:prstGeom prst="rect">
            <a:avLst/>
          </a:prstGeom>
          <a:solidFill>
            <a:srgbClr val="EAF2F8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1755648"/>
            <a:ext cx="1773936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EJEMPLAR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075688"/>
            <a:ext cx="1664208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PK id_ejemplar
FK id_obra
ubicación · disponibilidad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6931152" y="1682496"/>
            <a:ext cx="1920240" cy="1243584"/>
          </a:xfrm>
          <a:prstGeom prst="rect">
            <a:avLst/>
          </a:prstGeom>
          <a:solidFill>
            <a:srgbClr val="E7F5FA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4304" y="1755648"/>
            <a:ext cx="1773936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OBRA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075688"/>
            <a:ext cx="1664208" cy="78638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PK id_obra
isbn · título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59152" y="2304288"/>
            <a:ext cx="182880" cy="0"/>
          </a:xfrm>
          <a:prstGeom prst="line">
            <a:avLst/>
          </a:prstGeom>
          <a:ln w="15875">
            <a:solidFill>
              <a:srgbClr val="416CBB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4535424" y="2304288"/>
            <a:ext cx="182880" cy="0"/>
          </a:xfrm>
          <a:prstGeom prst="line">
            <a:avLst/>
          </a:prstGeom>
          <a:ln w="15875">
            <a:solidFill>
              <a:srgbClr val="416CBB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>
            <a:off x="6711696" y="2304288"/>
            <a:ext cx="182880" cy="0"/>
          </a:xfrm>
          <a:prstGeom prst="line">
            <a:avLst/>
          </a:prstGeom>
          <a:ln w="15875">
            <a:solidFill>
              <a:srgbClr val="416CBB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2167128" y="1399032"/>
            <a:ext cx="4572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D4696"/>
                </a:solidFill>
                <a:latin typeface="Calibri"/>
              </a:rPr>
              <a:t>1 :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1399032"/>
            <a:ext cx="4572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D4696"/>
                </a:solidFill>
                <a:latin typeface="Calibri"/>
              </a:rPr>
              <a:t>N :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1399032"/>
            <a:ext cx="4572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D4696"/>
                </a:solidFill>
                <a:latin typeface="Calibri"/>
              </a:rPr>
              <a:t>N :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886200"/>
            <a:ext cx="2011680" cy="1069848"/>
          </a:xfrm>
          <a:prstGeom prst="rect">
            <a:avLst/>
          </a:prstGeom>
          <a:solidFill>
            <a:srgbClr val="E7F5FA"/>
          </a:solidFill>
          <a:ln w="1397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3959352"/>
            <a:ext cx="1865376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D4696"/>
                </a:solidFill>
                <a:latin typeface="Calibri"/>
              </a:rPr>
              <a:t>RESERVA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4279392"/>
            <a:ext cx="1755648" cy="6126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>PK id_reserva
FK id_ejemplar · fecha · estado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62456" y="2926080"/>
            <a:ext cx="0" cy="530352"/>
          </a:xfrm>
          <a:prstGeom prst="line">
            <a:avLst/>
          </a:prstGeom>
          <a:ln w="15875">
            <a:solidFill>
              <a:srgbClr val="416CBB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1362456" y="3456432"/>
            <a:ext cx="2569464" cy="0"/>
          </a:xfrm>
          <a:prstGeom prst="line">
            <a:avLst/>
          </a:prstGeom>
          <a:ln w="15875">
            <a:solidFill>
              <a:srgbClr val="416CBB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3931920" y="3456432"/>
            <a:ext cx="0" cy="429768"/>
          </a:xfrm>
          <a:prstGeom prst="line">
            <a:avLst/>
          </a:prstGeom>
          <a:ln w="15875">
            <a:solidFill>
              <a:srgbClr val="416CBB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5715000" y="2926080"/>
            <a:ext cx="0" cy="621792"/>
          </a:xfrm>
          <a:prstGeom prst="line">
            <a:avLst/>
          </a:prstGeom>
          <a:ln w="15875">
            <a:solidFill>
              <a:srgbClr val="416CBB"/>
            </a:solidFill>
          </a:ln>
        </p:spPr>
      </p:cxnSp>
      <p:cxnSp>
        <p:nvCxnSpPr>
          <p:cNvPr id="32" name="Connector 31"/>
          <p:cNvCxnSpPr/>
          <p:nvPr/>
        </p:nvCxnSpPr>
        <p:spPr>
          <a:xfrm flipH="1">
            <a:off x="5212080" y="3547872"/>
            <a:ext cx="502920" cy="0"/>
          </a:xfrm>
          <a:prstGeom prst="line">
            <a:avLst/>
          </a:prstGeom>
          <a:ln w="15875">
            <a:solidFill>
              <a:srgbClr val="416CBB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5212080" y="3547872"/>
            <a:ext cx="0" cy="338328"/>
          </a:xfrm>
          <a:prstGeom prst="line">
            <a:avLst/>
          </a:prstGeom>
          <a:ln w="15875">
            <a:solidFill>
              <a:srgbClr val="416CBB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2331720" y="3255264"/>
            <a:ext cx="566928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D4696"/>
                </a:solidFill>
                <a:latin typeface="Calibri"/>
              </a:rPr>
              <a:t>1 : 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3319272"/>
            <a:ext cx="566928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D4696"/>
                </a:solidFill>
                <a:latin typeface="Calibri"/>
              </a:rPr>
              <a:t>1 : 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193792"/>
            <a:ext cx="7589520" cy="3200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1E293B"/>
                </a:solidFill>
                <a:latin typeface="Calibri"/>
              </a:rPr>
              <a:t>Las relaciones vinculan la obra con autor, editorial y ejemplares; la reserva se asocia a una copia. El modelo no describe la base interna de UPDS.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Modelo conceptual derivado de los datos visibles en el catálogo UPDS · Elmasri y Navathe · diagrama propuesto</a:t>
            </a:r>
            <a:r>
              <a:rPr sz="76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Las claves y cardinalidades sostienen el modelo relacional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04 · INTEGRIDAD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LAS RELACIONES DEL DOMINIO SE TRADUCEN A REFERENCIAS VERIFICABLES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7827264" cy="603504"/>
          </a:xfrm>
          <a:prstGeom prst="rect">
            <a:avLst/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91056"/>
            <a:ext cx="2816352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75A9"/>
                </a:solidFill>
                <a:latin typeface="Calibri"/>
              </a:rPr>
              <a:t>AUTOR N : M OBRA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4176" y="1591056"/>
            <a:ext cx="45720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D4696"/>
                </a:solidFill>
                <a:latin typeface="Calibri"/>
              </a:rPr>
              <a:t>Se representa con OBRA_AUTOR (id_obra, id_autor)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86000"/>
            <a:ext cx="7827264" cy="603504"/>
          </a:xfrm>
          <a:prstGeom prst="rect">
            <a:avLst/>
          </a:prstGeom>
          <a:solidFill>
            <a:srgbClr val="E7F5FA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395728"/>
            <a:ext cx="2816352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75A9"/>
                </a:solidFill>
                <a:latin typeface="Calibri"/>
              </a:rPr>
              <a:t>EDITORIAL 1 : N OBRA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2395728"/>
            <a:ext cx="45720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D4696"/>
                </a:solidFill>
                <a:latin typeface="Calibri"/>
              </a:rPr>
              <a:t>id_editorial se referencia desde OBRA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90672"/>
            <a:ext cx="7827264" cy="603504"/>
          </a:xfrm>
          <a:prstGeom prst="rect">
            <a:avLst/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200400"/>
            <a:ext cx="2816352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75A9"/>
                </a:solidFill>
                <a:latin typeface="Calibri"/>
              </a:rPr>
              <a:t>OBRA 1 : N EJEMPLAR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200400"/>
            <a:ext cx="45720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D4696"/>
                </a:solidFill>
                <a:latin typeface="Calibri"/>
              </a:rPr>
              <a:t>id_obra se referencia desde EJEMPLAR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895344"/>
            <a:ext cx="7827264" cy="603504"/>
          </a:xfrm>
          <a:prstGeom prst="rect">
            <a:avLst/>
          </a:prstGeom>
          <a:solidFill>
            <a:srgbClr val="E7F5FA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005072"/>
            <a:ext cx="2816352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0075A9"/>
                </a:solidFill>
                <a:latin typeface="Calibri"/>
              </a:rPr>
              <a:t>EJEMPLAR 1 : N RESERVA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4005072"/>
            <a:ext cx="4572000" cy="25603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D4696"/>
                </a:solidFill>
                <a:latin typeface="Calibri"/>
              </a:rPr>
              <a:t>id_ejemplar se referencia desde RESERVA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919472"/>
            <a:ext cx="7726679" cy="512064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4992624"/>
            <a:ext cx="7434071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Una clave primaria identifica un registro; una clave foránea referencia otro registro y permite aplicar integridad referencial.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Microsoft Learn, restricciones de claves · Elmasri y Navathe, diseño relacional  ·  as of 6 de octubre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Separar título y ejemplar reduce datos repetidos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05 · NORMALIZACIÓN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UNA OBRA BIBLIOGRÁFICA PUEDE CONTAR CON VARIAS COPIAS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64208"/>
            <a:ext cx="3547872" cy="21762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92224"/>
            <a:ext cx="3255264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5A9"/>
                </a:solidFill>
                <a:latin typeface="Calibri"/>
              </a:rPr>
              <a:t>REGISTRO REPETIDO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03120"/>
            <a:ext cx="3255264" cy="164591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D4696"/>
                </a:solidFill>
                <a:latin typeface="Calibri"/>
              </a:rPr>
              <a:t>Ejemplar E-104 · obra · autor
Ejemplar E-105 · obra · autor
Ejemplar E-106 · obra · autor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D4696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9472" y="1664208"/>
            <a:ext cx="3547872" cy="217627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5776" y="1792224"/>
            <a:ext cx="3255264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5A9"/>
                </a:solidFill>
                <a:latin typeface="Calibri"/>
              </a:rPr>
              <a:t>ESTRUCTURA SEPARADA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5776" y="2103120"/>
            <a:ext cx="3255264" cy="164591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D4696"/>
                </a:solidFill>
                <a:latin typeface="Calibri"/>
              </a:rPr>
              <a:t>OBRA: ISBN · nombre · autor
EJEMPLAR: código · ubicación · disponibilidad · id_titulo
Cada copia referencia un único título.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D4696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45736" y="2706624"/>
            <a:ext cx="137160" cy="0"/>
          </a:xfrm>
          <a:prstGeom prst="line">
            <a:avLst/>
          </a:prstGeom>
          <a:ln w="19050">
            <a:solidFill>
              <a:srgbClr val="0075A9"/>
            </a:solidFill>
            <a:tailEnd type="triangle" w="med" len="med"/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594360" y="4370832"/>
            <a:ext cx="7726679" cy="512064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4443984"/>
            <a:ext cx="7434071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D4696"/>
                </a:solidFill>
                <a:latin typeface="Calibri"/>
              </a:rPr>
              <a:t>La separación reduce redundancia y evita que una corrección bibliográfica deba repetirse en cada copia.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</a:rPr>
              <a:t>Elmasri y Navathe, Fundamentos de sistemas de bases de datos · Microsoft, normalización  ·  as of 6 de octubre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Los registros públicos del catálogo UPDS permiten proponer un modelo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06 · CASO REAL · UPDS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786384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0075A9"/>
                </a:solidFill>
                <a:latin typeface="Calibri"/>
              </a:rPr>
              <a:t>DATOS INSTITUCIONALES PUBLICADOS Y DECISIONES DEL MODELO SE PRESENTAN POR SEPARADO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645920"/>
            <a:ext cx="1901952" cy="109728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45920"/>
            <a:ext cx="1792224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OBRAS
fichas públicas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6624" y="1645920"/>
            <a:ext cx="1901952" cy="109728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645920"/>
            <a:ext cx="1792224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EJEMPLARES
datos consultables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1645920"/>
            <a:ext cx="1901952" cy="109728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645920"/>
            <a:ext cx="1792224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DISPONIBILIDAD
visible en fichas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9984" y="1645920"/>
            <a:ext cx="1737360" cy="109728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5240">
            <a:solidFill>
              <a:srgbClr val="0075A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645920"/>
            <a:ext cx="1627631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D4696"/>
                </a:solidFill>
                <a:latin typeface="Calibri"/>
              </a:rPr>
              <a:t>RESERVA
opción en registro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1D4696"/>
                </a:solidFill>
                <a:latin typeface="Calibri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18688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346704"/>
            <a:ext cx="322783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75A9"/>
                </a:solidFill>
                <a:latin typeface="Calibri"/>
              </a:rPr>
              <a:t>OBSERVABLE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657600"/>
            <a:ext cx="3227832" cy="73151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1D4696"/>
                </a:solidFill>
                <a:latin typeface="Calibri"/>
              </a:rPr>
              <a:t>Fichas · ejemplares · disponibilidad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73168" y="3218688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143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9472" y="3346704"/>
            <a:ext cx="3227832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075A9"/>
                </a:solidFill>
                <a:latin typeface="Calibri"/>
              </a:rPr>
              <a:t>MODELO PROPUESTO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3657600"/>
            <a:ext cx="3227832" cy="731519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D4696"/>
                </a:solidFill>
                <a:latin typeface="Calibri"/>
              </a:rPr>
              <a:t>Obra · autor · editorial · ejemplar · reserva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81728"/>
            <a:ext cx="384048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4546A"/>
                </a:solidFill>
                <a:latin typeface="Calibri"/>
              </a:rPr>
              <a:t>El catálogo muestra datos bibliográficos y ejemplares.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4681728"/>
            <a:ext cx="384048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44546A"/>
                </a:solidFill>
                <a:latin typeface="Calibri"/>
              </a:rPr>
              <a:t>El diagrama propone entidades y relaciones para representarlos.</a:t>
            </a:r>
          </a:p>
        </p:txBody>
      </p:sp>
      <p:sp>
        <p:nvSpPr>
          <p:cNvPr id="23" name="TextBox 22">
            <a:hlinkClick r:id="rId2"/>
          </p:cNvPr>
          <p:cNvSpPr txBox="1"/>
          <p:nvPr/>
        </p:nvSpPr>
        <p:spPr>
          <a:xfrm>
            <a:off x="804672" y="5084064"/>
            <a:ext cx="288036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16CBB"/>
                </a:solidFill>
                <a:latin typeface="Calibri"/>
              </a:rPr>
              <a:t>Abrir catálogo público UPDS 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6053328"/>
            <a:ext cx="7818120" cy="220133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48B"/>
                </a:solidFill>
                <a:latin typeface="Calibri"/>
              </a:rPr>
              <a:t>Fuente: Catálogo público de Biblioteca UPDS · estructura conceptual propuesta</a:t>
            </a:r>
            <a:r>
              <a:rPr sz="760" b="0" i="0">
                <a:solidFill>
                  <a:srgbClr val="64748B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80010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 i="0">
                <a:solidFill>
                  <a:srgbClr val="1D4696"/>
                </a:solidFill>
                <a:latin typeface="Calibri Light"/>
              </a:rPr>
              <a:t>Referencias bibliográficas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82127" y="210312"/>
            <a:ext cx="749808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0075A9"/>
                </a:solidFill>
                <a:latin typeface="Calibri"/>
              </a:rPr>
              <a:t>TEMA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68096"/>
            <a:ext cx="7955279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4546A"/>
                </a:solidFill>
                <a:latin typeface="Calibri"/>
              </a:rPr>
              <a:t>Referencias para profundizar · Datos, modelos y diagramas de clases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80160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t>DIGITAL · BIBLIOTECA UCB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27048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Fundamentos de sistemas de bases de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Shamkant B. Navathe · 3.ª edición</a:t>
            </a:r>
          </a:p>
        </p:txBody>
      </p:sp>
      <p:sp>
        <p:nvSpPr>
          <p:cNvPr id="11" name="TextBox 10">
            <a:hlinkClick r:id="rId2"/>
          </p:cNvPr>
          <p:cNvSpPr txBox="1"/>
          <p:nvPr/>
        </p:nvSpPr>
        <p:spPr>
          <a:xfrm>
            <a:off x="6903720" y="2157984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Ver libro digital 1 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60320"/>
            <a:ext cx="8010144" cy="126187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670048"/>
            <a:ext cx="758952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t>DIGITAL · BIBLIOTECA UCB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16936"/>
            <a:ext cx="75438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Tecnología y diseño de bases de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64408"/>
            <a:ext cx="65836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Mario Piattini Velthuis · 1.ª edición</a:t>
            </a:r>
          </a:p>
        </p:txBody>
      </p:sp>
      <p:sp>
        <p:nvSpPr>
          <p:cNvPr id="16" name="TextBox 15">
            <a:hlinkClick r:id="rId3"/>
          </p:cNvPr>
          <p:cNvSpPr txBox="1"/>
          <p:nvPr/>
        </p:nvSpPr>
        <p:spPr>
          <a:xfrm>
            <a:off x="6903720" y="3547872"/>
            <a:ext cx="141732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Ver libro digital 2 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8010144" cy="164592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B8C9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59936"/>
            <a:ext cx="6400800" cy="182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r>
              <a:t>IMPRESO · EJEMPLAR CONSULTADO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306824"/>
            <a:ext cx="635508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4696"/>
                </a:solidFill>
                <a:latin typeface="Calibri"/>
              </a:rPr>
              <a:t>Fundamentos de bases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54296"/>
            <a:ext cx="6355080" cy="20116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Calibri"/>
              </a:rPr>
              <a:t>Abraham Silberschatz, Henry F. Korth y S. Sudarshan · McGraw-Hill · 6.ª ed., 2014 · ISBN 978-84-481-9033-0</a:t>
            </a:r>
          </a:p>
        </p:txBody>
      </p:sp>
      <p:sp>
        <p:nvSpPr>
          <p:cNvPr id="21" name="TextBox 20">
            <a:hlinkClick r:id="rId4"/>
          </p:cNvPr>
          <p:cNvSpPr txBox="1"/>
          <p:nvPr/>
        </p:nvSpPr>
        <p:spPr>
          <a:xfrm>
            <a:off x="749808" y="4937760"/>
            <a:ext cx="2286000" cy="164592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416CBB"/>
                </a:solidFill>
                <a:latin typeface="Calibri"/>
              </a:rPr>
              <a:t>Consultar ficha bibliográfica ↗</a:t>
            </a:r>
          </a:p>
        </p:txBody>
      </p:sp>
      <p:pic>
        <p:nvPicPr>
          <p:cNvPr id="22" name="Foto del libro impreso · tema 0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4014215"/>
            <a:ext cx="109728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173</Words>
  <Application>Microsoft Office PowerPoint</Application>
  <PresentationFormat>Presentación en pantalla (4:3)</PresentationFormat>
  <Paragraphs>44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Segoe UI</vt:lpstr>
      <vt:lpstr>Times New Roman</vt:lpstr>
      <vt:lpstr>Tema de Office</vt:lpstr>
      <vt:lpstr>BUSCANDO TESOROS EN LA BIBLIOTECA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Datos, modelos y diagramas de clases</dc:title>
  <dc:creator>Grupo de investigación · Sistemas de Información I</dc:creator>
  <cp:lastModifiedBy>hugo arnaldo guzman centellas</cp:lastModifiedBy>
  <cp:revision>25</cp:revision>
  <dcterms:created xsi:type="dcterms:W3CDTF">2022-07-13T16:32:00Z</dcterms:created>
  <dcterms:modified xsi:type="dcterms:W3CDTF">2026-10-05T11:54:49Z</dcterms:modified>
  <dc:subject>Actividad 1 · Sistemas de Información I · Tema 04</dc:subject>
  <cp:keywords>UPDS, bases de datos, clases, modelo entidad-relación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48B78635AD16485EA86A7DEEE5AE31FB_13</vt:lpwstr>
  </property>
  <property fmtid="{D5CDD505-2E9C-101B-9397-08002B2CF9AE}" pid="3" name="KSOProductBuildVer">
    <vt:lpwstr>3082-12.2.0.17119</vt:lpwstr>
  </property>
</Properties>
</file>